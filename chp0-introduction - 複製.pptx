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2"/>
  </p:sldMasterIdLst>
  <p:notesMasterIdLst>
    <p:notesMasterId r:id="rId94"/>
  </p:notesMasterIdLst>
  <p:handoutMasterIdLst>
    <p:handoutMasterId r:id="rId95"/>
  </p:handoutMasterIdLst>
  <p:sldIdLst>
    <p:sldId id="256" r:id="rId3"/>
    <p:sldId id="973" r:id="rId4"/>
    <p:sldId id="565" r:id="rId5"/>
    <p:sldId id="575" r:id="rId6"/>
    <p:sldId id="576" r:id="rId7"/>
    <p:sldId id="577" r:id="rId8"/>
    <p:sldId id="566" r:id="rId9"/>
    <p:sldId id="929" r:id="rId10"/>
    <p:sldId id="578" r:id="rId11"/>
    <p:sldId id="579" r:id="rId12"/>
    <p:sldId id="968" r:id="rId13"/>
    <p:sldId id="965" r:id="rId14"/>
    <p:sldId id="846" r:id="rId15"/>
    <p:sldId id="847" r:id="rId16"/>
    <p:sldId id="945" r:id="rId17"/>
    <p:sldId id="966" r:id="rId18"/>
    <p:sldId id="946" r:id="rId19"/>
    <p:sldId id="967" r:id="rId20"/>
    <p:sldId id="947" r:id="rId21"/>
    <p:sldId id="969" r:id="rId22"/>
    <p:sldId id="928" r:id="rId23"/>
    <p:sldId id="587" r:id="rId24"/>
    <p:sldId id="588" r:id="rId25"/>
    <p:sldId id="970" r:id="rId26"/>
    <p:sldId id="835" r:id="rId27"/>
    <p:sldId id="838" r:id="rId28"/>
    <p:sldId id="971" r:id="rId29"/>
    <p:sldId id="972" r:id="rId30"/>
    <p:sldId id="567" r:id="rId31"/>
    <p:sldId id="974" r:id="rId32"/>
    <p:sldId id="975" r:id="rId33"/>
    <p:sldId id="976" r:id="rId34"/>
    <p:sldId id="842" r:id="rId35"/>
    <p:sldId id="840" r:id="rId36"/>
    <p:sldId id="843" r:id="rId37"/>
    <p:sldId id="848" r:id="rId38"/>
    <p:sldId id="844" r:id="rId39"/>
    <p:sldId id="977" r:id="rId40"/>
    <p:sldId id="978" r:id="rId41"/>
    <p:sldId id="845" r:id="rId42"/>
    <p:sldId id="496" r:id="rId43"/>
    <p:sldId id="497" r:id="rId44"/>
    <p:sldId id="340" r:id="rId45"/>
    <p:sldId id="498" r:id="rId46"/>
    <p:sldId id="503" r:id="rId47"/>
    <p:sldId id="543" r:id="rId48"/>
    <p:sldId id="507" r:id="rId49"/>
    <p:sldId id="506" r:id="rId50"/>
    <p:sldId id="553" r:id="rId51"/>
    <p:sldId id="522" r:id="rId52"/>
    <p:sldId id="564" r:id="rId53"/>
    <p:sldId id="263" r:id="rId54"/>
    <p:sldId id="264" r:id="rId55"/>
    <p:sldId id="544" r:id="rId56"/>
    <p:sldId id="509" r:id="rId57"/>
    <p:sldId id="545" r:id="rId58"/>
    <p:sldId id="510" r:id="rId59"/>
    <p:sldId id="546" r:id="rId60"/>
    <p:sldId id="511" r:id="rId61"/>
    <p:sldId id="512" r:id="rId62"/>
    <p:sldId id="547" r:id="rId63"/>
    <p:sldId id="513" r:id="rId64"/>
    <p:sldId id="514" r:id="rId65"/>
    <p:sldId id="563" r:id="rId66"/>
    <p:sldId id="548" r:id="rId67"/>
    <p:sldId id="261" r:id="rId68"/>
    <p:sldId id="517" r:id="rId69"/>
    <p:sldId id="551" r:id="rId70"/>
    <p:sldId id="526" r:id="rId71"/>
    <p:sldId id="552" r:id="rId72"/>
    <p:sldId id="554" r:id="rId73"/>
    <p:sldId id="555" r:id="rId74"/>
    <p:sldId id="557" r:id="rId75"/>
    <p:sldId id="558" r:id="rId76"/>
    <p:sldId id="560" r:id="rId77"/>
    <p:sldId id="561" r:id="rId78"/>
    <p:sldId id="556" r:id="rId79"/>
    <p:sldId id="559" r:id="rId80"/>
    <p:sldId id="562" r:id="rId81"/>
    <p:sldId id="549" r:id="rId82"/>
    <p:sldId id="518" r:id="rId83"/>
    <p:sldId id="519" r:id="rId84"/>
    <p:sldId id="520" r:id="rId85"/>
    <p:sldId id="521" r:id="rId86"/>
    <p:sldId id="550" r:id="rId87"/>
    <p:sldId id="508" r:id="rId88"/>
    <p:sldId id="504" r:id="rId89"/>
    <p:sldId id="499" r:id="rId90"/>
    <p:sldId id="500" r:id="rId91"/>
    <p:sldId id="501" r:id="rId92"/>
    <p:sldId id="502" r:id="rId93"/>
  </p:sldIdLst>
  <p:sldSz cx="9144000" cy="6858000" type="screen4x3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 autoAdjust="0"/>
    <p:restoredTop sz="93977" autoAdjust="0"/>
  </p:normalViewPr>
  <p:slideViewPr>
    <p:cSldViewPr>
      <p:cViewPr varScale="1">
        <p:scale>
          <a:sx n="68" d="100"/>
          <a:sy n="68" d="100"/>
        </p:scale>
        <p:origin x="107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1579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3" name="Rectangl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9472DD5C-B6A9-4714-908F-0B8F74738B98}" type="datetimeFigureOut">
              <a:rPr lang="en-US" altLang="zh-TW" smtClean="0"/>
              <a:pPr/>
              <a:t>1/23/2024</a:t>
            </a:fld>
            <a:endParaRPr lang="zh-TW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7C1C90DE-A98B-4173-B17E-434F189FC4DB}" type="slidenum">
              <a:rPr lang="zh-TW" smtClean="0"/>
              <a:pPr/>
              <a:t>‹#›</a:t>
            </a:fld>
            <a:endParaRPr 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Rectangl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193366E8-8A22-4400-BBA2-8D322280A6E8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4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Rectangl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3792D2CF-A01B-4515-8B40-3DC34258267A}" type="slidenum">
              <a:rPr/>
              <a:pPr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zh-TW" smtClean="0"/>
              <a:pPr/>
              <a:t>1</a:t>
            </a:fld>
            <a:endParaRPr 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4000" cy="6858000"/>
            <a:chOff x="-1574" y="0"/>
            <a:chExt cx="914400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/>
                <a:srgbClr val="FFFFFF"/>
              </a:duotone>
              <a:lum bright="-10000"/>
            </a:blip>
            <a:stretch>
              <a:fillRect/>
            </a:stretch>
          </p:blipFill>
          <p:spPr>
            <a:xfrm>
              <a:off x="-1574" y="381000"/>
              <a:ext cx="9144000" cy="6093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hape 20"/>
          <p:cNvSpPr>
            <a:spLocks noGrp="1"/>
          </p:cNvSpPr>
          <p:nvPr>
            <p:ph type="title"/>
          </p:nvPr>
        </p:nvSpPr>
        <p:spPr>
          <a:xfrm>
            <a:off x="704850" y="4495800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6400800" cy="1752600"/>
          </a:xfrm>
        </p:spPr>
        <p:txBody>
          <a:bodyPr anchor="b" anchorCtr="0"/>
          <a:lstStyle>
            <a:lvl1pPr marL="0" indent="0" algn="ctr" latinLnBrk="0">
              <a:buNone/>
              <a:defRPr lang="zh-TW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小節標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5574" cy="6858000"/>
            <a:chOff x="-1574" y="0"/>
            <a:chExt cx="9145574" cy="6858000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381000"/>
              <a:ext cx="9144000" cy="6096000"/>
            </a:xfrm>
            <a:prstGeom prst="rect">
              <a:avLst/>
            </a:prstGeom>
            <a:gradFill>
              <a:gsLst>
                <a:gs pos="0">
                  <a:schemeClr val="accent1">
                    <a:tint val="40000"/>
                  </a:schemeClr>
                </a:gs>
                <a:gs pos="100000">
                  <a:schemeClr val="accent1">
                    <a:shade val="75000"/>
                  </a:schemeClr>
                </a:gs>
              </a:gsLst>
              <a:path path="circle">
                <a:fillToRect l="100000" t="100000" r="100000" b="100000"/>
              </a:path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22313" y="4505325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 latinLnBrk="0">
              <a:buNone/>
              <a:defRPr lang="zh-TW" sz="2800">
                <a:solidFill>
                  <a:schemeClr val="tx1"/>
                </a:solidFill>
              </a:defRPr>
            </a:lvl1pPr>
            <a:lvl2pPr marL="457200" indent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對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>
          <a:xfrm>
            <a:off x="3575050" y="1600201"/>
            <a:ext cx="5111750" cy="4525963"/>
          </a:xfrm>
        </p:spPr>
        <p:txBody>
          <a:bodyPr/>
          <a:lstStyle>
            <a:lvl1pPr latinLnBrk="0">
              <a:defRPr lang="zh-TW" sz="3200">
                <a:solidFill>
                  <a:schemeClr val="tx1"/>
                </a:solidFill>
              </a:defRPr>
            </a:lvl1pPr>
            <a:lvl2pPr>
              <a:defRPr lang="zh-TW" sz="2800"/>
            </a:lvl2pPr>
            <a:lvl3pPr>
              <a:defRPr lang="zh-TW" sz="2400"/>
            </a:lvl3pPr>
            <a:lvl4pPr>
              <a:defRPr lang="zh-TW" sz="2000"/>
            </a:lvl4pPr>
            <a:lvl5pPr>
              <a:defRPr lang="zh-TW" sz="2000"/>
            </a:lvl5pPr>
            <a:lvl6pPr>
              <a:defRPr lang="zh-TW" sz="2000"/>
            </a:lvl6pPr>
            <a:lvl7pPr>
              <a:defRPr lang="zh-TW" sz="2000"/>
            </a:lvl7pPr>
            <a:lvl8pPr>
              <a:defRPr lang="zh-TW" sz="2000"/>
            </a:lvl8pPr>
            <a:lvl9pPr>
              <a:defRPr lang="zh-TW"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457201" y="1600201"/>
            <a:ext cx="3008313" cy="4525963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 latinLnBrk="0">
              <a:defRPr lang="zh-TW" sz="2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 latinLnBrk="0">
              <a:buNone/>
              <a:defRPr lang="zh-TW" sz="3200"/>
            </a:lvl1pPr>
            <a:lvl2pPr marL="457200" indent="0">
              <a:buNone/>
              <a:defRPr lang="zh-TW" sz="2800"/>
            </a:lvl2pPr>
            <a:lvl3pPr marL="914400" indent="0">
              <a:buNone/>
              <a:defRPr lang="zh-TW" sz="2400"/>
            </a:lvl3pPr>
            <a:lvl4pPr marL="1371600" indent="0">
              <a:buNone/>
              <a:defRPr lang="zh-TW" sz="2000"/>
            </a:lvl4pPr>
            <a:lvl5pPr marL="1828800" indent="0">
              <a:buNone/>
              <a:defRPr lang="zh-TW" sz="2000"/>
            </a:lvl5pPr>
            <a:lvl6pPr marL="2286000" indent="0">
              <a:buNone/>
              <a:defRPr lang="zh-TW" sz="2000"/>
            </a:lvl6pPr>
            <a:lvl7pPr marL="2743200" indent="0">
              <a:buNone/>
              <a:defRPr lang="zh-TW" sz="2000"/>
            </a:lvl7pPr>
            <a:lvl8pPr marL="3200400" indent="0">
              <a:buNone/>
              <a:defRPr lang="zh-TW" sz="2000"/>
            </a:lvl8pPr>
            <a:lvl9pPr marL="3657600" indent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9144000" cy="1506538"/>
            <a:chOff x="0" y="0"/>
            <a:chExt cx="9144000" cy="1506538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1"/>
                <a:srgbClr val="FFFFFF"/>
              </a:duotone>
            </a:blip>
            <a:srcRect/>
            <a:stretch>
              <a:fillRect/>
            </a:stretch>
          </p:blipFill>
          <p:spPr>
            <a:xfrm>
              <a:off x="0" y="1"/>
              <a:ext cx="9144000" cy="1419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 userDrawn="1"/>
          </p:nvSpPr>
          <p:spPr>
            <a:xfrm>
              <a:off x="0" y="0"/>
              <a:ext cx="9144000" cy="14478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tint val="20000"/>
                    <a:alpha val="0"/>
                  </a:schemeClr>
                </a:gs>
              </a:gsLst>
              <a:lin ang="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142875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1504950"/>
              <a:ext cx="9144000" cy="1588"/>
            </a:xfrm>
            <a:prstGeom prst="line">
              <a:avLst/>
            </a:prstGeom>
            <a:ln w="15875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0D0AA-A564-40E6-BDF9-FE3371FD07B4}" type="datetimeFigureOut">
              <a:rPr lang="zh-TW" altLang="en-US"/>
              <a:pPr/>
              <a:t>2024/1/23</a:t>
            </a:fld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3" name="Rectangle 1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kumimoji="0" lang="zh-TW" sz="4000" b="0" u="none" strike="noStrike" kern="1200" cap="none" spc="0" normalizeH="0" baseline="0">
          <a:ln>
            <a:noFill/>
          </a:ln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uLnTx/>
          <a:uFillTx/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spcAft>
          <a:spcPts val="400"/>
        </a:spcAft>
        <a:buFont typeface="Arial"/>
        <a:buChar char="•"/>
        <a:defRPr lang="zh-TW" sz="2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lang="zh-TW" sz="24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ApMuuWDDj5dvhbhgZFphUA4gSEy9VH4?usp=sharing" TargetMode="External"/><Relationship Id="rId2" Type="http://schemas.openxmlformats.org/officeDocument/2006/relationships/hyperlink" Target="https://colab.research.google.com/drive/1RTQ_7z6fMQ3XCfeXUodo_LKAUjAPyUEm?usp=sharing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HmWdlUYjS4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s9KuuDPaIc?t=96" TargetMode="External"/><Relationship Id="rId2" Type="http://schemas.openxmlformats.org/officeDocument/2006/relationships/hyperlink" Target="https://www.youtube.com/watch?v=aNaElUzxvPE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aM4ZljKdXY&amp;t=0s" TargetMode="External"/><Relationship Id="rId2" Type="http://schemas.openxmlformats.org/officeDocument/2006/relationships/hyperlink" Target="https://www.youtube.com/watch?v=NZ6BMUVn5d4&amp;t=0s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32frJpvFhc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UVX2NqOOEg" TargetMode="External"/><Relationship Id="rId2" Type="http://schemas.openxmlformats.org/officeDocument/2006/relationships/hyperlink" Target="https://www.youtube.com/watch?v=9EcOu_GLsfA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ks.com.tw/products/0010921275?loc=M_br_r0vq68ygz_D_2aabd0_B_1" TargetMode="External"/><Relationship Id="rId2" Type="http://schemas.openxmlformats.org/officeDocument/2006/relationships/hyperlink" Target="https://www.books.com.tw/products/0010859289?sloc=main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oks.com.tw/products/CN11723157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hyperlink" Target="https://bap2.cm.nsysu.edu.tw/?page_id=1694" TargetMode="External"/><Relationship Id="rId3" Type="http://schemas.openxmlformats.org/officeDocument/2006/relationships/hyperlink" Target="https://tw.coursera.org/learn/pbc2/home/week/4" TargetMode="External"/><Relationship Id="rId7" Type="http://schemas.openxmlformats.org/officeDocument/2006/relationships/hyperlink" Target="https://college.itri.org.tw/Home/LessonData/7765E126-C587-49CB-8320-4026A3CF8117" TargetMode="External"/><Relationship Id="rId2" Type="http://schemas.openxmlformats.org/officeDocument/2006/relationships/hyperlink" Target="https://tw.coursera.org/learn/pbc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lege.itri.org.tw/Home/LessonData/0A72A944-1D56-49DB-8B18-00FF1568D1C0" TargetMode="External"/><Relationship Id="rId5" Type="http://schemas.openxmlformats.org/officeDocument/2006/relationships/hyperlink" Target="https://medium.com/%E5%B1%95%E9%96%8B%E6%95%B8%E6%93%9A%E4%BA%BA%E7%94%9F/python%E6%A9%9F%E5%99%A8%E5%AD%B8%E7%BF%92%E5%85%A5%E9%96%80-%E4%BA%8C-bbc8414d4632" TargetMode="External"/><Relationship Id="rId4" Type="http://schemas.openxmlformats.org/officeDocument/2006/relationships/hyperlink" Target="https://www.classcentral.com/course/pbc3-11205" TargetMode="Externa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611929" y="1570112"/>
            <a:ext cx="7848872" cy="250696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6600" b="1" dirty="0"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en-US" altLang="zh-CN" sz="66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600" b="1" dirty="0">
                <a:latin typeface="微軟正黑體" pitchFamily="34" charset="-120"/>
                <a:ea typeface="微軟正黑體" pitchFamily="34" charset="-120"/>
              </a:rPr>
              <a:t>人工智慧跨域經營管理之應用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台北科技大學，經管系，陳擎文</a:t>
            </a:r>
            <a:br>
              <a:rPr lang="en-US" altLang="zh-CN" b="1" dirty="0">
                <a:latin typeface="微軟正黑體" pitchFamily="34" charset="-120"/>
                <a:ea typeface="微軟正黑體" pitchFamily="34" charset="-120"/>
              </a:rPr>
            </a:b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lnSpcReduction="10000"/>
          </a:bodyPr>
          <a:lstStyle/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數據分析有三部曲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effectLst/>
              </a:rPr>
              <a:t>2.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小心考慮是否要選修這門課的三個考量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90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340768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176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DC79735-EC88-4CE3-A6F9-C71788810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8D31B93-51BB-492F-A8E2-28B71180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https://acupun.site/lecture/pandas/pic/scope12.png">
            <a:extLst>
              <a:ext uri="{FF2B5EF4-FFF2-40B4-BE49-F238E27FC236}">
                <a16:creationId xmlns:a16="http://schemas.microsoft.com/office/drawing/2014/main" id="{652F37D9-395D-4790-B535-863F8963D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66" y="0"/>
            <a:ext cx="6592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87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zh-TW" altLang="en-US" sz="5400" b="1" dirty="0">
                <a:effectLst/>
              </a:rPr>
              <a:t>數據分析的</a:t>
            </a:r>
            <a:r>
              <a:rPr lang="en-US" altLang="zh-TW" sz="5400" b="1" dirty="0">
                <a:effectLst/>
              </a:rPr>
              <a:t>3</a:t>
            </a:r>
            <a:r>
              <a:rPr lang="zh-TW" altLang="en-US" sz="5400" b="1" dirty="0">
                <a:effectLst/>
              </a:rPr>
              <a:t>步驟圖：</a:t>
            </a:r>
            <a:endParaRPr lang="en-US" altLang="zh-TW" sz="5400" b="1" dirty="0">
              <a:effectLst/>
            </a:endParaRP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</a:t>
            </a:r>
            <a:r>
              <a:rPr lang="en-US" altLang="zh-TW" sz="3600" b="1" dirty="0">
                <a:effectLst/>
              </a:rPr>
              <a:t>1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基礎數據分析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2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TW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</a:p>
          <a:p>
            <a:r>
              <a:rPr lang="zh-TW" altLang="en-US" sz="3600" b="1" dirty="0">
                <a:effectLst/>
              </a:rPr>
              <a:t>步驟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en-US" altLang="zh-CN" sz="3600" b="1" dirty="0">
                <a:effectLst/>
              </a:rPr>
              <a:t> 『</a:t>
            </a:r>
            <a:r>
              <a:rPr lang="zh-TW" altLang="en-US" sz="3600" b="1" dirty="0">
                <a:effectLst/>
              </a:rPr>
              <a:t>進階數據分析</a:t>
            </a:r>
            <a:r>
              <a:rPr lang="en-US" altLang="zh-CN" sz="3600" b="1" dirty="0">
                <a:effectLst/>
              </a:rPr>
              <a:t>』 </a:t>
            </a:r>
            <a:r>
              <a:rPr lang="en-US" altLang="zh-TW" sz="3600" b="1" dirty="0">
                <a:effectLst/>
              </a:rPr>
              <a:t>3</a:t>
            </a:r>
            <a:r>
              <a:rPr lang="zh-TW" altLang="en-US" sz="3600" b="1" dirty="0">
                <a:effectLst/>
              </a:rPr>
              <a:t>：</a:t>
            </a:r>
            <a:r>
              <a:rPr lang="zh-TW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36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每個路徑點，都要相對應的工作職缺</a:t>
            </a:r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數據分析三部曲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88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355FDBD-85A6-4541-AE96-313EFFB83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101" y="1484784"/>
            <a:ext cx="9144000" cy="2548880"/>
          </a:xfrm>
        </p:spPr>
        <p:txBody>
          <a:bodyPr>
            <a:normAutofit/>
          </a:bodyPr>
          <a:lstStyle/>
          <a:p>
            <a:r>
              <a:rPr lang="zh-TW" altLang="en-US" b="1" dirty="0">
                <a:effectLst/>
              </a:rPr>
              <a:t>☎工作職稱：</a:t>
            </a:r>
            <a:r>
              <a:rPr lang="en-US" altLang="zh-TW" b="1" dirty="0">
                <a:effectLst/>
              </a:rPr>
              <a:t>DA/BA/DS/DE</a:t>
            </a:r>
            <a:r>
              <a:rPr lang="zh-TW" altLang="en-US" b="1" dirty="0">
                <a:effectLst/>
              </a:rPr>
              <a:t>：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BA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Business Analyst</a:t>
            </a:r>
            <a:r>
              <a:rPr lang="zh-TW" altLang="en-US" b="1" dirty="0">
                <a:effectLst/>
              </a:rPr>
              <a:t>商業分析師（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商業決策建議</a:t>
            </a:r>
            <a:r>
              <a:rPr lang="zh-TW" altLang="en-US" b="1" dirty="0">
                <a:effectLst/>
              </a:rPr>
              <a:t>）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DE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Engineer</a:t>
            </a:r>
            <a:r>
              <a:rPr lang="zh-TW" altLang="en-US" b="1" dirty="0">
                <a:effectLst/>
              </a:rPr>
              <a:t>數據工程師</a:t>
            </a:r>
            <a:r>
              <a:rPr lang="en-US" altLang="zh-TW" b="1" dirty="0">
                <a:effectLst/>
              </a:rPr>
              <a:t>(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SQL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語法</a:t>
            </a:r>
            <a:r>
              <a:rPr lang="en-US" altLang="zh-TW" b="1" dirty="0">
                <a:effectLst/>
              </a:rPr>
              <a:t>)</a:t>
            </a:r>
            <a:br>
              <a:rPr lang="zh-TW" altLang="en-US" b="1" dirty="0">
                <a:effectLst/>
              </a:rPr>
            </a:b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DA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Analyst</a:t>
            </a:r>
            <a:r>
              <a:rPr lang="zh-TW" altLang="en-US" b="1" dirty="0">
                <a:effectLst/>
              </a:rPr>
              <a:t>資料分析師（</a:t>
            </a:r>
            <a:r>
              <a:rPr lang="en-US" altLang="zh-TW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，</a:t>
            </a: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pandas</a:t>
            </a:r>
            <a:r>
              <a:rPr lang="zh-TW" altLang="en-US" b="1" dirty="0">
                <a:effectLst/>
              </a:rPr>
              <a:t>）</a:t>
            </a:r>
            <a:br>
              <a:rPr lang="zh-TW" altLang="en-US" b="1" dirty="0">
                <a:effectLst/>
              </a:rPr>
            </a:br>
            <a:r>
              <a:rPr lang="en-US" altLang="zh-CN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DS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Data Scientist</a:t>
            </a:r>
            <a:r>
              <a:rPr lang="zh-TW" altLang="en-US" b="1" dirty="0">
                <a:effectLst/>
              </a:rPr>
              <a:t>資料科學家（</a:t>
            </a:r>
            <a:r>
              <a:rPr lang="zh-TW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人工智慧</a:t>
            </a:r>
            <a:r>
              <a:rPr lang="zh-CN" altLang="en-US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預測</a:t>
            </a:r>
            <a:r>
              <a:rPr lang="zh-TW" altLang="en-US" b="1" dirty="0">
                <a:effectLst/>
              </a:rPr>
              <a:t>）</a:t>
            </a: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D4A907C-D083-469C-9414-407A218C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-4010"/>
            <a:ext cx="8229600" cy="1265238"/>
          </a:xfrm>
        </p:spPr>
        <p:txBody>
          <a:bodyPr>
            <a:normAutofit fontScale="90000"/>
          </a:bodyPr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資料分析相關的工作職稱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scope3.png (1118×362)">
            <a:extLst>
              <a:ext uri="{FF2B5EF4-FFF2-40B4-BE49-F238E27FC236}">
                <a16:creationId xmlns:a16="http://schemas.microsoft.com/office/drawing/2014/main" id="{FC0CB41A-3215-4164-8BB0-690737531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4" y="3897313"/>
            <a:ext cx="9144000" cy="296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91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數據分析的四個理由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2889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85000" lnSpcReduction="1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8000" b="1" dirty="0"/>
              <a:t>才能夠活用</a:t>
            </a:r>
            <a:r>
              <a:rPr lang="en-US" altLang="zh-CN" sz="8000" b="1" dirty="0" err="1"/>
              <a:t>ChatGPT</a:t>
            </a:r>
            <a:r>
              <a:rPr lang="zh-CN" altLang="en-US" sz="8000" b="1" dirty="0"/>
              <a:t>的數據分析功能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194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lnSpcReduction="10000"/>
          </a:bodyPr>
          <a:lstStyle/>
          <a:p>
            <a:r>
              <a:rPr lang="en-US" altLang="zh-CN" sz="5400" b="1" dirty="0" err="1">
                <a:effectLst/>
              </a:rPr>
              <a:t>ChatGPT</a:t>
            </a:r>
            <a:r>
              <a:rPr lang="zh-CN" altLang="en-US" sz="5400" b="1" dirty="0">
                <a:effectLst/>
              </a:rPr>
              <a:t>的三大功能</a:t>
            </a:r>
            <a:r>
              <a:rPr lang="zh-TW" altLang="en-US" sz="5400" b="1" dirty="0">
                <a:effectLst/>
              </a:rPr>
              <a:t>：</a:t>
            </a:r>
            <a:endParaRPr lang="en-US" altLang="zh-TW" sz="5400" b="1" dirty="0">
              <a:effectLst/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1</a:t>
            </a:r>
            <a:r>
              <a:rPr lang="zh-TW" altLang="en-US" sz="4000" b="1" dirty="0">
                <a:effectLst/>
              </a:rPr>
              <a:t>：</a:t>
            </a:r>
            <a:r>
              <a:rPr lang="zh-CN" altLang="en-US" sz="4000" b="1" dirty="0">
                <a:effectLst/>
              </a:rPr>
              <a:t>生成文本（對話，回答問題）</a:t>
            </a:r>
            <a:endParaRPr lang="en-US" altLang="zh-TW" sz="40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2</a:t>
            </a:r>
            <a:r>
              <a:rPr lang="zh-TW" altLang="en-US" sz="4000" b="1" dirty="0">
                <a:effectLst/>
              </a:rPr>
              <a:t>：</a:t>
            </a:r>
            <a:r>
              <a:rPr lang="zh-CN" altLang="en-US" sz="4000" b="1" dirty="0">
                <a:effectLst/>
              </a:rPr>
              <a:t>生成圖片</a:t>
            </a:r>
            <a:endParaRPr lang="en-US" altLang="zh-CN" sz="4000" b="1" dirty="0">
              <a:effectLst/>
            </a:endParaRPr>
          </a:p>
          <a:p>
            <a:r>
              <a:rPr lang="zh-CN" altLang="en-US" sz="4000" b="1" dirty="0">
                <a:effectLst/>
              </a:rPr>
              <a:t>功能</a:t>
            </a:r>
            <a:r>
              <a:rPr lang="en-US" altLang="zh-CN" sz="4000" b="1" dirty="0">
                <a:effectLst/>
              </a:rPr>
              <a:t>3</a:t>
            </a:r>
            <a:r>
              <a:rPr lang="zh-CN" altLang="en-US" sz="4000" b="1" dirty="0">
                <a:effectLst/>
              </a:rPr>
              <a:t>：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數據分析（上傳</a:t>
            </a:r>
            <a:r>
              <a:rPr lang="en-US" altLang="zh-CN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excel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數據，</a:t>
            </a:r>
            <a:r>
              <a:rPr lang="en-US" altLang="zh-CN" sz="4000" b="1" dirty="0" err="1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chatpgt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可以幫你分析數據，自動畫圖視覺化，並給你</a:t>
            </a:r>
            <a:r>
              <a:rPr lang="en-US" altLang="zh-CN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sz="4000" b="1" dirty="0">
                <a:solidFill>
                  <a:srgbClr val="7030A0"/>
                </a:solidFill>
                <a:effectLst/>
                <a:highlight>
                  <a:srgbClr val="FFFF00"/>
                </a:highlight>
              </a:rPr>
              <a:t>的程式碼）</a:t>
            </a:r>
            <a:endParaRPr lang="en-US" altLang="zh-CN" sz="40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b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87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 err="1">
                <a:effectLst/>
              </a:rPr>
              <a:t>ChatGPT</a:t>
            </a:r>
            <a:r>
              <a:rPr lang="zh-CN" altLang="en-US" sz="5400" b="1" dirty="0">
                <a:effectLst/>
              </a:rPr>
              <a:t>幫你數據分析的</a:t>
            </a:r>
            <a:r>
              <a:rPr lang="zh-CN" altLang="en-US" sz="5400" b="1" dirty="0">
                <a:solidFill>
                  <a:srgbClr val="7030A0"/>
                </a:solidFill>
                <a:effectLst/>
              </a:rPr>
              <a:t>程式碼</a:t>
            </a:r>
            <a:r>
              <a:rPr lang="zh-TW" altLang="en-US" sz="5400" b="1" dirty="0">
                <a:effectLst/>
              </a:rPr>
              <a:t>：</a:t>
            </a:r>
            <a:endParaRPr lang="en-US" altLang="zh-TW" sz="5400" b="1" dirty="0">
              <a:effectLst/>
            </a:endParaRPr>
          </a:p>
          <a:p>
            <a:pPr lvl="1"/>
            <a:r>
              <a:rPr lang="zh-CN" altLang="en-US" sz="5000" b="1" dirty="0">
                <a:effectLst/>
              </a:rPr>
              <a:t>就是</a:t>
            </a:r>
            <a:r>
              <a:rPr lang="en-US" altLang="zh-CN" sz="9600" b="1" dirty="0">
                <a:solidFill>
                  <a:srgbClr val="7030A0"/>
                </a:solidFill>
                <a:effectLst/>
              </a:rPr>
              <a:t>pandas</a:t>
            </a:r>
            <a:endParaRPr lang="en-US" altLang="zh-TW" sz="9600" b="1" dirty="0">
              <a:solidFill>
                <a:srgbClr val="7030A0"/>
              </a:solidFill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要學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b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045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7D364C8-A345-49DC-8E2F-5FCAC91C4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A8D5755-B98C-4A28-9D6A-53C8E525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C2C62F-5F61-43DF-8816-E8734D53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" y="-228020"/>
            <a:ext cx="7869560" cy="70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79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4D490ED-9193-4104-8656-CADE4582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9036496" cy="959229"/>
          </a:xfrm>
        </p:spPr>
        <p:txBody>
          <a:bodyPr>
            <a:normAutofit/>
          </a:bodyPr>
          <a:lstStyle/>
          <a:p>
            <a:r>
              <a:rPr lang="zh-CN" altLang="en-US" dirty="0"/>
              <a:t>不同性別的銷售數量，銷售金額</a:t>
            </a:r>
            <a:endParaRPr lang="zh-TW" altLang="en-US" dirty="0"/>
          </a:p>
        </p:txBody>
      </p:sp>
      <p:pic>
        <p:nvPicPr>
          <p:cNvPr id="21506" name="Picture 2" descr="https://files.oaiusercontent.com/file-GCXfF1PnHy5TmPyUrSoWjC6d?se=2023-10-24T10%3A27%3A05Z&amp;sp=r&amp;sv=2021-08-06&amp;sr=b&amp;rscc=max-age%3D3599%2C%20immutable&amp;rscd=attachment%3B%20filename%3D2059eecb-0b3c-47f4-8fa3-79350bb3ee28&amp;sig=nCP5szoQAVtkqRLmhpd0SyrBb/1kVEGno3sniPg19gQ%3D">
            <a:extLst>
              <a:ext uri="{FF2B5EF4-FFF2-40B4-BE49-F238E27FC236}">
                <a16:creationId xmlns:a16="http://schemas.microsoft.com/office/drawing/2014/main" id="{3F0C5CAB-1C10-4C77-ABA3-75014C1B18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11629"/>
            <a:ext cx="8928992" cy="559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97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900" dirty="0"/>
              <a:t>各個業務單位的總銷售金額</a:t>
            </a:r>
            <a:br>
              <a:rPr lang="en-US" altLang="zh-TW" sz="4900" dirty="0"/>
            </a:br>
            <a:r>
              <a:rPr lang="zh-TW" altLang="en-US" sz="4900" dirty="0"/>
              <a:t>和總銷售數量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8D38F-0871-4BD4-906A-AD27EB21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196" name="Picture 4" descr="https://files.oaiusercontent.com/file-TYri7LtDm3B6pkXWArK0vhiD?se=2023-10-24T10%3A28%3A28Z&amp;sp=r&amp;sv=2021-08-06&amp;sr=b&amp;rscc=max-age%3D3599%2C%20immutable&amp;rscd=attachment%3B%20filename%3D72286061-d529-423b-abe1-bbe07c6ae182&amp;sig=W1PNLKK0b0pDboAsO1UvQ9D9uD2/4UTxjLQnTlIBtWI%3D">
            <a:extLst>
              <a:ext uri="{FF2B5EF4-FFF2-40B4-BE49-F238E27FC236}">
                <a16:creationId xmlns:a16="http://schemas.microsoft.com/office/drawing/2014/main" id="{B54D0FB7-8F6C-4BB7-A1A7-BD1F83AD5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" y="1600200"/>
            <a:ext cx="9144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110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118" y="116632"/>
            <a:ext cx="9036496" cy="540296"/>
          </a:xfrm>
        </p:spPr>
        <p:txBody>
          <a:bodyPr>
            <a:normAutofit fontScale="90000"/>
          </a:bodyPr>
          <a:lstStyle/>
          <a:p>
            <a:r>
              <a:rPr lang="zh-TW" altLang="en-US" sz="4900" dirty="0"/>
              <a:t>比較不同性別，不同產品的比較圖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B8D38F-0871-4BD4-906A-AD27EB21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endParaRPr lang="en-US" altLang="zh-TW" sz="2400" dirty="0">
              <a:effectLst/>
            </a:endParaRPr>
          </a:p>
          <a:p>
            <a:r>
              <a:rPr lang="zh-TW" altLang="en-US" sz="2600" dirty="0">
                <a:effectLst/>
                <a:highlight>
                  <a:srgbClr val="FFFF00"/>
                </a:highlight>
              </a:rPr>
              <a:t>左圖</a:t>
            </a:r>
            <a:r>
              <a:rPr lang="zh-TW" altLang="en-US" sz="2600" dirty="0">
                <a:effectLst/>
              </a:rPr>
              <a:t>：展示了按</a:t>
            </a:r>
            <a:r>
              <a:rPr lang="zh-TW" altLang="en-US" sz="2600" dirty="0">
                <a:solidFill>
                  <a:srgbClr val="C00000"/>
                </a:solidFill>
                <a:effectLst/>
              </a:rPr>
              <a:t>性別和產品</a:t>
            </a:r>
            <a:r>
              <a:rPr lang="zh-TW" altLang="en-US" sz="2600" dirty="0">
                <a:effectLst/>
              </a:rPr>
              <a:t>分類的</a:t>
            </a:r>
            <a:r>
              <a:rPr lang="zh-TW" altLang="en-US" sz="2600" dirty="0">
                <a:effectLst/>
                <a:highlight>
                  <a:srgbClr val="FFFF00"/>
                </a:highlight>
              </a:rPr>
              <a:t>銷售數量</a:t>
            </a:r>
            <a:r>
              <a:rPr lang="zh-TW" altLang="en-US" sz="2600" dirty="0">
                <a:effectLst/>
              </a:rPr>
              <a:t>。從圖中我們可以看到，在大多數產品類別中，男性和女性業務員的銷售數量相差不大。然而，在銷售手機和平板方面，男性業務員的表現似乎稍好一些。</a:t>
            </a:r>
          </a:p>
          <a:p>
            <a:r>
              <a:rPr lang="zh-TW" altLang="en-US" sz="2600" dirty="0">
                <a:effectLst/>
                <a:highlight>
                  <a:srgbClr val="FFFF00"/>
                </a:highlight>
              </a:rPr>
              <a:t>右圖</a:t>
            </a:r>
            <a:r>
              <a:rPr lang="zh-TW" altLang="en-US" sz="2600" dirty="0">
                <a:effectLst/>
              </a:rPr>
              <a:t>：展示了按</a:t>
            </a:r>
            <a:r>
              <a:rPr lang="zh-TW" altLang="en-US" sz="2600" dirty="0">
                <a:solidFill>
                  <a:srgbClr val="C00000"/>
                </a:solidFill>
                <a:effectLst/>
              </a:rPr>
              <a:t>性別和產品</a:t>
            </a:r>
            <a:r>
              <a:rPr lang="zh-TW" altLang="en-US" sz="2600" dirty="0">
                <a:effectLst/>
              </a:rPr>
              <a:t>分類的</a:t>
            </a:r>
            <a:r>
              <a:rPr lang="zh-TW" altLang="en-US" sz="2600" dirty="0">
                <a:effectLst/>
                <a:highlight>
                  <a:srgbClr val="FFFF00"/>
                </a:highlight>
              </a:rPr>
              <a:t>銷售金</a:t>
            </a:r>
            <a:r>
              <a:rPr lang="zh-TW" altLang="en-US" sz="2600" dirty="0">
                <a:effectLst/>
              </a:rPr>
              <a:t>額。這個圖表也顯示了類似的趨勢，男性業務員在銷售手機和平板方面的金額略高。</a:t>
            </a:r>
          </a:p>
          <a:p>
            <a:endParaRPr lang="zh-TW" altLang="en-US" dirty="0"/>
          </a:p>
        </p:txBody>
      </p:sp>
      <p:pic>
        <p:nvPicPr>
          <p:cNvPr id="10248" name="Picture 8" descr="https://files.oaiusercontent.com/file-IAOBhwoGPz97DcYHLYyJQhHT?se=2023-10-24T10%3A29%3A57Z&amp;sp=r&amp;sv=2021-08-06&amp;sr=b&amp;rscc=max-age%3D3599%2C%20immutable&amp;rscd=attachment%3B%20filename%3Da0a85895-b1f7-4eea-971e-f1408d0e367e&amp;sig=EqazOYhArh8Oegg3GOHWMmoo/wQa7nA4u4RC/fyDSjY%3D">
            <a:extLst>
              <a:ext uri="{FF2B5EF4-FFF2-40B4-BE49-F238E27FC236}">
                <a16:creationId xmlns:a16="http://schemas.microsoft.com/office/drawing/2014/main" id="{39F6389C-9229-4753-AE19-02D99E382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7" y="675826"/>
            <a:ext cx="8874086" cy="376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987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比較不同業務單位，不同產品的比較圖</a:t>
            </a:r>
            <a:endParaRPr lang="zh-TW" altLang="en-US" dirty="0"/>
          </a:p>
        </p:txBody>
      </p:sp>
      <p:pic>
        <p:nvPicPr>
          <p:cNvPr id="11266" name="Picture 2" descr="https://files.oaiusercontent.com/file-cSzPZwYc60LqIsLEVZsFjKKU?se=2023-10-23T14%3A44%3A19Z&amp;sp=r&amp;sv=2021-08-06&amp;sr=b&amp;rscc=max-age%3D3599%2C%20immutable&amp;rscd=attachment%3B%20filename%3D71663b08-d6c6-4111-ab27-b5fdd8fb29d8&amp;sig=sA5xn7NwnNsF/E3Eh%2BzfCtC5MAWQPJ%2BnKa9stXX%2BNeE%3D">
            <a:extLst>
              <a:ext uri="{FF2B5EF4-FFF2-40B4-BE49-F238E27FC236}">
                <a16:creationId xmlns:a16="http://schemas.microsoft.com/office/drawing/2014/main" id="{BAFEBF0A-4A96-4E38-8545-0A9E9CC24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52" y="1399669"/>
            <a:ext cx="91440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999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比較不同業務單位，不同產品的比較圖</a:t>
            </a:r>
            <a:endParaRPr lang="zh-TW" altLang="en-US" dirty="0"/>
          </a:p>
        </p:txBody>
      </p:sp>
      <p:pic>
        <p:nvPicPr>
          <p:cNvPr id="24578" name="Picture 2" descr="https://files.oaiusercontent.com/file-g1WKCfbYhNQ2fZcITxJLH4FU?se=2023-10-24T10%3A32%3A07Z&amp;sp=r&amp;sv=2021-08-06&amp;sr=b&amp;rscc=max-age%3D3599%2C%20immutable&amp;rscd=attachment%3B%20filename%3Da61fa4fd-038e-4195-a4aa-77a39c50a474&amp;sig=/kveL1M3eZcir3XrZXswfzEuqx9eqhhM6jCX09IDcpk%3D">
            <a:extLst>
              <a:ext uri="{FF2B5EF4-FFF2-40B4-BE49-F238E27FC236}">
                <a16:creationId xmlns:a16="http://schemas.microsoft.com/office/drawing/2014/main" id="{EC96D790-1C9E-4908-83CA-16E4E19F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821" y="1411740"/>
            <a:ext cx="91440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15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比較不同業務員，不同產品的比較圖</a:t>
            </a:r>
          </a:p>
        </p:txBody>
      </p:sp>
      <p:pic>
        <p:nvPicPr>
          <p:cNvPr id="12290" name="Picture 2" descr="https://files.oaiusercontent.com/file-M80EIVoDlTyZD5v0gzvn39tK?se=2023-10-23T14%3A46%3A04Z&amp;sp=r&amp;sv=2021-08-06&amp;sr=b&amp;rscc=max-age%3D3599%2C%20immutable&amp;rscd=attachment%3B%20filename%3D36629a09-9400-44c9-a783-cf3be4462672&amp;sig=hTN51MYApsuJoGrEIiZjH2hlQJT3bBsonKtqGOTypog%3D">
            <a:extLst>
              <a:ext uri="{FF2B5EF4-FFF2-40B4-BE49-F238E27FC236}">
                <a16:creationId xmlns:a16="http://schemas.microsoft.com/office/drawing/2014/main" id="{AEE1D811-78E5-43F0-B5E5-08BF735C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9629"/>
            <a:ext cx="9144000" cy="530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258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C85E263E-FB51-4353-AFDB-058EDF6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23ADC02-1A36-48CD-B72B-390E3C05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4400" dirty="0">
                <a:effectLst/>
              </a:rPr>
              <a:t>比較不同業務員，不同產品的比較圖</a:t>
            </a:r>
          </a:p>
        </p:txBody>
      </p:sp>
      <p:pic>
        <p:nvPicPr>
          <p:cNvPr id="23554" name="Picture 2" descr="https://files.oaiusercontent.com/file-KzgOthU1FnbZMLWVayr55lye?se=2023-10-24T10%3A34%3A06Z&amp;sp=r&amp;sv=2021-08-06&amp;sr=b&amp;rscc=max-age%3D3599%2C%20immutable&amp;rscd=attachment%3B%20filename%3D1521dda4-ba8d-4a9f-9bc6-9666d7dbfa89&amp;sig=3wAwsSoOSXeXpWPXnQcEQ%2BXZFcnV4TERUInqH/10Ddo%3D">
            <a:extLst>
              <a:ext uri="{FF2B5EF4-FFF2-40B4-BE49-F238E27FC236}">
                <a16:creationId xmlns:a16="http://schemas.microsoft.com/office/drawing/2014/main" id="{9D5FE7AB-F738-4444-B4CF-947F89CE0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76" y="1600200"/>
            <a:ext cx="9144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077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6F980265-D5DF-4785-A9DC-9DC1480F3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6C64169-8C78-43E9-9911-D348943E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4000" dirty="0">
                <a:effectLst/>
              </a:rPr>
              <a:t>比較，分析不同業務單位，不同性別的銷售金額</a:t>
            </a:r>
            <a:endParaRPr lang="zh-TW" altLang="en-US" sz="2400" dirty="0"/>
          </a:p>
        </p:txBody>
      </p:sp>
      <p:pic>
        <p:nvPicPr>
          <p:cNvPr id="13314" name="Picture 2" descr="https://files.oaiusercontent.com/file-clvvOmNl7bTZYh70IKkYEkAi?se=2023-10-23T14%3A51%3A06Z&amp;sp=r&amp;sv=2021-08-06&amp;sr=b&amp;rscc=max-age%3D3599%2C%20immutable&amp;rscd=attachment%3B%20filename%3D58f010fe-c015-495b-9c08-3c39d7cae168&amp;sig=Ozj%2Bb0X2VWFLtFufKcZCAEKQuOEKlxN9rOyV84dfyeQ%3D">
            <a:extLst>
              <a:ext uri="{FF2B5EF4-FFF2-40B4-BE49-F238E27FC236}">
                <a16:creationId xmlns:a16="http://schemas.microsoft.com/office/drawing/2014/main" id="{9345E019-54E7-4DEC-A91F-E97581EF1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374" y="1376542"/>
            <a:ext cx="91440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21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Pandas</a:t>
            </a:r>
            <a:r>
              <a:rPr lang="zh-CN" altLang="en-US" sz="8000" b="1" dirty="0"/>
              <a:t>是最新</a:t>
            </a:r>
            <a:r>
              <a:rPr lang="en-US" altLang="zh-CN" sz="8000" b="1" dirty="0"/>
              <a:t>/</a:t>
            </a:r>
            <a:r>
              <a:rPr lang="zh-CN" altLang="en-US" sz="8000" b="1" dirty="0"/>
              <a:t>最熱門的量化分析工具的基礎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0560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B75CE21-5D30-4FA9-820D-5CA3EDBB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商管的量化分析</a:t>
            </a:r>
            <a:r>
              <a:rPr lang="zh-CN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工具</a:t>
            </a:r>
            <a:endParaRPr lang="en-US" altLang="zh-TW" sz="6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E3AE1C2-D9E5-42E4-8658-04119691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8" y="1633166"/>
            <a:ext cx="9144000" cy="525780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1. 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早期的工具</a:t>
            </a:r>
            <a:r>
              <a:rPr lang="en-US" altLang="zh-CN" sz="4000" b="1" dirty="0">
                <a:solidFill>
                  <a:srgbClr val="C00000"/>
                </a:solidFill>
                <a:effectLst/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軟體</a:t>
            </a:r>
            <a:r>
              <a:rPr lang="en-US" altLang="zh-CN" sz="4000" b="1" dirty="0">
                <a:solidFill>
                  <a:srgbClr val="C00000"/>
                </a:solidFill>
                <a:effectLst/>
              </a:rPr>
              <a:t>)</a:t>
            </a:r>
          </a:p>
          <a:p>
            <a:pPr lvl="1"/>
            <a:r>
              <a:rPr lang="en-US" altLang="zh-CN" sz="3900" b="1" dirty="0">
                <a:effectLst/>
                <a:highlight>
                  <a:srgbClr val="FFFF00"/>
                </a:highlight>
              </a:rPr>
              <a:t>SPSS</a:t>
            </a:r>
            <a:r>
              <a:rPr lang="zh-CN" altLang="en-US" sz="3900" b="1" dirty="0">
                <a:effectLst/>
                <a:highlight>
                  <a:srgbClr val="FFFF00"/>
                </a:highlight>
              </a:rPr>
              <a:t>，</a:t>
            </a:r>
            <a:r>
              <a:rPr lang="en-US" altLang="zh-CN" sz="3900" b="1" dirty="0">
                <a:effectLst/>
                <a:highlight>
                  <a:srgbClr val="FFFF00"/>
                </a:highlight>
              </a:rPr>
              <a:t>SAS</a:t>
            </a:r>
          </a:p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2. 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近年來流行的工具</a:t>
            </a:r>
            <a:endParaRPr lang="en-US" altLang="zh-CN" sz="4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3900" b="1" dirty="0">
                <a:effectLst/>
                <a:highlight>
                  <a:srgbClr val="FFFF00"/>
                </a:highlight>
              </a:rPr>
              <a:t>Python</a:t>
            </a:r>
            <a:r>
              <a:rPr lang="zh-CN" altLang="en-US" sz="3900" b="1" dirty="0">
                <a:effectLst/>
              </a:rPr>
              <a:t>數據分析，</a:t>
            </a:r>
            <a:r>
              <a:rPr lang="en-US" altLang="zh-CN" sz="3900" b="1" dirty="0">
                <a:effectLst/>
                <a:highlight>
                  <a:srgbClr val="FFFF00"/>
                </a:highlight>
              </a:rPr>
              <a:t>R</a:t>
            </a:r>
            <a:r>
              <a:rPr lang="zh-CN" altLang="en-US" sz="3900" b="1" dirty="0">
                <a:effectLst/>
                <a:highlight>
                  <a:srgbClr val="FFFF00"/>
                </a:highlight>
              </a:rPr>
              <a:t>語言</a:t>
            </a:r>
            <a:r>
              <a:rPr lang="zh-CN" altLang="en-US" sz="3900" b="1" dirty="0">
                <a:effectLst/>
              </a:rPr>
              <a:t>數據分析</a:t>
            </a:r>
            <a:endParaRPr lang="en-US" altLang="zh-CN" sz="3900" b="1" dirty="0">
              <a:effectLst/>
            </a:endParaRPr>
          </a:p>
          <a:p>
            <a:r>
              <a:rPr lang="en-US" altLang="zh-CN" sz="4000" b="1" dirty="0">
                <a:solidFill>
                  <a:srgbClr val="C00000"/>
                </a:solidFill>
                <a:effectLst/>
              </a:rPr>
              <a:t>3. 2023</a:t>
            </a:r>
            <a:r>
              <a:rPr lang="zh-CN" altLang="en-US" sz="4000" b="1" dirty="0">
                <a:solidFill>
                  <a:srgbClr val="C00000"/>
                </a:solidFill>
                <a:effectLst/>
              </a:rPr>
              <a:t>年開始熱門起來的最新工具</a:t>
            </a:r>
            <a:endParaRPr lang="en-US" altLang="zh-CN" sz="4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zh-CN" altLang="en-US" sz="3600" b="1" dirty="0">
                <a:effectLst/>
                <a:highlight>
                  <a:srgbClr val="FFFF00"/>
                </a:highlight>
              </a:rPr>
              <a:t>生成式</a:t>
            </a:r>
            <a:r>
              <a:rPr lang="en-US" altLang="zh-CN" sz="3600" b="1" dirty="0">
                <a:effectLst/>
                <a:highlight>
                  <a:srgbClr val="FFFF00"/>
                </a:highlight>
              </a:rPr>
              <a:t>AI</a:t>
            </a:r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 err="1">
                <a:effectLst/>
              </a:rPr>
              <a:t>ChatGPT</a:t>
            </a:r>
            <a:r>
              <a:rPr lang="zh-CN" altLang="en-US" sz="3600" b="1" dirty="0">
                <a:effectLst/>
              </a:rPr>
              <a:t>，</a:t>
            </a:r>
            <a:r>
              <a:rPr lang="en-US" altLang="zh-CN" sz="3600" b="1" dirty="0">
                <a:effectLst/>
              </a:rPr>
              <a:t>Bard</a:t>
            </a:r>
            <a:r>
              <a:rPr lang="zh-CN" altLang="en-US" sz="3600" b="1" dirty="0">
                <a:effectLst/>
              </a:rPr>
              <a:t>，文心一言）</a:t>
            </a:r>
            <a:endParaRPr lang="en-US" altLang="zh-TW" sz="36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8732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2E1B049-F49C-449F-A0B1-43546B99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4D325-A351-4ED0-BD22-9D5769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196850"/>
            <a:ext cx="8964488" cy="1265238"/>
          </a:xfrm>
        </p:spPr>
        <p:txBody>
          <a:bodyPr>
            <a:normAutofit fontScale="90000"/>
          </a:bodyPr>
          <a:lstStyle/>
          <a:p>
            <a:r>
              <a:rPr lang="zh-CN" altLang="en-US" sz="49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數據量化</a:t>
            </a:r>
            <a: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分析常用工具：</a:t>
            </a:r>
            <a:b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700" b="1" dirty="0">
                <a:effectLst/>
              </a:rPr>
              <a:t>1.python/pandas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2.SQL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3.power BI</a:t>
            </a:r>
            <a:r>
              <a:rPr lang="zh-TW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tableau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4.</a:t>
            </a:r>
            <a:r>
              <a:rPr lang="en-US" altLang="zh-CN" sz="2700" b="1" dirty="0">
                <a:effectLst/>
              </a:rPr>
              <a:t>AI</a:t>
            </a:r>
            <a:endParaRPr lang="zh-TW" altLang="en-US" dirty="0"/>
          </a:p>
        </p:txBody>
      </p:sp>
      <p:pic>
        <p:nvPicPr>
          <p:cNvPr id="5122" name="Picture 2" descr="https://acupun.site/lecture/pandas/pic/scope6.png">
            <a:extLst>
              <a:ext uri="{FF2B5EF4-FFF2-40B4-BE49-F238E27FC236}">
                <a16:creationId xmlns:a16="http://schemas.microsoft.com/office/drawing/2014/main" id="{FEEA9FCB-20C2-474F-9C49-4AB31D229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462088"/>
            <a:ext cx="8003232" cy="539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30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32E1B049-F49C-449F-A0B1-43546B992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414D325-A351-4ED0-BD22-9D576959A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6" y="196850"/>
            <a:ext cx="8964488" cy="1265238"/>
          </a:xfrm>
        </p:spPr>
        <p:txBody>
          <a:bodyPr>
            <a:normAutofit fontScale="90000"/>
          </a:bodyPr>
          <a:lstStyle/>
          <a:p>
            <a:r>
              <a:rPr lang="zh-CN" altLang="en-US" sz="49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數據量化</a:t>
            </a:r>
            <a: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分析常用工具：</a:t>
            </a:r>
            <a:br>
              <a:rPr lang="zh-TW" altLang="en-US" sz="49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700" b="1" dirty="0">
                <a:effectLst/>
              </a:rPr>
              <a:t>1.python/pandas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2.SQL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3.power BI</a:t>
            </a:r>
            <a:r>
              <a:rPr lang="zh-TW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tableau</a:t>
            </a:r>
            <a:r>
              <a:rPr lang="zh-CN" altLang="en-US" sz="2700" b="1" dirty="0">
                <a:effectLst/>
              </a:rPr>
              <a:t>，</a:t>
            </a:r>
            <a:r>
              <a:rPr lang="en-US" altLang="zh-TW" sz="2700" b="1" dirty="0">
                <a:effectLst/>
              </a:rPr>
              <a:t>4.</a:t>
            </a:r>
            <a:r>
              <a:rPr lang="en-US" altLang="zh-CN" sz="2700" b="1" dirty="0">
                <a:effectLst/>
              </a:rPr>
              <a:t>AI</a:t>
            </a:r>
            <a:endParaRPr lang="zh-TW" altLang="en-US" dirty="0"/>
          </a:p>
        </p:txBody>
      </p:sp>
      <p:pic>
        <p:nvPicPr>
          <p:cNvPr id="6146" name="Picture 2" descr="https://acupun.site/lecture/pandas/pic/scope4.png">
            <a:extLst>
              <a:ext uri="{FF2B5EF4-FFF2-40B4-BE49-F238E27FC236}">
                <a16:creationId xmlns:a16="http://schemas.microsoft.com/office/drawing/2014/main" id="{13775DDE-ADC7-4E83-A565-2528B914C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91930"/>
            <a:ext cx="8229600" cy="548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912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Python/Pandas</a:t>
            </a:r>
            <a:r>
              <a:rPr lang="zh-CN" altLang="en-US" sz="8000" b="1" dirty="0"/>
              <a:t>是目前求職市場目前排行第一的程式語言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9306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A0FA798-AF36-4EAA-85F8-6BDEF7668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52" y="1189566"/>
            <a:ext cx="9144000" cy="5516033"/>
          </a:xfr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70A3C28-E0C5-4154-8291-AA255824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2020</a:t>
            </a:r>
            <a:r>
              <a:rPr lang="zh-CN" altLang="en-US" dirty="0"/>
              <a:t>調查，使用度最高的程式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6383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4597E6F-6810-4E4E-B137-0D2ABEA1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800" dirty="0"/>
              <a:t>2016</a:t>
            </a:r>
            <a:r>
              <a:rPr lang="zh-CN" altLang="en-US" sz="4800" dirty="0"/>
              <a:t>年工作職缺需要的程式工具</a:t>
            </a:r>
            <a:endParaRPr lang="zh-TW" altLang="en-US" sz="4800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1D4C2CD-D088-4B36-A7E5-740B46E57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638" y="1052736"/>
            <a:ext cx="7176841" cy="5896235"/>
          </a:xfrm>
        </p:spPr>
      </p:pic>
    </p:spTree>
    <p:extLst>
      <p:ext uri="{BB962C8B-B14F-4D97-AF65-F5344CB8AC3E}">
        <p14:creationId xmlns:p14="http://schemas.microsoft.com/office/powerpoint/2010/main" val="2500518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628800"/>
            <a:ext cx="8316416" cy="3600400"/>
          </a:xfrm>
        </p:spPr>
        <p:txBody>
          <a:bodyPr vert="horz" rtlCol="0">
            <a:normAutofit fontScale="77500" lnSpcReduction="20000"/>
          </a:bodyPr>
          <a:lstStyle/>
          <a:p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CN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8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個理由</a:t>
            </a:r>
            <a:endParaRPr lang="en-US" altLang="zh-CN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8000" b="1" dirty="0"/>
              <a:t>Pandas</a:t>
            </a:r>
            <a:r>
              <a:rPr lang="zh-CN" altLang="en-US" sz="8000" b="1" dirty="0"/>
              <a:t>是進入</a:t>
            </a:r>
            <a:r>
              <a:rPr lang="en-US" altLang="zh-CN" sz="8000" b="1" dirty="0"/>
              <a:t>AI</a:t>
            </a:r>
            <a:r>
              <a:rPr lang="zh-CN" altLang="en-US" sz="8000" b="1" dirty="0"/>
              <a:t>人工智慧程式分析的基礎語言</a:t>
            </a:r>
            <a:endParaRPr lang="zh-TW" altLang="en-US" sz="8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3687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FCEBE15-2AF3-4E9A-894E-EFD6B26F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5105400"/>
          </a:xfrm>
        </p:spPr>
        <p:txBody>
          <a:bodyPr/>
          <a:lstStyle/>
          <a:p>
            <a:r>
              <a:rPr lang="zh-CN" altLang="en-US" b="1" dirty="0"/>
              <a:t>用</a:t>
            </a:r>
            <a:r>
              <a:rPr lang="en-US" altLang="zh-CN" b="1" dirty="0"/>
              <a:t>python</a:t>
            </a:r>
            <a:r>
              <a:rPr lang="zh-CN" altLang="en-US" b="1" dirty="0"/>
              <a:t>的</a:t>
            </a:r>
            <a:r>
              <a:rPr lang="zh-TW" altLang="en-US" b="1" dirty="0"/>
              <a:t>用</a:t>
            </a:r>
            <a:r>
              <a:rPr lang="en-US" altLang="zh-TW" b="1" dirty="0" err="1"/>
              <a:t>sklearn</a:t>
            </a:r>
            <a:r>
              <a:rPr lang="zh-TW" altLang="en-US" b="1" dirty="0"/>
              <a:t>模組，建立</a:t>
            </a:r>
            <a:r>
              <a:rPr lang="en-US" altLang="zh-TW" b="1" dirty="0"/>
              <a:t>『</a:t>
            </a:r>
            <a:r>
              <a:rPr lang="zh-TW" altLang="en-US" b="1" dirty="0"/>
              <a:t>隨機森林法</a:t>
            </a:r>
            <a:r>
              <a:rPr lang="en-US" altLang="zh-TW" b="1" dirty="0"/>
              <a:t>』</a:t>
            </a:r>
            <a:r>
              <a:rPr lang="zh-TW" altLang="en-US" b="1" dirty="0"/>
              <a:t>模型來預測</a:t>
            </a:r>
            <a:r>
              <a:rPr lang="en-US" altLang="zh-TW" b="1" dirty="0"/>
              <a:t>『</a:t>
            </a:r>
            <a:r>
              <a:rPr lang="zh-TW" altLang="en-US" b="1" dirty="0"/>
              <a:t>屬於鳶尾花朵的品種</a:t>
            </a:r>
            <a:r>
              <a:rPr lang="en-US" altLang="zh-TW" b="1" dirty="0"/>
              <a:t>』</a:t>
            </a:r>
          </a:p>
          <a:p>
            <a:pPr lvl="1"/>
            <a:r>
              <a:rPr lang="en-US" altLang="zh-TW" dirty="0">
                <a:hlinkClick r:id="rId2"/>
              </a:rPr>
              <a:t>https://colab.research.google.com/drive/1RTQ_7z6fMQ3XCfeXUodo_LKAUjAPyUEm?usp=sharing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b="1" dirty="0"/>
              <a:t>用</a:t>
            </a:r>
            <a:r>
              <a:rPr lang="en-US" altLang="zh-TW" b="1" dirty="0"/>
              <a:t>『</a:t>
            </a:r>
            <a:r>
              <a:rPr lang="zh-TW" altLang="en-US" b="1" dirty="0"/>
              <a:t>深度學習的</a:t>
            </a:r>
            <a:r>
              <a:rPr lang="en-US" altLang="zh-TW" b="1" dirty="0" err="1"/>
              <a:t>keras</a:t>
            </a:r>
            <a:r>
              <a:rPr lang="en-US" altLang="zh-TW" b="1" dirty="0"/>
              <a:t>』</a:t>
            </a:r>
            <a:r>
              <a:rPr lang="zh-TW" altLang="en-US" b="1" dirty="0"/>
              <a:t>模組，建立</a:t>
            </a:r>
            <a:r>
              <a:rPr lang="en-US" altLang="zh-TW" b="1" dirty="0"/>
              <a:t>『</a:t>
            </a:r>
            <a:r>
              <a:rPr lang="zh-TW" altLang="en-US" b="1" dirty="0"/>
              <a:t>類神經網路</a:t>
            </a:r>
            <a:r>
              <a:rPr lang="en-US" altLang="zh-TW" b="1" dirty="0"/>
              <a:t>』</a:t>
            </a:r>
            <a:r>
              <a:rPr lang="zh-TW" altLang="en-US" b="1" dirty="0"/>
              <a:t>，預測患者是否患有糖尿病</a:t>
            </a:r>
            <a:endParaRPr lang="en-US" altLang="zh-TW" b="1" dirty="0"/>
          </a:p>
          <a:p>
            <a:pPr lvl="1"/>
            <a:r>
              <a:rPr lang="en-US" altLang="zh-TW" dirty="0">
                <a:hlinkClick r:id="rId3"/>
              </a:rPr>
              <a:t>https://colab.research.google.com/drive/1CApMuuWDDj5dvhbhgZFphUA4gSEy9VH4?usp=sharing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129AB10-945F-49A0-8E40-5AFE7224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CN" b="1" dirty="0"/>
              <a:t>Pandas</a:t>
            </a:r>
            <a:r>
              <a:rPr lang="zh-CN" altLang="en-US" b="1" dirty="0"/>
              <a:t>是進入</a:t>
            </a:r>
            <a:r>
              <a:rPr lang="en-US" altLang="zh-CN" b="1" dirty="0"/>
              <a:t>AI</a:t>
            </a:r>
            <a:r>
              <a:rPr lang="zh-CN" altLang="en-US" b="1" dirty="0"/>
              <a:t>人工智慧程式分析的基礎語言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5220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1412776"/>
            <a:ext cx="8550696" cy="3960440"/>
          </a:xfrm>
        </p:spPr>
        <p:txBody>
          <a:bodyPr vert="horz" rtlCol="0">
            <a:normAutofit/>
          </a:bodyPr>
          <a:lstStyle/>
          <a:p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是否要選修這門課的三個考量</a:t>
            </a:r>
            <a:endParaRPr lang="zh-TW" altLang="en-US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352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這門課不是營養學分</a:t>
            </a:r>
            <a:endParaRPr lang="en-US" altLang="zh-CN" sz="5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作業多，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上課加分佔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25%(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請假也無法加分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經常不來上課，分數會低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是否要選修這門課的第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個考量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337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CN" altLang="en-US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考試會比作業，再難點</a:t>
            </a:r>
            <a:endParaRPr lang="en-US" altLang="zh-CN" sz="5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若是沒有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做重點筆記，重點摘要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，很難高分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若是沒有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複習到</a:t>
            </a:r>
            <a:r>
              <a:rPr lang="en-US" altLang="zh-CN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分熟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，很難高分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若是沒有怎麼唸書就來考試，小心不及格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是否要選修這門課的第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個考量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005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CN" altLang="en-US" sz="54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上課全部程式碼教學，會不習慣，有點壓力</a:t>
            </a:r>
            <a:endParaRPr lang="en-US" altLang="zh-CN" sz="5400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若對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程式碼沒有興趣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，會有壓力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若不想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CN" altLang="en-US" sz="5000" b="1" dirty="0">
                <a:solidFill>
                  <a:srgbClr val="7030A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動腦想想</a:t>
            </a:r>
            <a:r>
              <a:rPr lang="en-US" altLang="zh-CN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CN" altLang="en-US" sz="5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，會有壓力</a:t>
            </a:r>
            <a:endParaRPr lang="en-US" altLang="zh-CN" sz="5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5400" b="1" dirty="0">
              <a:effectLst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是否要選修這門課的第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個考量</a:t>
            </a:r>
            <a:endParaRPr lang="zh-TW" altLang="en-US" sz="5400" b="1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7105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1268760"/>
            <a:ext cx="8550696" cy="4032448"/>
          </a:xfrm>
        </p:spPr>
        <p:txBody>
          <a:bodyPr vert="horz" rtlCol="0">
            <a:normAutofit/>
          </a:bodyPr>
          <a:lstStyle/>
          <a:p>
            <a:r>
              <a:rPr lang="zh-CN" altLang="en-US" sz="7200" b="1" dirty="0"/>
              <a:t>這門課</a:t>
            </a:r>
            <a:endParaRPr lang="en-US" altLang="zh-CN" sz="7200" b="1" dirty="0"/>
          </a:p>
          <a:p>
            <a:r>
              <a:rPr lang="zh-CN" altLang="en-US" sz="7200" b="1" dirty="0"/>
              <a:t>要不要選修？</a:t>
            </a:r>
            <a:endParaRPr lang="zh-TW" altLang="en-US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9304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8C4AD8-77BC-40DA-AFBE-F2E74FF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這門課要不要選修？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2E86A9D0-3FB2-4C8B-907C-2384DB4A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784976" cy="5148808"/>
          </a:xfrm>
        </p:spPr>
        <p:txBody>
          <a:bodyPr>
            <a:normAutofit lnSpcReduction="10000"/>
          </a:bodyPr>
          <a:lstStyle/>
          <a:p>
            <a:r>
              <a:rPr lang="zh-CN" altLang="en-US" sz="4400" b="1" dirty="0"/>
              <a:t>這門課，</a:t>
            </a:r>
            <a:r>
              <a:rPr lang="zh-CN" altLang="en-US" sz="4400" b="1" dirty="0">
                <a:solidFill>
                  <a:srgbClr val="C00000"/>
                </a:solidFill>
              </a:rPr>
              <a:t>作業很多</a:t>
            </a:r>
            <a:endParaRPr lang="en-US" altLang="zh-CN" sz="4400" b="1" dirty="0">
              <a:solidFill>
                <a:srgbClr val="C00000"/>
              </a:solidFill>
            </a:endParaRPr>
          </a:p>
          <a:p>
            <a:pPr lvl="1"/>
            <a:r>
              <a:rPr lang="en-US" altLang="zh-CN" sz="3200" b="1" dirty="0">
                <a:solidFill>
                  <a:srgbClr val="C00000"/>
                </a:solidFill>
              </a:rPr>
              <a:t>2</a:t>
            </a:r>
            <a:r>
              <a:rPr lang="zh-CN" altLang="en-US" sz="3200" b="1" dirty="0">
                <a:solidFill>
                  <a:srgbClr val="C00000"/>
                </a:solidFill>
              </a:rPr>
              <a:t>週出一個作業</a:t>
            </a:r>
            <a:r>
              <a:rPr lang="zh-CN" altLang="en-US" sz="3200" b="1" dirty="0"/>
              <a:t>，</a:t>
            </a:r>
            <a:endParaRPr lang="en-US" altLang="zh-CN" sz="3200" b="1" dirty="0"/>
          </a:p>
          <a:p>
            <a:pPr lvl="1"/>
            <a:r>
              <a:rPr lang="zh-CN" altLang="en-US" sz="3200" b="1" dirty="0"/>
              <a:t>總成績佔比</a:t>
            </a:r>
            <a:r>
              <a:rPr lang="en-US" altLang="zh-CN" sz="3200" b="1" dirty="0"/>
              <a:t>25%</a:t>
            </a:r>
          </a:p>
          <a:p>
            <a:pPr lvl="1"/>
            <a:r>
              <a:rPr lang="zh-CN" altLang="en-US" sz="3200" b="1" dirty="0"/>
              <a:t>若有</a:t>
            </a:r>
            <a:r>
              <a:rPr lang="en-US" altLang="zh-CN" sz="3200" b="1" dirty="0"/>
              <a:t>side project</a:t>
            </a:r>
            <a:r>
              <a:rPr lang="zh-CN" altLang="en-US" sz="3200" b="1" dirty="0"/>
              <a:t>專題，題目更多</a:t>
            </a:r>
            <a:endParaRPr lang="en-US" altLang="zh-CN" sz="3200" b="1" dirty="0"/>
          </a:p>
          <a:p>
            <a:pPr lvl="1"/>
            <a:endParaRPr lang="en-US" altLang="zh-CN" b="1" dirty="0"/>
          </a:p>
          <a:p>
            <a:r>
              <a:rPr lang="zh-CN" altLang="en-US" sz="4400" b="1" dirty="0"/>
              <a:t>這門課的考試：</a:t>
            </a:r>
            <a:r>
              <a:rPr lang="zh-CN" altLang="en-US" sz="4400" b="1" dirty="0">
                <a:solidFill>
                  <a:srgbClr val="C00000"/>
                </a:solidFill>
              </a:rPr>
              <a:t>上機考試</a:t>
            </a:r>
            <a:endParaRPr lang="en-US" altLang="zh-CN" sz="44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3600" dirty="0"/>
              <a:t>要靠自己內化的程式能力，來考試</a:t>
            </a:r>
            <a:endParaRPr lang="en-US" altLang="zh-CN" sz="3600" dirty="0"/>
          </a:p>
          <a:p>
            <a:pPr lvl="1"/>
            <a:r>
              <a:rPr lang="zh-CN" altLang="en-US" sz="3600" dirty="0"/>
              <a:t>總成績佔比</a:t>
            </a:r>
            <a:r>
              <a:rPr lang="en-US" altLang="zh-CN" sz="3600" dirty="0"/>
              <a:t>25%</a:t>
            </a:r>
            <a:r>
              <a:rPr lang="zh-CN" altLang="en-US" sz="3600" dirty="0"/>
              <a:t>，</a:t>
            </a:r>
            <a:r>
              <a:rPr lang="en-US" altLang="zh-CN" sz="3600" dirty="0"/>
              <a:t> 25%</a:t>
            </a:r>
          </a:p>
          <a:p>
            <a:pPr lvl="1"/>
            <a:endParaRPr lang="en-US" altLang="zh-CN" sz="4000" b="1" dirty="0"/>
          </a:p>
          <a:p>
            <a:endParaRPr lang="en-US" altLang="zh-CN" sz="4400" b="1" dirty="0"/>
          </a:p>
        </p:txBody>
      </p:sp>
    </p:spTree>
    <p:extLst>
      <p:ext uri="{BB962C8B-B14F-4D97-AF65-F5344CB8AC3E}">
        <p14:creationId xmlns:p14="http://schemas.microsoft.com/office/powerpoint/2010/main" val="3618084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8C4AD8-77BC-40DA-AFBE-F2E74FF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這門課要不要選修？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2E86A9D0-3FB2-4C8B-907C-2384DB4A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784976" cy="5148808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這門課的</a:t>
            </a:r>
            <a:r>
              <a:rPr lang="zh-CN" altLang="en-US" sz="4400" dirty="0">
                <a:highlight>
                  <a:srgbClr val="FFFF00"/>
                </a:highlight>
              </a:rPr>
              <a:t>平時分數</a:t>
            </a:r>
            <a:r>
              <a:rPr lang="zh-CN" altLang="en-US" sz="4400" dirty="0"/>
              <a:t>，加分多</a:t>
            </a:r>
            <a:endParaRPr lang="en-US" altLang="zh-CN" sz="4400" dirty="0"/>
          </a:p>
          <a:p>
            <a:pPr lvl="1"/>
            <a:r>
              <a:rPr lang="zh-CN" altLang="en-US" sz="4000" dirty="0">
                <a:solidFill>
                  <a:srgbClr val="7030A0"/>
                </a:solidFill>
              </a:rPr>
              <a:t>每節課加分</a:t>
            </a:r>
            <a:r>
              <a:rPr lang="en-US" altLang="zh-CN" sz="4000" dirty="0">
                <a:solidFill>
                  <a:srgbClr val="7030A0"/>
                </a:solidFill>
              </a:rPr>
              <a:t>1</a:t>
            </a:r>
            <a:r>
              <a:rPr lang="zh-CN" altLang="en-US" sz="4000" dirty="0">
                <a:solidFill>
                  <a:srgbClr val="7030A0"/>
                </a:solidFill>
              </a:rPr>
              <a:t>次</a:t>
            </a:r>
            <a:r>
              <a:rPr lang="zh-CN" altLang="en-US" sz="4000" dirty="0"/>
              <a:t>（點名</a:t>
            </a:r>
            <a:r>
              <a:rPr lang="en-US" altLang="zh-CN" sz="4000" dirty="0"/>
              <a:t>1</a:t>
            </a:r>
            <a:r>
              <a:rPr lang="zh-CN" altLang="en-US" sz="4000" dirty="0"/>
              <a:t>次）</a:t>
            </a:r>
            <a:endParaRPr lang="en-US" altLang="zh-CN" sz="4000" dirty="0"/>
          </a:p>
          <a:p>
            <a:pPr lvl="1"/>
            <a:r>
              <a:rPr lang="zh-CN" altLang="en-US" sz="4000" dirty="0">
                <a:solidFill>
                  <a:srgbClr val="7030A0"/>
                </a:solidFill>
              </a:rPr>
              <a:t>上課範例每</a:t>
            </a:r>
            <a:r>
              <a:rPr lang="en-US" altLang="zh-CN" sz="4000" dirty="0">
                <a:solidFill>
                  <a:srgbClr val="7030A0"/>
                </a:solidFill>
              </a:rPr>
              <a:t>1</a:t>
            </a:r>
            <a:r>
              <a:rPr lang="zh-CN" altLang="en-US" sz="4000" dirty="0">
                <a:solidFill>
                  <a:srgbClr val="7030A0"/>
                </a:solidFill>
              </a:rPr>
              <a:t>題</a:t>
            </a:r>
            <a:r>
              <a:rPr lang="zh-CN" altLang="en-US" sz="4000" dirty="0"/>
              <a:t>，加分</a:t>
            </a:r>
            <a:r>
              <a:rPr lang="en-US" altLang="zh-CN" sz="4000" dirty="0"/>
              <a:t>1</a:t>
            </a:r>
            <a:r>
              <a:rPr lang="zh-CN" altLang="en-US" sz="4000" dirty="0"/>
              <a:t>次</a:t>
            </a:r>
            <a:endParaRPr lang="en-US" altLang="zh-CN" sz="4000" dirty="0"/>
          </a:p>
          <a:p>
            <a:pPr lvl="1"/>
            <a:r>
              <a:rPr lang="zh-CN" altLang="en-US" sz="4000" dirty="0">
                <a:solidFill>
                  <a:srgbClr val="C00000"/>
                </a:solidFill>
              </a:rPr>
              <a:t>可以請假，但是就沒有平時加分</a:t>
            </a:r>
            <a:endParaRPr lang="en-US" altLang="zh-CN" sz="4000" dirty="0">
              <a:solidFill>
                <a:srgbClr val="C00000"/>
              </a:solidFill>
            </a:endParaRPr>
          </a:p>
          <a:p>
            <a:pPr lvl="1"/>
            <a:r>
              <a:rPr lang="zh-CN" altLang="en-US" sz="4000" dirty="0"/>
              <a:t>平時分數，佔總成績的</a:t>
            </a:r>
            <a:r>
              <a:rPr lang="en-US" altLang="zh-CN" sz="4000" dirty="0">
                <a:highlight>
                  <a:srgbClr val="FFFF00"/>
                </a:highlight>
              </a:rPr>
              <a:t>25%</a:t>
            </a:r>
          </a:p>
          <a:p>
            <a:pPr lvl="1"/>
            <a:endParaRPr lang="en-US" altLang="zh-CN" sz="4000" dirty="0"/>
          </a:p>
          <a:p>
            <a:pPr lvl="1"/>
            <a:endParaRPr lang="en-US" altLang="zh-CN" sz="4000" dirty="0"/>
          </a:p>
          <a:p>
            <a:endParaRPr lang="en-US" altLang="zh-CN" sz="4400" b="1" dirty="0"/>
          </a:p>
        </p:txBody>
      </p:sp>
    </p:spTree>
    <p:extLst>
      <p:ext uri="{BB962C8B-B14F-4D97-AF65-F5344CB8AC3E}">
        <p14:creationId xmlns:p14="http://schemas.microsoft.com/office/powerpoint/2010/main" val="2380744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8C4AD8-77BC-40DA-AFBE-F2E74FF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>
                <a:latin typeface="+mn-lt"/>
                <a:ea typeface="+mn-ea"/>
                <a:cs typeface="+mn-cs"/>
              </a:rPr>
              <a:t>這門課要不要選修？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2E86A9D0-3FB2-4C8B-907C-2384DB4A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784976" cy="5148808"/>
          </a:xfrm>
        </p:spPr>
        <p:txBody>
          <a:bodyPr>
            <a:normAutofit fontScale="92500"/>
          </a:bodyPr>
          <a:lstStyle/>
          <a:p>
            <a:r>
              <a:rPr lang="zh-CN" altLang="en-US" sz="4400" b="1" dirty="0"/>
              <a:t>這種</a:t>
            </a:r>
            <a:r>
              <a:rPr lang="en-US" altLang="zh-CN" sz="4400" b="1" dirty="0"/>
              <a:t>『</a:t>
            </a:r>
            <a:r>
              <a:rPr lang="zh-CN" altLang="en-US" sz="4400" b="1" dirty="0"/>
              <a:t>程式課，技能課</a:t>
            </a:r>
            <a:r>
              <a:rPr lang="en-US" altLang="zh-CN" sz="4400" b="1" dirty="0"/>
              <a:t>』</a:t>
            </a:r>
            <a:r>
              <a:rPr lang="zh-CN" altLang="en-US" sz="4400" b="1" dirty="0"/>
              <a:t>的特色</a:t>
            </a:r>
            <a:endParaRPr lang="en-US" altLang="zh-CN" sz="4400" b="1" dirty="0"/>
          </a:p>
          <a:p>
            <a:pPr lvl="1"/>
            <a:r>
              <a:rPr lang="zh-CN" altLang="en-US" sz="3900" dirty="0">
                <a:solidFill>
                  <a:srgbClr val="C00000"/>
                </a:solidFill>
              </a:rPr>
              <a:t>今天所教的，是上週學過的繼續深入</a:t>
            </a:r>
            <a:endParaRPr lang="en-US" altLang="zh-CN" sz="3900" dirty="0">
              <a:solidFill>
                <a:srgbClr val="C00000"/>
              </a:solidFill>
            </a:endParaRPr>
          </a:p>
          <a:p>
            <a:pPr lvl="1"/>
            <a:r>
              <a:rPr lang="zh-CN" altLang="en-US" sz="3900" dirty="0">
                <a:solidFill>
                  <a:srgbClr val="C00000"/>
                </a:solidFill>
              </a:rPr>
              <a:t>今天用的軟體，是上週安裝的</a:t>
            </a:r>
            <a:endParaRPr lang="en-US" altLang="zh-CN" sz="3900" dirty="0">
              <a:solidFill>
                <a:srgbClr val="C00000"/>
              </a:solidFill>
            </a:endParaRPr>
          </a:p>
          <a:p>
            <a:r>
              <a:rPr lang="zh-CN" altLang="en-US" sz="4400" b="1" dirty="0">
                <a:highlight>
                  <a:srgbClr val="FFFF00"/>
                </a:highlight>
              </a:rPr>
              <a:t>如果你缺課</a:t>
            </a:r>
            <a:r>
              <a:rPr lang="en-US" altLang="zh-CN" sz="4400" b="1" dirty="0">
                <a:highlight>
                  <a:srgbClr val="FFFF00"/>
                </a:highlight>
              </a:rPr>
              <a:t>2</a:t>
            </a:r>
            <a:r>
              <a:rPr lang="zh-CN" altLang="en-US" sz="4400" b="1" dirty="0">
                <a:highlight>
                  <a:srgbClr val="FFFF00"/>
                </a:highlight>
              </a:rPr>
              <a:t>次，大概就跟不上了</a:t>
            </a:r>
            <a:endParaRPr lang="en-US" altLang="zh-CN" sz="4400" b="1" dirty="0">
              <a:highlight>
                <a:srgbClr val="FFFF00"/>
              </a:highlight>
            </a:endParaRPr>
          </a:p>
          <a:p>
            <a:r>
              <a:rPr lang="zh-CN" altLang="en-US" sz="4400" b="1" dirty="0"/>
              <a:t>舉例：</a:t>
            </a:r>
            <a:r>
              <a:rPr lang="en-US" altLang="zh-CN" sz="4400" b="1" dirty="0">
                <a:solidFill>
                  <a:srgbClr val="7030A0"/>
                </a:solidFill>
              </a:rPr>
              <a:t>1</a:t>
            </a:r>
            <a:r>
              <a:rPr lang="zh-CN" altLang="en-US" sz="4400" b="1" dirty="0">
                <a:solidFill>
                  <a:srgbClr val="7030A0"/>
                </a:solidFill>
              </a:rPr>
              <a:t>位碩士生，新冠感染請假</a:t>
            </a:r>
            <a:r>
              <a:rPr lang="en-US" altLang="zh-CN" sz="4400" b="1" dirty="0">
                <a:solidFill>
                  <a:srgbClr val="7030A0"/>
                </a:solidFill>
              </a:rPr>
              <a:t>2</a:t>
            </a:r>
            <a:r>
              <a:rPr lang="zh-CN" altLang="en-US" sz="4400" b="1" dirty="0">
                <a:solidFill>
                  <a:srgbClr val="7030A0"/>
                </a:solidFill>
              </a:rPr>
              <a:t>週回來，就跟不上，只好</a:t>
            </a:r>
            <a:r>
              <a:rPr lang="zh-CN" altLang="en-US" sz="4400" b="1" dirty="0">
                <a:solidFill>
                  <a:srgbClr val="C00000"/>
                </a:solidFill>
              </a:rPr>
              <a:t>期中退選</a:t>
            </a:r>
            <a:endParaRPr lang="en-US" altLang="zh-CN" sz="4400" b="1" dirty="0">
              <a:solidFill>
                <a:srgbClr val="C00000"/>
              </a:solidFill>
            </a:endParaRPr>
          </a:p>
          <a:p>
            <a:endParaRPr lang="en-US" altLang="zh-CN" sz="4400" b="1" dirty="0"/>
          </a:p>
        </p:txBody>
      </p:sp>
    </p:spTree>
    <p:extLst>
      <p:ext uri="{BB962C8B-B14F-4D97-AF65-F5344CB8AC3E}">
        <p14:creationId xmlns:p14="http://schemas.microsoft.com/office/powerpoint/2010/main" val="3770047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8C4AD8-77BC-40DA-AFBE-F2E74FF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6000" b="1" dirty="0">
                <a:latin typeface="+mn-lt"/>
                <a:ea typeface="+mn-ea"/>
                <a:cs typeface="+mn-cs"/>
              </a:rPr>
              <a:t>這門課要不要選修？</a:t>
            </a:r>
            <a:endParaRPr lang="zh-TW" altLang="en-US" sz="6000" b="1" dirty="0">
              <a:latin typeface="+mn-lt"/>
              <a:ea typeface="+mn-ea"/>
              <a:cs typeface="+mn-cs"/>
            </a:endParaRPr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2E86A9D0-3FB2-4C8B-907C-2384DB4A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784976" cy="5148808"/>
          </a:xfrm>
        </p:spPr>
        <p:txBody>
          <a:bodyPr>
            <a:normAutofit/>
          </a:bodyPr>
          <a:lstStyle/>
          <a:p>
            <a:r>
              <a:rPr lang="zh-CN" altLang="en-US" sz="6000" dirty="0"/>
              <a:t>事實是：</a:t>
            </a:r>
            <a:endParaRPr lang="en-US" altLang="zh-CN" sz="6000" dirty="0"/>
          </a:p>
          <a:p>
            <a:r>
              <a:rPr lang="zh-CN" altLang="en-US" sz="6000" dirty="0"/>
              <a:t>這是一門還算辛苦的選修課！</a:t>
            </a:r>
            <a:endParaRPr lang="en-US" altLang="zh-CN" sz="4800" dirty="0"/>
          </a:p>
          <a:p>
            <a:endParaRPr lang="en-US" altLang="zh-CN" sz="4400" b="1" dirty="0"/>
          </a:p>
        </p:txBody>
      </p:sp>
    </p:spTree>
    <p:extLst>
      <p:ext uri="{BB962C8B-B14F-4D97-AF65-F5344CB8AC3E}">
        <p14:creationId xmlns:p14="http://schemas.microsoft.com/office/powerpoint/2010/main" val="570280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12" y="1412776"/>
            <a:ext cx="8550696" cy="3960440"/>
          </a:xfrm>
        </p:spPr>
        <p:txBody>
          <a:bodyPr vert="horz" rtlCol="0">
            <a:normAutofit/>
          </a:bodyPr>
          <a:lstStyle/>
          <a:p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之前系上學生的</a:t>
            </a:r>
            <a:endParaRPr lang="en-US" altLang="zh-CN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學習狀況</a:t>
            </a:r>
            <a:endParaRPr lang="zh-TW" altLang="en-US" sz="7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132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BE3B19-9DC2-4FF9-92CE-30E076F1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36" y="1700808"/>
            <a:ext cx="8867328" cy="4525963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堅持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個學期的同學狀況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案例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其它</a:t>
            </a:r>
            <a:endParaRPr lang="en-US" altLang="zh-TW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600" b="1" dirty="0">
              <a:solidFill>
                <a:srgbClr val="7030A0"/>
              </a:solidFill>
              <a:effectLst/>
              <a:highlight>
                <a:srgbClr val="FFFF00"/>
              </a:highlight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233DABC-1ECF-47FD-8503-6287D72B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6" y="152400"/>
            <a:ext cx="8754144" cy="1116360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之前系上學生的學習狀況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8477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334672" cy="4032448"/>
          </a:xfrm>
        </p:spPr>
        <p:txBody>
          <a:bodyPr vert="horz" rtlCol="0">
            <a:normAutofit fontScale="92500"/>
          </a:bodyPr>
          <a:lstStyle/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在大學四年中，</a:t>
            </a:r>
            <a:endParaRPr lang="en-US" altLang="zh-TW" sz="6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哪一門課學了之後，</a:t>
            </a:r>
            <a:endParaRPr lang="en-US" altLang="zh-TW" sz="6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6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就可以馬上拿來賺錢呢？</a:t>
            </a:r>
            <a:endParaRPr lang="zh-TW" altLang="en-US" sz="6600" b="1" dirty="0">
              <a:solidFill>
                <a:schemeClr val="bg1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6032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2924944"/>
            <a:ext cx="7200800" cy="3456384"/>
          </a:xfrm>
        </p:spPr>
        <p:txBody>
          <a:bodyPr>
            <a:normAutofit/>
          </a:bodyPr>
          <a:lstStyle/>
          <a:p>
            <a:r>
              <a:rPr lang="zh-CN" altLang="en-US" sz="7200" b="1" dirty="0"/>
              <a:t>而且薪水還很好</a:t>
            </a:r>
            <a:endParaRPr lang="zh-TW" altLang="en-US" sz="72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2124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636912"/>
            <a:ext cx="8064896" cy="3456384"/>
          </a:xfrm>
        </p:spPr>
        <p:txBody>
          <a:bodyPr>
            <a:normAutofit/>
          </a:bodyPr>
          <a:lstStyle/>
          <a:p>
            <a:r>
              <a:rPr lang="zh-CN" altLang="en-US" sz="7200" b="1" dirty="0"/>
              <a:t>那就是</a:t>
            </a:r>
            <a:endParaRPr lang="en-US" altLang="zh-CN" sz="7200" b="1" dirty="0"/>
          </a:p>
          <a:p>
            <a:r>
              <a:rPr lang="zh-CN" altLang="en-US" sz="7200" b="1" dirty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zh-TW" altLang="en-US" sz="7200" b="1" dirty="0">
              <a:solidFill>
                <a:srgbClr val="7030A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sz="72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6439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2776"/>
            <a:ext cx="8686800" cy="5148808"/>
          </a:xfrm>
        </p:spPr>
        <p:txBody>
          <a:bodyPr>
            <a:noAutofit/>
          </a:bodyPr>
          <a:lstStyle/>
          <a:p>
            <a:r>
              <a:rPr lang="zh-TW" altLang="en-US" sz="3200" b="1" dirty="0">
                <a:effectLst/>
              </a:rPr>
              <a:t>在國內外這幾年的就業市場有個領域非常熱門，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  <a:effectLst/>
              </a:rPr>
              <a:t>數據分析師</a:t>
            </a:r>
            <a:r>
              <a:rPr lang="en-US" altLang="zh-TW" sz="2800" b="1" dirty="0">
                <a:effectLst/>
              </a:rPr>
              <a:t>/Data Analyst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  <a:effectLst/>
              </a:rPr>
              <a:t>商業分析師</a:t>
            </a:r>
            <a:r>
              <a:rPr lang="en-US" altLang="zh-TW" sz="2800" b="1" dirty="0">
                <a:effectLst/>
              </a:rPr>
              <a:t>/ Business analyst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en-US" altLang="zh-TW" sz="2800" b="1" dirty="0">
                <a:solidFill>
                  <a:srgbClr val="C00000"/>
                </a:solidFill>
                <a:effectLst/>
              </a:rPr>
              <a:t>Data Scientist</a:t>
            </a:r>
            <a:r>
              <a:rPr lang="zh-TW" altLang="en-US" sz="2800" b="1" dirty="0">
                <a:effectLst/>
              </a:rPr>
              <a:t>，</a:t>
            </a:r>
            <a:r>
              <a:rPr lang="en-US" altLang="zh-TW" sz="2800" b="1" dirty="0">
                <a:solidFill>
                  <a:srgbClr val="C00000"/>
                </a:solidFill>
                <a:effectLst/>
              </a:rPr>
              <a:t>data engineer</a:t>
            </a:r>
          </a:p>
          <a:p>
            <a:r>
              <a:rPr lang="zh-TW" altLang="en-US" sz="3200" b="1" dirty="0">
                <a:effectLst/>
              </a:rPr>
              <a:t>這方面的工作不但多，而且橫跨各種領域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2800" b="1" dirty="0">
                <a:effectLst/>
              </a:rPr>
              <a:t>金融，百貨，汽車，零售</a:t>
            </a:r>
            <a:r>
              <a:rPr lang="en-US" altLang="zh-TW" sz="2800" b="1" dirty="0">
                <a:effectLst/>
              </a:rPr>
              <a:t>…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zh-TW" altLang="en-US" sz="2800" b="1" dirty="0">
                <a:effectLst/>
              </a:rPr>
              <a:t>而且</a:t>
            </a:r>
            <a:r>
              <a:rPr lang="zh-TW" altLang="en-US" sz="2800" b="1" dirty="0">
                <a:solidFill>
                  <a:srgbClr val="7030A0"/>
                </a:solidFill>
                <a:effectLst/>
              </a:rPr>
              <a:t>薪水高，在歐美的薪資市場，是僅次於軟體設計師的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r>
              <a:rPr lang="zh-TW" altLang="en-US" sz="3200" b="1" dirty="0">
                <a:effectLst/>
              </a:rPr>
              <a:t>因此造成近年有不少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非企管</a:t>
            </a:r>
            <a:r>
              <a:rPr lang="zh-TW" altLang="en-US" sz="3200" b="1" dirty="0">
                <a:effectLst/>
              </a:rPr>
              <a:t>領域的人，轉職到數據分析師。</a:t>
            </a:r>
            <a:endParaRPr lang="zh-TW" altLang="zh-TW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近年來熱門的職業</a:t>
            </a:r>
            <a:endParaRPr lang="zh-TW" altLang="zh-TW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90322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16832"/>
            <a:ext cx="8807896" cy="4644752"/>
          </a:xfrm>
        </p:spPr>
        <p:txBody>
          <a:bodyPr>
            <a:noAutofit/>
          </a:bodyPr>
          <a:lstStyle/>
          <a:p>
            <a:r>
              <a:rPr lang="zh-TW" altLang="en-US" sz="4000" b="1" dirty="0">
                <a:effectLst/>
              </a:rPr>
              <a:t>數據分析師</a:t>
            </a:r>
            <a:r>
              <a:rPr lang="zh-CN" altLang="en-US" sz="4000" b="1" dirty="0">
                <a:effectLst/>
              </a:rPr>
              <a:t>熱門的原因：</a:t>
            </a:r>
            <a:endParaRPr lang="en-US" altLang="zh-TW" sz="4000" b="1" dirty="0"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1.</a:t>
            </a:r>
            <a:r>
              <a:rPr lang="zh-CN" altLang="en-US" sz="4400" b="1" dirty="0">
                <a:effectLst/>
              </a:rPr>
              <a:t>資料量，以後只會越來越</a:t>
            </a:r>
            <a:r>
              <a:rPr lang="zh-CN" altLang="en-US" sz="4400" b="1" dirty="0">
                <a:solidFill>
                  <a:srgbClr val="C00000"/>
                </a:solidFill>
                <a:effectLst/>
              </a:rPr>
              <a:t>大量</a:t>
            </a:r>
            <a:endParaRPr lang="en-US" altLang="zh-TW" sz="44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2.</a:t>
            </a:r>
            <a:r>
              <a:rPr lang="zh-TW" altLang="en-US" sz="4400" b="1" dirty="0">
                <a:effectLst/>
              </a:rPr>
              <a:t>現今企業如果想做數據蒐集的方法</a:t>
            </a:r>
            <a:r>
              <a:rPr lang="zh-CN" altLang="en-US" sz="4400" b="1" dirty="0">
                <a:effectLst/>
              </a:rPr>
              <a:t>，</a:t>
            </a:r>
            <a:r>
              <a:rPr lang="zh-TW" altLang="en-US" sz="4400" b="1" dirty="0">
                <a:effectLst/>
              </a:rPr>
              <a:t>變得</a:t>
            </a:r>
            <a:r>
              <a:rPr lang="zh-TW" altLang="en-US" sz="4400" b="1" dirty="0">
                <a:solidFill>
                  <a:srgbClr val="C00000"/>
                </a:solidFill>
                <a:effectLst/>
              </a:rPr>
              <a:t>非常多元</a:t>
            </a:r>
            <a:r>
              <a:rPr lang="zh-CN" altLang="en-US" sz="4400" b="1" dirty="0">
                <a:effectLst/>
              </a:rPr>
              <a:t> </a:t>
            </a:r>
            <a:endParaRPr lang="en-US" altLang="zh-CN" sz="44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熱門的原因</a:t>
            </a:r>
            <a:endParaRPr lang="zh-TW" altLang="zh-TW" sz="6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41109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2D70E8E-7BEB-42BA-837C-A0CBA375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2D62DB3-266E-450B-98BA-EE0851FB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https://acupun.site/lecture/python_data/example/chp01/p15.png">
            <a:extLst>
              <a:ext uri="{FF2B5EF4-FFF2-40B4-BE49-F238E27FC236}">
                <a16:creationId xmlns:a16="http://schemas.microsoft.com/office/drawing/2014/main" id="{5736CA80-BB6C-4BBD-B5E7-88DFC3D17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6698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584" y="1268760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en-US" altLang="zh-CN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CN" altLang="en-US" sz="7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個案例，了解數據分析師的熱門與工作內容</a:t>
            </a:r>
            <a:endParaRPr lang="zh-TW" altLang="en-US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7522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510540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effectLst/>
              </a:rPr>
              <a:t>1.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：零</a:t>
            </a:r>
            <a:r>
              <a:rPr lang="zh-TW" altLang="en-US" b="1" dirty="0">
                <a:effectLst/>
              </a:rPr>
              <a:t>背景</a:t>
            </a:r>
            <a:r>
              <a:rPr lang="zh-CN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4</a:t>
            </a:r>
            <a:r>
              <a:rPr lang="zh-TW" altLang="en-US" b="1" dirty="0">
                <a:effectLst/>
              </a:rPr>
              <a:t>個月成功轉職成</a:t>
            </a:r>
            <a:r>
              <a:rPr lang="zh-CN" altLang="en-US" b="1" dirty="0">
                <a:effectLst/>
              </a:rPr>
              <a:t>：</a:t>
            </a:r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 </a:t>
            </a:r>
          </a:p>
          <a:p>
            <a:r>
              <a:rPr lang="en-US" altLang="zh-TW" b="1" dirty="0">
                <a:effectLst/>
                <a:hlinkClick r:id="rId2"/>
              </a:rPr>
              <a:t>https://www.youtube.com/watch?v=_HmWdlUYjS4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台灣人，餐飲科，赴加拿大，公關工作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個月轉行成：</a:t>
            </a:r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</a:t>
            </a: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：薪水高，職涯發展彈性大，未來薪資發展高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：有趣，有成就感</a:t>
            </a:r>
            <a:endParaRPr lang="en-US" altLang="zh-CN" b="1" dirty="0">
              <a:effectLst/>
            </a:endParaRPr>
          </a:p>
          <a:p>
            <a:r>
              <a:rPr lang="zh-CN" altLang="en-US" b="1" dirty="0">
                <a:effectLst/>
              </a:rPr>
              <a:t>案例主所學技術：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SQL</a:t>
            </a:r>
          </a:p>
          <a:p>
            <a:pPr lvl="1"/>
            <a:r>
              <a:rPr lang="en-US" altLang="zh-TW" b="1" dirty="0">
                <a:effectLst/>
              </a:rPr>
              <a:t>python</a:t>
            </a:r>
            <a:endParaRPr lang="zh-TW" altLang="en-US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5400" b="1" dirty="0">
                <a:effectLst/>
              </a:rPr>
              <a:t>數據分析師</a:t>
            </a:r>
            <a:r>
              <a:rPr lang="en-US" altLang="zh-TW" sz="5400" b="1" dirty="0">
                <a:effectLst/>
              </a:rPr>
              <a:t>Data Analyst 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2350883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2.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</a:t>
            </a:r>
            <a:r>
              <a:rPr lang="zh-TW" altLang="en-US" dirty="0"/>
              <a:t>我如何成為數據分析師 </a:t>
            </a:r>
            <a:r>
              <a:rPr lang="en-US" altLang="zh-TW" dirty="0"/>
              <a:t>// </a:t>
            </a:r>
            <a:r>
              <a:rPr lang="zh-TW" altLang="en-US" dirty="0"/>
              <a:t>無理工背景轉職</a:t>
            </a:r>
            <a:endParaRPr lang="en-US" altLang="zh-TW" dirty="0"/>
          </a:p>
          <a:p>
            <a:r>
              <a:rPr lang="en-US" altLang="zh-TW" dirty="0">
                <a:hlinkClick r:id="rId2"/>
              </a:rPr>
              <a:t>https://www.youtube.com/watch?v=aNaElUzxvPE</a:t>
            </a:r>
            <a:endParaRPr lang="en-US" altLang="zh-TW" dirty="0"/>
          </a:p>
          <a:p>
            <a:pPr lvl="1"/>
            <a:r>
              <a:rPr lang="zh-CN" altLang="en-US" b="1" dirty="0">
                <a:effectLst/>
              </a:rPr>
              <a:t>台灣人，英文系，赴澳洲，讀資料科學學程，找到資料分析工作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：薪水高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</a:t>
            </a:r>
            <a:r>
              <a:rPr lang="en-US" altLang="zh-CN" b="1" dirty="0">
                <a:effectLst/>
              </a:rPr>
              <a:t>21</a:t>
            </a:r>
            <a:r>
              <a:rPr lang="zh-CN" altLang="en-US" b="1" dirty="0">
                <a:effectLst/>
              </a:rPr>
              <a:t>世紀，資料科學家，是最性感的職業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：每個產業都需要數據分析師，很好跳槽找高薪</a:t>
            </a:r>
            <a:endParaRPr lang="en-US" altLang="zh-TW" b="1" dirty="0">
              <a:effectLst/>
            </a:endParaRPr>
          </a:p>
          <a:p>
            <a:r>
              <a:rPr lang="zh-TW" altLang="en-US" b="1" dirty="0">
                <a:effectLst/>
              </a:rPr>
              <a:t>澳洲薪資</a:t>
            </a:r>
            <a:r>
              <a:rPr lang="en-US" altLang="zh-CN" b="1" dirty="0">
                <a:effectLst/>
              </a:rPr>
              <a:t>for</a:t>
            </a:r>
            <a:r>
              <a:rPr lang="zh-CN" altLang="en-US" b="1" dirty="0">
                <a:effectLst/>
              </a:rPr>
              <a:t>數據分析師</a:t>
            </a:r>
            <a:endParaRPr lang="zh-TW" altLang="en-US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3"/>
              </a:rPr>
              <a:t>https://youtu.be/vs9KuuDPaIc?t=96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dirty="0"/>
              <a:t>一般大約年薪台幣</a:t>
            </a:r>
            <a:r>
              <a:rPr lang="en-US" altLang="zh-CN" dirty="0"/>
              <a:t>175</a:t>
            </a:r>
            <a:r>
              <a:rPr lang="zh-CN" altLang="en-US" dirty="0"/>
              <a:t>萬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38610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effectLst/>
              </a:rPr>
              <a:t>3.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</a:t>
            </a:r>
            <a:r>
              <a:rPr lang="zh-TW" altLang="zh-TW" b="1" dirty="0">
                <a:effectLst/>
              </a:rPr>
              <a:t>零經驗</a:t>
            </a:r>
            <a:r>
              <a:rPr lang="en-US" altLang="zh-TW" b="1" dirty="0">
                <a:effectLst/>
              </a:rPr>
              <a:t>2</a:t>
            </a:r>
            <a:r>
              <a:rPr lang="zh-TW" altLang="zh-TW" b="1" dirty="0">
                <a:effectLst/>
              </a:rPr>
              <a:t>個月轉行資料分析師系列（</a:t>
            </a:r>
            <a:r>
              <a:rPr lang="en-US" altLang="zh-TW" b="1" dirty="0">
                <a:effectLst/>
              </a:rPr>
              <a:t>1</a:t>
            </a:r>
            <a:r>
              <a:rPr lang="zh-TW" altLang="zh-TW" b="1" dirty="0">
                <a:effectLst/>
              </a:rPr>
              <a:t>）如何自學資料分析</a:t>
            </a:r>
            <a:r>
              <a:rPr lang="en-US" altLang="zh-TW" b="1" dirty="0">
                <a:effectLst/>
                <a:hlinkClick r:id="rId2"/>
              </a:rPr>
              <a:t>https://www.youtube.com/watch?v=NZ6BMUVn5d4&amp;t=0s</a:t>
            </a:r>
            <a:endParaRPr lang="en-US" altLang="zh-TW" b="1" dirty="0">
              <a:effectLst/>
            </a:endParaRPr>
          </a:p>
          <a:p>
            <a:r>
              <a:rPr lang="en-US" altLang="zh-TW" b="1" dirty="0">
                <a:effectLst/>
                <a:hlinkClick r:id="rId3"/>
              </a:rPr>
              <a:t>https://www.youtube.com/watch?v=maM4ZljKdXY&amp;t=0s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大陸人，生物專業，赴加拿大二縣城市，自學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個月，轉行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關鍵：</a:t>
            </a:r>
            <a:r>
              <a:rPr lang="en-US" altLang="zh-CN" b="1" dirty="0">
                <a:effectLst/>
              </a:rPr>
              <a:t>CV</a:t>
            </a:r>
            <a:r>
              <a:rPr lang="zh-CN" altLang="en-US" b="1" dirty="0">
                <a:effectLst/>
              </a:rPr>
              <a:t>履歷寫好即可</a:t>
            </a:r>
            <a:endParaRPr lang="en-US" altLang="zh-CN" b="1" dirty="0">
              <a:effectLst/>
            </a:endParaRPr>
          </a:p>
          <a:p>
            <a:r>
              <a:rPr lang="zh-TW" altLang="en-US" b="1" dirty="0">
                <a:effectLst/>
              </a:rPr>
              <a:t>二線城市</a:t>
            </a:r>
            <a:r>
              <a:rPr lang="zh-CN" altLang="en-US" b="1" dirty="0">
                <a:effectLst/>
              </a:rPr>
              <a:t>薪資</a:t>
            </a:r>
            <a:endParaRPr lang="en-US" altLang="zh-CN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第一年薪水加拿大幣</a:t>
            </a:r>
            <a:r>
              <a:rPr lang="en-US" altLang="zh-TW" b="1" dirty="0">
                <a:effectLst/>
              </a:rPr>
              <a:t>6-7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140</a:t>
            </a:r>
            <a:r>
              <a:rPr lang="zh-TW" altLang="en-US" b="1" dirty="0">
                <a:effectLst/>
              </a:rPr>
              <a:t>萬）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</a:t>
            </a:r>
            <a:r>
              <a:rPr lang="en-US" altLang="zh-TW" b="1" dirty="0">
                <a:effectLst/>
              </a:rPr>
              <a:t>2-3</a:t>
            </a:r>
            <a:r>
              <a:rPr lang="zh-TW" altLang="en-US" b="1" dirty="0">
                <a:effectLst/>
              </a:rPr>
              <a:t>年，</a:t>
            </a:r>
            <a:r>
              <a:rPr lang="en-US" altLang="zh-TW" b="1" dirty="0">
                <a:effectLst/>
              </a:rPr>
              <a:t>7-8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180</a:t>
            </a:r>
            <a:r>
              <a:rPr lang="zh-TW" altLang="en-US" b="1" dirty="0">
                <a:effectLst/>
              </a:rPr>
              <a:t>萬）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</a:t>
            </a:r>
            <a:r>
              <a:rPr lang="en-US" altLang="zh-TW" b="1" dirty="0">
                <a:effectLst/>
              </a:rPr>
              <a:t>5</a:t>
            </a:r>
            <a:r>
              <a:rPr lang="zh-TW" altLang="en-US" b="1" dirty="0">
                <a:effectLst/>
              </a:rPr>
              <a:t>年，</a:t>
            </a:r>
            <a:r>
              <a:rPr lang="en-US" altLang="zh-TW" b="1" dirty="0">
                <a:effectLst/>
              </a:rPr>
              <a:t>9-10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223</a:t>
            </a:r>
            <a:r>
              <a:rPr lang="zh-TW" altLang="en-US" b="1" dirty="0">
                <a:effectLst/>
              </a:rPr>
              <a:t>萬）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2532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effectLst/>
              </a:rPr>
              <a:t>4.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21</a:t>
            </a:r>
            <a:r>
              <a:rPr lang="zh-TW" altLang="en-US" b="1" dirty="0">
                <a:effectLst/>
              </a:rPr>
              <a:t>世紀最性感的職業？資料分析師的修煉心法</a:t>
            </a:r>
          </a:p>
          <a:p>
            <a:r>
              <a:rPr lang="en-US" altLang="zh-TW" dirty="0">
                <a:hlinkClick r:id="rId2"/>
              </a:rPr>
              <a:t>https://www.youtube.com/watch?v=e32frJpvFhc</a:t>
            </a:r>
            <a:endParaRPr lang="en-US" altLang="zh-TW" dirty="0"/>
          </a:p>
          <a:p>
            <a:pPr lvl="1"/>
            <a:r>
              <a:rPr lang="zh-CN" altLang="en-US" b="1" dirty="0">
                <a:effectLst/>
              </a:rPr>
              <a:t>台灣人，公共衛生系，統計，轉行到資料分析工作</a:t>
            </a:r>
            <a:r>
              <a:rPr lang="en-US" altLang="zh-CN" b="1" dirty="0">
                <a:effectLst/>
              </a:rPr>
              <a:t>5</a:t>
            </a:r>
            <a:r>
              <a:rPr lang="zh-CN" altLang="en-US" b="1" dirty="0">
                <a:effectLst/>
              </a:rPr>
              <a:t>年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工作：物聯網公司，電商公司，新創公司，數位廣告，傳產公司都要數位轉型</a:t>
            </a:r>
            <a:endParaRPr lang="en-US" altLang="zh-CN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資料分析師</a:t>
            </a:r>
            <a:r>
              <a:rPr lang="zh-CN" altLang="en-US" b="1" dirty="0">
                <a:effectLst/>
              </a:rPr>
              <a:t>主要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種類型：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商業智慧分析師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資料科學家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工作迷人處：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可以看到工作運作的全貌，接觸到公司高層，輔助高層的決策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很有成就感，因為你的工作，很有影響力，是公司重要的顧問與智囊</a:t>
            </a:r>
            <a:endParaRPr lang="en-US" altLang="zh-CN" b="1" dirty="0">
              <a:effectLst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98627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5.</a:t>
            </a:r>
            <a:r>
              <a:rPr lang="zh-TW" altLang="en-US" b="1" dirty="0">
                <a:effectLst/>
              </a:rPr>
              <a:t>轉職數據分析的人</a:t>
            </a:r>
            <a:r>
              <a:rPr lang="zh-CN" altLang="en-US" b="1" dirty="0">
                <a:effectLst/>
              </a:rPr>
              <a:t>很多</a:t>
            </a:r>
            <a:r>
              <a:rPr lang="zh-TW" altLang="en-US" b="1" dirty="0">
                <a:effectLst/>
              </a:rPr>
              <a:t>都失敗了</a:t>
            </a:r>
            <a:r>
              <a:rPr lang="en-US" altLang="zh-TW" b="1" dirty="0">
                <a:effectLst/>
              </a:rPr>
              <a:t>? </a:t>
            </a:r>
            <a:r>
              <a:rPr lang="zh-TW" altLang="en-US" b="1" dirty="0">
                <a:effectLst/>
              </a:rPr>
              <a:t>大幅提升成功率的轉職方法</a:t>
            </a:r>
          </a:p>
          <a:p>
            <a:r>
              <a:rPr lang="en-US" altLang="zh-TW" dirty="0">
                <a:hlinkClick r:id="rId2"/>
              </a:rPr>
              <a:t>https://www.youtube.com/watch?v=9EcOu_GLsfA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CN" dirty="0"/>
              <a:t>6.</a:t>
            </a:r>
            <a:r>
              <a:rPr lang="zh-TW" altLang="en-US" b="1" dirty="0">
                <a:effectLst/>
              </a:rPr>
              <a:t>數據分析轉職 </a:t>
            </a:r>
            <a:r>
              <a:rPr lang="en-US" altLang="zh-TW" b="1" dirty="0">
                <a:effectLst/>
              </a:rPr>
              <a:t>| </a:t>
            </a:r>
            <a:r>
              <a:rPr lang="zh-TW" altLang="en-US" b="1" dirty="0">
                <a:effectLst/>
              </a:rPr>
              <a:t>超過</a:t>
            </a:r>
            <a:r>
              <a:rPr lang="en-US" altLang="zh-TW" b="1" dirty="0">
                <a:effectLst/>
              </a:rPr>
              <a:t>50%</a:t>
            </a:r>
            <a:r>
              <a:rPr lang="zh-TW" altLang="en-US" b="1" dirty="0">
                <a:effectLst/>
              </a:rPr>
              <a:t>的人選錯了轉職職位</a:t>
            </a:r>
            <a:r>
              <a:rPr lang="en-US" altLang="zh-TW" b="1" dirty="0">
                <a:effectLst/>
              </a:rPr>
              <a:t>?</a:t>
            </a:r>
          </a:p>
          <a:p>
            <a:r>
              <a:rPr lang="en-US" altLang="zh-TW" dirty="0">
                <a:hlinkClick r:id="rId3"/>
              </a:rPr>
              <a:t>https://www.youtube.com/watch?v=sUVX2NqOOEg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34680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美國的職業評比排名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925144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3200" dirty="0"/>
              <a:t>前十名職業</a:t>
            </a:r>
            <a:r>
              <a:rPr lang="zh-CN" altLang="en-US" sz="3200" dirty="0"/>
              <a:t>（</a:t>
            </a:r>
            <a:r>
              <a:rPr lang="zh-CN" altLang="en-US" sz="3200" dirty="0">
                <a:solidFill>
                  <a:srgbClr val="C00000"/>
                </a:solidFill>
              </a:rPr>
              <a:t>與數學</a:t>
            </a:r>
            <a:r>
              <a:rPr lang="en-US" altLang="zh-CN" sz="3200" dirty="0">
                <a:solidFill>
                  <a:srgbClr val="C00000"/>
                </a:solidFill>
              </a:rPr>
              <a:t>/</a:t>
            </a:r>
            <a:r>
              <a:rPr lang="zh-CN" altLang="en-US" sz="3200" dirty="0">
                <a:solidFill>
                  <a:srgbClr val="C00000"/>
                </a:solidFill>
              </a:rPr>
              <a:t>數據處理有關的有</a:t>
            </a:r>
            <a:r>
              <a:rPr lang="en-US" altLang="zh-CN" sz="3200" dirty="0">
                <a:solidFill>
                  <a:srgbClr val="C00000"/>
                </a:solidFill>
              </a:rPr>
              <a:t>5</a:t>
            </a:r>
            <a:r>
              <a:rPr lang="zh-CN" altLang="en-US" sz="3200" dirty="0"/>
              <a:t>個）</a:t>
            </a:r>
            <a:endParaRPr lang="zh-TW" altLang="en-US" sz="3200" dirty="0"/>
          </a:p>
          <a:p>
            <a:pPr lvl="1"/>
            <a:r>
              <a:rPr lang="en-US" altLang="zh-TW" sz="2800" dirty="0"/>
              <a:t>1. </a:t>
            </a:r>
            <a:r>
              <a:rPr lang="zh-TW" altLang="en-US" sz="2800" dirty="0">
                <a:solidFill>
                  <a:srgbClr val="C00000"/>
                </a:solidFill>
              </a:rPr>
              <a:t>數學家</a:t>
            </a:r>
            <a:r>
              <a:rPr lang="zh-TW" altLang="en-US" sz="2800" dirty="0"/>
              <a:t> </a:t>
            </a:r>
            <a:r>
              <a:rPr lang="en-US" altLang="zh-TW" sz="2800" dirty="0"/>
              <a:t>(Mathematician)</a:t>
            </a:r>
          </a:p>
          <a:p>
            <a:pPr lvl="1"/>
            <a:r>
              <a:rPr lang="en-US" altLang="zh-TW" sz="2800" dirty="0"/>
              <a:t>2. </a:t>
            </a:r>
            <a:r>
              <a:rPr lang="zh-TW" altLang="en-US" sz="2800" dirty="0">
                <a:solidFill>
                  <a:srgbClr val="C00000"/>
                </a:solidFill>
              </a:rPr>
              <a:t>保險統計師 </a:t>
            </a:r>
            <a:r>
              <a:rPr lang="en-US" altLang="zh-TW" sz="2800" dirty="0"/>
              <a:t>(Actuary)</a:t>
            </a:r>
          </a:p>
          <a:p>
            <a:pPr lvl="1"/>
            <a:r>
              <a:rPr lang="en-US" altLang="zh-TW" sz="2800" dirty="0"/>
              <a:t>3. </a:t>
            </a:r>
            <a:r>
              <a:rPr lang="zh-TW" altLang="en-US" sz="2800" dirty="0">
                <a:solidFill>
                  <a:srgbClr val="C00000"/>
                </a:solidFill>
              </a:rPr>
              <a:t>統計學家 </a:t>
            </a:r>
            <a:r>
              <a:rPr lang="en-US" altLang="zh-TW" sz="2800" dirty="0"/>
              <a:t>(Statistician)</a:t>
            </a:r>
          </a:p>
          <a:p>
            <a:pPr lvl="1"/>
            <a:r>
              <a:rPr lang="en-US" altLang="zh-TW" sz="2800" dirty="0"/>
              <a:t>4. </a:t>
            </a:r>
            <a:r>
              <a:rPr lang="zh-TW" altLang="en-US" sz="2800" dirty="0"/>
              <a:t>生物學家 </a:t>
            </a:r>
            <a:r>
              <a:rPr lang="en-US" altLang="zh-TW" sz="2800" dirty="0"/>
              <a:t>(Biologist)</a:t>
            </a:r>
          </a:p>
          <a:p>
            <a:pPr lvl="1"/>
            <a:r>
              <a:rPr lang="en-US" altLang="zh-TW" sz="2800" dirty="0"/>
              <a:t>5. </a:t>
            </a:r>
            <a:r>
              <a:rPr lang="zh-TW" altLang="en-US" sz="2800" dirty="0">
                <a:solidFill>
                  <a:srgbClr val="C00000"/>
                </a:solidFill>
              </a:rPr>
              <a:t>軟體工程師 </a:t>
            </a:r>
            <a:r>
              <a:rPr lang="en-US" altLang="zh-TW" sz="2800" dirty="0"/>
              <a:t>(Software engineer)</a:t>
            </a:r>
          </a:p>
          <a:p>
            <a:pPr lvl="1"/>
            <a:r>
              <a:rPr lang="en-US" altLang="zh-TW" sz="2800" dirty="0"/>
              <a:t>6. </a:t>
            </a:r>
            <a:r>
              <a:rPr lang="zh-TW" altLang="en-US" sz="2800" dirty="0">
                <a:solidFill>
                  <a:srgbClr val="C00000"/>
                </a:solidFill>
              </a:rPr>
              <a:t>電腦</a:t>
            </a:r>
            <a:r>
              <a:rPr lang="zh-CN" altLang="en-US" sz="2800" dirty="0">
                <a:solidFill>
                  <a:srgbClr val="C00000"/>
                </a:solidFill>
              </a:rPr>
              <a:t>資訊相關</a:t>
            </a:r>
            <a:r>
              <a:rPr lang="zh-TW" altLang="en-US" sz="2800" dirty="0">
                <a:solidFill>
                  <a:srgbClr val="C00000"/>
                </a:solidFill>
              </a:rPr>
              <a:t>分析師 </a:t>
            </a:r>
            <a:r>
              <a:rPr lang="en-US" altLang="zh-TW" sz="2800" dirty="0"/>
              <a:t>(Computer systems analyst)</a:t>
            </a:r>
          </a:p>
          <a:p>
            <a:pPr lvl="1"/>
            <a:r>
              <a:rPr lang="en-US" altLang="zh-TW" sz="2800" dirty="0"/>
              <a:t>7. </a:t>
            </a:r>
            <a:r>
              <a:rPr lang="zh-TW" altLang="en-US" sz="2800" dirty="0"/>
              <a:t>歷史學家 </a:t>
            </a:r>
            <a:r>
              <a:rPr lang="en-US" altLang="zh-TW" sz="2800" dirty="0"/>
              <a:t>(Historian)</a:t>
            </a:r>
          </a:p>
          <a:p>
            <a:pPr lvl="1"/>
            <a:r>
              <a:rPr lang="en-US" altLang="zh-TW" sz="2800" dirty="0"/>
              <a:t>8. </a:t>
            </a:r>
            <a:r>
              <a:rPr lang="zh-TW" altLang="en-US" sz="2800" dirty="0"/>
              <a:t>社會學家 </a:t>
            </a:r>
            <a:r>
              <a:rPr lang="en-US" altLang="zh-TW" sz="2800" dirty="0"/>
              <a:t>(Sociologist)</a:t>
            </a:r>
          </a:p>
          <a:p>
            <a:pPr lvl="1"/>
            <a:r>
              <a:rPr lang="en-US" altLang="zh-TW" sz="2800" dirty="0"/>
              <a:t>9. </a:t>
            </a:r>
            <a:r>
              <a:rPr lang="zh-TW" altLang="en-US" sz="2800" dirty="0"/>
              <a:t>工業設計師 </a:t>
            </a:r>
            <a:r>
              <a:rPr lang="en-US" altLang="zh-TW" sz="2800" dirty="0"/>
              <a:t>(Industrial designer)</a:t>
            </a:r>
          </a:p>
          <a:p>
            <a:pPr lvl="1"/>
            <a:r>
              <a:rPr lang="en-US" altLang="zh-TW" sz="2800" dirty="0"/>
              <a:t>10. </a:t>
            </a:r>
            <a:r>
              <a:rPr lang="zh-TW" altLang="en-US" sz="2800" dirty="0"/>
              <a:t>會計師 </a:t>
            </a:r>
            <a:r>
              <a:rPr lang="en-US" altLang="zh-TW" sz="2800" dirty="0"/>
              <a:t>(Accountant)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37621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美國的職業評比排名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257800"/>
          </a:xfrm>
        </p:spPr>
        <p:txBody>
          <a:bodyPr>
            <a:normAutofit/>
          </a:bodyPr>
          <a:lstStyle/>
          <a:p>
            <a:r>
              <a:rPr lang="zh-TW" altLang="en-US" dirty="0"/>
              <a:t>後十名職業</a:t>
            </a:r>
          </a:p>
          <a:p>
            <a:pPr lvl="1"/>
            <a:r>
              <a:rPr lang="en-US" altLang="zh-TW" dirty="0"/>
              <a:t>200. </a:t>
            </a:r>
            <a:r>
              <a:rPr lang="zh-TW" altLang="en-US" dirty="0"/>
              <a:t>伐木工 </a:t>
            </a:r>
            <a:r>
              <a:rPr lang="en-US" altLang="zh-TW" dirty="0"/>
              <a:t>(Lumberjack)</a:t>
            </a:r>
          </a:p>
          <a:p>
            <a:pPr lvl="1"/>
            <a:r>
              <a:rPr lang="en-US" altLang="zh-TW" dirty="0"/>
              <a:t>199. </a:t>
            </a:r>
            <a:r>
              <a:rPr lang="zh-TW" altLang="en-US" dirty="0"/>
              <a:t>酪農 </a:t>
            </a:r>
            <a:r>
              <a:rPr lang="en-US" altLang="zh-TW" dirty="0"/>
              <a:t>(Dairy farmer)</a:t>
            </a:r>
          </a:p>
          <a:p>
            <a:pPr lvl="1"/>
            <a:r>
              <a:rPr lang="en-US" altLang="zh-TW" dirty="0"/>
              <a:t>198. </a:t>
            </a:r>
            <a:r>
              <a:rPr lang="zh-TW" altLang="en-US" dirty="0"/>
              <a:t>計程車司機 </a:t>
            </a:r>
            <a:r>
              <a:rPr lang="en-US" altLang="zh-TW" dirty="0"/>
              <a:t>(Taxi driver)</a:t>
            </a:r>
          </a:p>
          <a:p>
            <a:pPr lvl="1"/>
            <a:r>
              <a:rPr lang="en-US" altLang="zh-TW" dirty="0"/>
              <a:t>197. </a:t>
            </a:r>
            <a:r>
              <a:rPr lang="zh-TW" altLang="en-US" dirty="0"/>
              <a:t>船員 </a:t>
            </a:r>
            <a:r>
              <a:rPr lang="en-US" altLang="zh-TW" dirty="0"/>
              <a:t>(Seaman)</a:t>
            </a:r>
          </a:p>
          <a:p>
            <a:pPr lvl="1"/>
            <a:r>
              <a:rPr lang="en-US" altLang="zh-TW" dirty="0"/>
              <a:t>196. </a:t>
            </a:r>
            <a:r>
              <a:rPr lang="zh-TW" altLang="en-US" dirty="0"/>
              <a:t>屋頂工 </a:t>
            </a:r>
            <a:r>
              <a:rPr lang="en-US" altLang="zh-TW" dirty="0"/>
              <a:t>(Roofer)</a:t>
            </a:r>
          </a:p>
          <a:p>
            <a:pPr lvl="1"/>
            <a:r>
              <a:rPr lang="en-US" altLang="zh-TW" dirty="0"/>
              <a:t>195. </a:t>
            </a:r>
            <a:r>
              <a:rPr lang="zh-TW" altLang="en-US" dirty="0"/>
              <a:t>清潔隊員 </a:t>
            </a:r>
            <a:r>
              <a:rPr lang="en-US" altLang="zh-TW" dirty="0"/>
              <a:t>(Garbage collector)</a:t>
            </a:r>
          </a:p>
          <a:p>
            <a:pPr lvl="1"/>
            <a:r>
              <a:rPr lang="en-US" altLang="zh-TW" dirty="0"/>
              <a:t>194. </a:t>
            </a:r>
            <a:r>
              <a:rPr lang="zh-TW" altLang="en-US" dirty="0"/>
              <a:t>銲工 </a:t>
            </a:r>
            <a:r>
              <a:rPr lang="en-US" altLang="zh-TW" dirty="0"/>
              <a:t>(Welder)</a:t>
            </a:r>
          </a:p>
          <a:p>
            <a:pPr lvl="1"/>
            <a:r>
              <a:rPr lang="en-US" altLang="zh-TW" dirty="0"/>
              <a:t>193. </a:t>
            </a:r>
            <a:r>
              <a:rPr lang="zh-TW" altLang="en-US" dirty="0"/>
              <a:t>碼頭工 </a:t>
            </a:r>
            <a:r>
              <a:rPr lang="en-US" altLang="zh-TW" dirty="0"/>
              <a:t>(Roustabout)</a:t>
            </a:r>
          </a:p>
          <a:p>
            <a:pPr lvl="1"/>
            <a:r>
              <a:rPr lang="en-US" altLang="zh-TW" dirty="0"/>
              <a:t>192. </a:t>
            </a:r>
            <a:r>
              <a:rPr lang="zh-TW" altLang="en-US" dirty="0"/>
              <a:t>鋼架工 </a:t>
            </a:r>
            <a:r>
              <a:rPr lang="en-US" altLang="zh-TW" dirty="0"/>
              <a:t>(Ironworker)</a:t>
            </a:r>
          </a:p>
          <a:p>
            <a:pPr lvl="1"/>
            <a:r>
              <a:rPr lang="en-US" altLang="zh-TW" dirty="0"/>
              <a:t>191. </a:t>
            </a:r>
            <a:r>
              <a:rPr lang="zh-TW" altLang="en-US" dirty="0"/>
              <a:t>建築工 </a:t>
            </a:r>
            <a:r>
              <a:rPr lang="en-US" altLang="zh-TW" dirty="0"/>
              <a:t>(Construction worker)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41658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552" y="1268760"/>
            <a:ext cx="8136904" cy="36004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商業數據分析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所使用的關鍵技術</a:t>
            </a:r>
            <a:endParaRPr lang="zh-TW" altLang="en-US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59831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（</a:t>
            </a:r>
            <a:r>
              <a:rPr lang="en-US" altLang="zh-CN" sz="4000" dirty="0"/>
              <a:t>1</a:t>
            </a:r>
            <a:r>
              <a:rPr lang="zh-TW" altLang="en-US" sz="4000" dirty="0"/>
              <a:t>）</a:t>
            </a:r>
            <a:r>
              <a:rPr lang="en-US" altLang="zh-TW" sz="4000" dirty="0"/>
              <a:t>SQL</a:t>
            </a:r>
            <a:r>
              <a:rPr lang="zh-CN" altLang="en-US" sz="4000" dirty="0"/>
              <a:t>資料庫，</a:t>
            </a:r>
            <a:r>
              <a:rPr lang="en-US" altLang="zh-CN" sz="4000" dirty="0"/>
              <a:t>SQL</a:t>
            </a:r>
            <a:r>
              <a:rPr lang="zh-TW" altLang="en-US" sz="4000" dirty="0"/>
              <a:t>語法</a:t>
            </a:r>
          </a:p>
          <a:p>
            <a:endParaRPr lang="zh-TW" altLang="en-US" sz="4000" dirty="0"/>
          </a:p>
          <a:p>
            <a:r>
              <a:rPr lang="zh-CN" altLang="en-US" sz="4000" dirty="0"/>
              <a:t>（</a:t>
            </a:r>
            <a:r>
              <a:rPr lang="en-US" altLang="zh-CN" sz="4000" dirty="0"/>
              <a:t>2</a:t>
            </a:r>
            <a:r>
              <a:rPr lang="zh-CN" altLang="en-US" sz="4000" dirty="0"/>
              <a:t>）</a:t>
            </a:r>
            <a:r>
              <a:rPr lang="en-US" altLang="zh-TW" sz="4000" dirty="0"/>
              <a:t>python</a:t>
            </a:r>
            <a:r>
              <a:rPr lang="zh-TW" altLang="en-US" sz="4000" dirty="0"/>
              <a:t>程式 </a:t>
            </a:r>
            <a:r>
              <a:rPr lang="en-US" altLang="zh-TW" sz="4000" dirty="0"/>
              <a:t>==》 pandas</a:t>
            </a:r>
            <a:endParaRPr lang="zh-TW" altLang="en-US" sz="4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800" b="1" dirty="0"/>
              <a:t>商業數據</a:t>
            </a:r>
            <a:r>
              <a:rPr lang="zh-CN" altLang="en-US" sz="4800" b="1" dirty="0"/>
              <a:t>分析</a:t>
            </a:r>
            <a:r>
              <a:rPr lang="zh-TW" altLang="en-US" sz="4800" b="1" dirty="0"/>
              <a:t>的</a:t>
            </a:r>
            <a:r>
              <a:rPr lang="en-US" altLang="zh-TW" sz="4800" b="1" dirty="0"/>
              <a:t>2</a:t>
            </a:r>
            <a:r>
              <a:rPr lang="zh-TW" altLang="en-US" sz="4800" b="1" dirty="0"/>
              <a:t>種主要技術：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7432972-23F2-4E94-905D-8864FFBC9E17}"/>
              </a:ext>
            </a:extLst>
          </p:cNvPr>
          <p:cNvGrpSpPr/>
          <p:nvPr/>
        </p:nvGrpSpPr>
        <p:grpSpPr>
          <a:xfrm>
            <a:off x="3203848" y="4816751"/>
            <a:ext cx="1080120" cy="882098"/>
            <a:chOff x="3131840" y="4725144"/>
            <a:chExt cx="1080120" cy="882098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4E238B05-AD52-464A-B04B-3B243A07C632}"/>
                </a:ext>
              </a:extLst>
            </p:cNvPr>
            <p:cNvCxnSpPr/>
            <p:nvPr/>
          </p:nvCxnSpPr>
          <p:spPr>
            <a:xfrm flipH="1">
              <a:off x="3131840" y="4725144"/>
              <a:ext cx="1080120" cy="864096"/>
            </a:xfrm>
            <a:prstGeom prst="line">
              <a:avLst/>
            </a:prstGeom>
            <a:ln w="174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9814D458-E590-451D-8DB1-6B821F23F7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9264" y="4725144"/>
              <a:ext cx="992696" cy="882098"/>
            </a:xfrm>
            <a:prstGeom prst="line">
              <a:avLst/>
            </a:prstGeom>
            <a:ln w="174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29105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568952" cy="3888432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如何學好商業數據分析？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en-US" altLang="zh-CN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種路徑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2712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資訊科系</a:t>
            </a:r>
            <a:r>
              <a:rPr lang="zh-TW" altLang="en-US" sz="4000" b="1" dirty="0"/>
              <a:t>的方式：</a:t>
            </a:r>
            <a:endParaRPr lang="en-US" altLang="zh-TW" sz="4000" b="1" dirty="0"/>
          </a:p>
          <a:p>
            <a:pPr lvl="1"/>
            <a:r>
              <a:rPr lang="zh-TW" altLang="en-US" sz="3600" b="1" dirty="0"/>
              <a:t>學很多技術</a:t>
            </a:r>
            <a:r>
              <a:rPr lang="zh-CN" altLang="en-US" sz="3600" b="1" dirty="0"/>
              <a:t>模組</a:t>
            </a:r>
            <a:r>
              <a:rPr lang="zh-TW" altLang="en-US" sz="3600" b="1" dirty="0"/>
              <a:t>，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程式碼多，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學的多，</a:t>
            </a:r>
            <a:r>
              <a:rPr lang="zh-CN" altLang="en-US" sz="3600" b="1" dirty="0"/>
              <a:t>學的雜，</a:t>
            </a:r>
            <a:r>
              <a:rPr lang="zh-TW" altLang="en-US" sz="3600" b="1" dirty="0"/>
              <a:t>不專</a:t>
            </a:r>
            <a:r>
              <a:rPr lang="zh-CN" altLang="en-US" sz="3600" b="1" dirty="0"/>
              <a:t>一</a:t>
            </a:r>
            <a:endParaRPr lang="en-US" altLang="zh-CN" sz="3600" b="1" dirty="0"/>
          </a:p>
          <a:p>
            <a:endParaRPr lang="zh-TW" altLang="en-US" sz="4000" dirty="0"/>
          </a:p>
          <a:p>
            <a:r>
              <a:rPr lang="zh-TW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精簡方式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TW" altLang="en-US" sz="3600" b="1" dirty="0">
                <a:solidFill>
                  <a:srgbClr val="7030A0"/>
                </a:solidFill>
              </a:rPr>
              <a:t>專精</a:t>
            </a:r>
            <a:r>
              <a:rPr lang="en-US" altLang="zh-TW" sz="3600" b="1" dirty="0">
                <a:solidFill>
                  <a:srgbClr val="7030A0"/>
                </a:solidFill>
              </a:rPr>
              <a:t>pandas</a:t>
            </a:r>
            <a:r>
              <a:rPr lang="zh-CN" altLang="en-US" sz="3600" b="1" dirty="0">
                <a:solidFill>
                  <a:srgbClr val="7030A0"/>
                </a:solidFill>
              </a:rPr>
              <a:t>模組</a:t>
            </a:r>
            <a:endParaRPr lang="en-US" altLang="zh-TW" sz="3600" b="1" dirty="0">
              <a:solidFill>
                <a:srgbClr val="7030A0"/>
              </a:solidFill>
            </a:endParaRPr>
          </a:p>
          <a:p>
            <a:pPr lvl="1"/>
            <a:r>
              <a:rPr lang="zh-CN" altLang="en-US" sz="3600" b="1" dirty="0"/>
              <a:t>特點：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～</a:t>
            </a:r>
            <a:r>
              <a:rPr lang="en-US" altLang="zh-CN" sz="3600" b="1" dirty="0"/>
              <a:t>2</a:t>
            </a:r>
            <a:r>
              <a:rPr lang="zh-TW" altLang="en-US" sz="3600" b="1" dirty="0"/>
              <a:t>行程式就分析完</a:t>
            </a:r>
            <a:r>
              <a:rPr lang="zh-CN" altLang="en-US" sz="3600" b="1" dirty="0"/>
              <a:t>（很像</a:t>
            </a:r>
            <a:r>
              <a:rPr lang="en-US" altLang="zh-CN" sz="3600" b="1" dirty="0"/>
              <a:t>SQL</a:t>
            </a:r>
            <a:r>
              <a:rPr lang="zh-CN" altLang="en-US" sz="3600" b="1" dirty="0"/>
              <a:t>語法）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程式碼少，</a:t>
            </a:r>
            <a:r>
              <a:rPr lang="zh-CN" altLang="en-US" sz="3600" b="1" dirty="0"/>
              <a:t>可以處理任何數據的分析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適合</a:t>
            </a:r>
            <a:r>
              <a:rPr lang="en-US" altLang="zh-CN" sz="3600" b="1" dirty="0"/>
              <a:t>『</a:t>
            </a:r>
            <a:r>
              <a:rPr lang="zh-TW" altLang="en-US" sz="3600" b="1" dirty="0"/>
              <a:t>非資訊科系</a:t>
            </a:r>
            <a:r>
              <a:rPr lang="en-US" altLang="zh-CN" sz="3600" b="1" dirty="0"/>
              <a:t>』</a:t>
            </a:r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</a:t>
            </a:r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分析數據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9BC391-F77E-4D70-8A67-5C6252F66503}"/>
              </a:ext>
            </a:extLst>
          </p:cNvPr>
          <p:cNvSpPr/>
          <p:nvPr/>
        </p:nvSpPr>
        <p:spPr>
          <a:xfrm>
            <a:off x="23486" y="3455568"/>
            <a:ext cx="8989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arial" panose="020B0604020202020204" pitchFamily="34" charset="0"/>
              </a:rPr>
              <a:t>✓</a:t>
            </a:r>
            <a:endParaRPr lang="zh-TW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5393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088" y="2132856"/>
            <a:ext cx="8208912" cy="2592288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如何學好商業數據分析？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教科書</a:t>
            </a:r>
            <a:r>
              <a:rPr lang="en-US" altLang="zh-CN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91423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資訊科系</a:t>
            </a:r>
            <a:r>
              <a:rPr lang="zh-TW" altLang="en-US" sz="4000" b="1" dirty="0"/>
              <a:t>的方式：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教科書：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大數據特訓班：資料自動化收集、整理、清洗、儲存、分析與應用實戰</a:t>
            </a:r>
          </a:p>
          <a:p>
            <a:pPr lvl="1"/>
            <a:r>
              <a:rPr lang="en-US" altLang="zh-CN" sz="3600" b="1" dirty="0">
                <a:hlinkClick r:id="rId2"/>
              </a:rPr>
              <a:t>https://www.books.com.tw/products/0010859289?sloc=main</a:t>
            </a:r>
            <a:endParaRPr lang="en-US" altLang="zh-CN" sz="3600" b="1" dirty="0"/>
          </a:p>
          <a:p>
            <a:pPr marL="0" indent="0">
              <a:buNone/>
            </a:pPr>
            <a:endParaRPr lang="zh-TW" altLang="en-US" sz="4000" dirty="0"/>
          </a:p>
          <a:p>
            <a:r>
              <a:rPr lang="zh-TW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TW" altLang="en-US" sz="4000" b="1" dirty="0"/>
              <a:t>）</a:t>
            </a:r>
            <a:r>
              <a:rPr lang="zh-CN" altLang="en-US" sz="4000" b="1" dirty="0">
                <a:solidFill>
                  <a:srgbClr val="C00000"/>
                </a:solidFill>
              </a:rPr>
              <a:t>專精</a:t>
            </a:r>
            <a:r>
              <a:rPr lang="en-US" altLang="zh-CN" sz="4000" b="1" dirty="0">
                <a:solidFill>
                  <a:srgbClr val="C00000"/>
                </a:solidFill>
              </a:rPr>
              <a:t>pandas</a:t>
            </a:r>
            <a:r>
              <a:rPr lang="zh-TW" altLang="en-US" sz="4000" b="1" dirty="0">
                <a:solidFill>
                  <a:srgbClr val="C00000"/>
                </a:solidFill>
              </a:rPr>
              <a:t>方式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教科書：</a:t>
            </a:r>
            <a:r>
              <a:rPr lang="zh-TW" altLang="en-US" sz="3600" b="1" dirty="0"/>
              <a:t>一行指令學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－用</a:t>
            </a:r>
            <a:r>
              <a:rPr lang="en-US" altLang="zh-TW" sz="3600" b="1" dirty="0"/>
              <a:t>Pandas</a:t>
            </a:r>
            <a:r>
              <a:rPr lang="zh-TW" altLang="en-US" sz="3600" b="1" dirty="0"/>
              <a:t>掌握商務大數據分析</a:t>
            </a:r>
          </a:p>
          <a:p>
            <a:pPr lvl="1"/>
            <a:r>
              <a:rPr lang="en-US" altLang="zh-TW" sz="3600" b="1" dirty="0">
                <a:hlinkClick r:id="rId3"/>
              </a:rPr>
              <a:t>https://www.books.com.tw/products/0010921275?loc=M_br_r0vq68ygz_D_2aabd0_B_1</a:t>
            </a:r>
            <a:endParaRPr lang="en-US" altLang="zh-TW" sz="3600" b="1" dirty="0"/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分析數據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AA1F4B-3BA1-4BAC-AE67-951290CD3A11}"/>
              </a:ext>
            </a:extLst>
          </p:cNvPr>
          <p:cNvSpPr/>
          <p:nvPr/>
        </p:nvSpPr>
        <p:spPr>
          <a:xfrm>
            <a:off x="23486" y="3455568"/>
            <a:ext cx="8989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arial" panose="020B0604020202020204" pitchFamily="34" charset="0"/>
              </a:rPr>
              <a:t>✓</a:t>
            </a:r>
            <a:endParaRPr lang="zh-TW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6487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CN" altLang="en-US" sz="4000" b="1" dirty="0"/>
              <a:t>進階書籍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參考書：</a:t>
            </a:r>
            <a:r>
              <a:rPr lang="zh-TW" altLang="en-US" sz="3600" b="1" dirty="0"/>
              <a:t> 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商業數據分析：零售和電子商務案例</a:t>
            </a:r>
          </a:p>
          <a:p>
            <a:pPr lvl="1"/>
            <a:r>
              <a:rPr lang="en-US" altLang="zh-TW" sz="3600" b="1" dirty="0">
                <a:hlinkClick r:id="rId2"/>
              </a:rPr>
              <a:t>https://www.books.com.tw/products/CN11723157</a:t>
            </a:r>
            <a:endParaRPr lang="en-US" altLang="zh-TW" sz="3600" b="1" dirty="0"/>
          </a:p>
          <a:p>
            <a:pPr lvl="1"/>
            <a:endParaRPr lang="en-US" altLang="zh-TW" sz="3600" b="1" dirty="0"/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進階參考書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96715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40" y="2069604"/>
            <a:ext cx="7448872" cy="2718792"/>
          </a:xfrm>
        </p:spPr>
        <p:txBody>
          <a:bodyPr vert="horz" rtlCol="0">
            <a:normAutofit/>
          </a:bodyPr>
          <a:lstStyle/>
          <a:p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本課程所要教學的章節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與進階參考章節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12626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5257800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1</a:t>
            </a:r>
            <a:r>
              <a:rPr lang="zh-TW" altLang="en-US" sz="1800" b="1" dirty="0">
                <a:solidFill>
                  <a:srgbClr val="7030A0"/>
                </a:solidFill>
              </a:rPr>
              <a:t>章 數字與變數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2</a:t>
            </a:r>
            <a:r>
              <a:rPr lang="zh-TW" altLang="en-US" sz="1800" b="1" dirty="0">
                <a:solidFill>
                  <a:srgbClr val="7030A0"/>
                </a:solidFill>
              </a:rPr>
              <a:t>章 字串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章 串列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4</a:t>
            </a:r>
            <a:r>
              <a:rPr lang="zh-TW" altLang="en-US" sz="1800" b="1" dirty="0">
                <a:solidFill>
                  <a:srgbClr val="7030A0"/>
                </a:solidFill>
              </a:rPr>
              <a:t>章 迴圈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5</a:t>
            </a:r>
            <a:r>
              <a:rPr lang="zh-TW" altLang="en-US" sz="1800" b="1" dirty="0">
                <a:solidFill>
                  <a:srgbClr val="7030A0"/>
                </a:solidFill>
              </a:rPr>
              <a:t>章 字典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6</a:t>
            </a:r>
            <a:r>
              <a:rPr lang="zh-TW" altLang="en-US" sz="1800" b="1" dirty="0">
                <a:solidFill>
                  <a:srgbClr val="7030A0"/>
                </a:solidFill>
              </a:rPr>
              <a:t>章 邏輯判斷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7</a:t>
            </a:r>
            <a:r>
              <a:rPr lang="zh-TW" altLang="en-US" sz="1800" b="1" dirty="0">
                <a:solidFill>
                  <a:srgbClr val="7030A0"/>
                </a:solidFill>
              </a:rPr>
              <a:t>章 </a:t>
            </a:r>
            <a:r>
              <a:rPr lang="en-US" altLang="zh-TW" sz="1800" b="1" dirty="0">
                <a:solidFill>
                  <a:srgbClr val="7030A0"/>
                </a:solidFill>
              </a:rPr>
              <a:t>Python</a:t>
            </a:r>
            <a:r>
              <a:rPr lang="zh-TW" altLang="en-US" sz="1800" b="1" dirty="0">
                <a:solidFill>
                  <a:srgbClr val="7030A0"/>
                </a:solidFill>
              </a:rPr>
              <a:t>的套件與模組</a:t>
            </a:r>
          </a:p>
          <a:p>
            <a:endParaRPr lang="zh-TW" altLang="en-US" sz="1800" b="1" dirty="0"/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8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</a:t>
            </a:r>
            <a:r>
              <a:rPr lang="zh-TW" altLang="en-US" sz="1800" b="1" dirty="0">
                <a:solidFill>
                  <a:srgbClr val="C00000"/>
                </a:solidFill>
              </a:rPr>
              <a:t>套件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9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 </a:t>
            </a:r>
            <a:r>
              <a:rPr lang="en-US" altLang="zh-TW" sz="1800" b="1" dirty="0" err="1">
                <a:solidFill>
                  <a:srgbClr val="C00000"/>
                </a:solidFill>
              </a:rPr>
              <a:t>DataFrame</a:t>
            </a:r>
            <a:r>
              <a:rPr lang="zh-TW" altLang="en-US" sz="1800" b="1" dirty="0">
                <a:solidFill>
                  <a:srgbClr val="C00000"/>
                </a:solidFill>
              </a:rPr>
              <a:t>介紹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10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pandas── </a:t>
            </a:r>
            <a:r>
              <a:rPr lang="zh-TW" altLang="en-US" sz="1800" b="1" dirty="0">
                <a:solidFill>
                  <a:srgbClr val="C00000"/>
                </a:solidFill>
              </a:rPr>
              <a:t>繪圖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11</a:t>
            </a:r>
            <a:r>
              <a:rPr lang="zh-TW" altLang="en-US" sz="1800" b="1" dirty="0">
                <a:solidFill>
                  <a:srgbClr val="C00000"/>
                </a:solidFill>
              </a:rPr>
              <a:t>章 多層級索引鍵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17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pandas──</a:t>
            </a:r>
            <a:r>
              <a:rPr lang="zh-TW" altLang="en-US" sz="1800" b="1" dirty="0">
                <a:solidFill>
                  <a:srgbClr val="C00000"/>
                </a:solidFill>
              </a:rPr>
              <a:t>字串處理</a:t>
            </a:r>
          </a:p>
          <a:p>
            <a:endParaRPr lang="en-US" altLang="zh-TW" sz="1800" b="1" dirty="0"/>
          </a:p>
          <a:p>
            <a:pPr lvl="1"/>
            <a:endParaRPr lang="zh-TW" altLang="en-US" sz="1800" b="1" dirty="0"/>
          </a:p>
          <a:p>
            <a:pPr lvl="1"/>
            <a:endParaRPr lang="en-US" altLang="zh-TW" sz="18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860032" y="1700808"/>
            <a:ext cx="4104456" cy="5257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第</a:t>
            </a:r>
            <a:r>
              <a:rPr lang="en-US" altLang="zh-CN" sz="1800" b="1" dirty="0"/>
              <a:t>12</a:t>
            </a:r>
            <a:r>
              <a:rPr lang="zh-CN" altLang="en-US" sz="1800" b="1" dirty="0"/>
              <a:t>章 鐵達尼號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13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系所生源分析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14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業務銷售分析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15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股市分析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問卷資料分析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18</a:t>
            </a:r>
            <a:r>
              <a:rPr lang="zh-CN" altLang="en-US" sz="1800" b="1" dirty="0"/>
              <a:t>章　</a:t>
            </a:r>
            <a:r>
              <a:rPr lang="en-US" altLang="zh-TW" sz="1800" b="1" dirty="0"/>
              <a:t>pandas</a:t>
            </a:r>
            <a:r>
              <a:rPr lang="zh-CN" altLang="en-US" sz="1800" b="1" dirty="0"/>
              <a:t>禪</a:t>
            </a:r>
          </a:p>
          <a:p>
            <a:endParaRPr lang="zh-CN" altLang="en-US" sz="1800" b="1" dirty="0"/>
          </a:p>
          <a:p>
            <a:pPr lvl="1"/>
            <a:endParaRPr lang="zh-CN" altLang="en-US" sz="1800" b="1" dirty="0"/>
          </a:p>
          <a:p>
            <a:pPr lvl="1"/>
            <a:endParaRPr lang="zh-CN" altLang="en-US" sz="1800" b="1" dirty="0"/>
          </a:p>
        </p:txBody>
      </p:sp>
      <p:sp>
        <p:nvSpPr>
          <p:cNvPr id="5" name="想法泡泡: 雲朵 4">
            <a:extLst>
              <a:ext uri="{FF2B5EF4-FFF2-40B4-BE49-F238E27FC236}">
                <a16:creationId xmlns:a16="http://schemas.microsoft.com/office/drawing/2014/main" id="{3AFA3563-A45F-47A3-AEE4-548A548AB166}"/>
              </a:ext>
            </a:extLst>
          </p:cNvPr>
          <p:cNvSpPr/>
          <p:nvPr/>
        </p:nvSpPr>
        <p:spPr>
          <a:xfrm>
            <a:off x="2915816" y="2636912"/>
            <a:ext cx="1584176" cy="1008112"/>
          </a:xfrm>
          <a:prstGeom prst="cloudCallout">
            <a:avLst>
              <a:gd name="adj1" fmla="val -121951"/>
              <a:gd name="adj2" fmla="val -1938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需要時再重點提醒</a:t>
            </a:r>
            <a:endParaRPr lang="zh-TW" altLang="en-US" dirty="0"/>
          </a:p>
        </p:txBody>
      </p:sp>
      <p:sp>
        <p:nvSpPr>
          <p:cNvPr id="6" name="想法泡泡: 雲朵 5">
            <a:extLst>
              <a:ext uri="{FF2B5EF4-FFF2-40B4-BE49-F238E27FC236}">
                <a16:creationId xmlns:a16="http://schemas.microsoft.com/office/drawing/2014/main" id="{2EF988ED-F79F-452A-ABF6-0E4060D5A28D}"/>
              </a:ext>
            </a:extLst>
          </p:cNvPr>
          <p:cNvSpPr/>
          <p:nvPr/>
        </p:nvSpPr>
        <p:spPr>
          <a:xfrm>
            <a:off x="3995936" y="5289004"/>
            <a:ext cx="1584176" cy="1008112"/>
          </a:xfrm>
          <a:prstGeom prst="cloudCallout">
            <a:avLst>
              <a:gd name="adj1" fmla="val -171334"/>
              <a:gd name="adj2" fmla="val 1084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上課主要核心</a:t>
            </a:r>
            <a:endParaRPr lang="zh-TW" altLang="en-US" dirty="0"/>
          </a:p>
        </p:txBody>
      </p:sp>
      <p:sp>
        <p:nvSpPr>
          <p:cNvPr id="7" name="想法泡泡: 雲朵 6">
            <a:extLst>
              <a:ext uri="{FF2B5EF4-FFF2-40B4-BE49-F238E27FC236}">
                <a16:creationId xmlns:a16="http://schemas.microsoft.com/office/drawing/2014/main" id="{C4489DE4-1E0C-4511-A271-4DEF387F7633}"/>
              </a:ext>
            </a:extLst>
          </p:cNvPr>
          <p:cNvSpPr/>
          <p:nvPr/>
        </p:nvSpPr>
        <p:spPr>
          <a:xfrm>
            <a:off x="7308304" y="4653136"/>
            <a:ext cx="1378496" cy="1008112"/>
          </a:xfrm>
          <a:prstGeom prst="cloudCallout">
            <a:avLst>
              <a:gd name="adj1" fmla="val -59634"/>
              <a:gd name="adj2" fmla="val -15292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作業，考試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90222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392488" cy="52578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chp11.</a:t>
            </a:r>
            <a:r>
              <a:rPr lang="zh-TW" altLang="en-US" sz="1800" b="1" dirty="0">
                <a:solidFill>
                  <a:srgbClr val="C00000"/>
                </a:solidFill>
              </a:rPr>
              <a:t>讀取各種資料庫檔案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chp11-1.noSQL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csv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chp11-2.noSQL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json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chp11-3.noSQL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xml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chp11-4.noSQL</a:t>
            </a:r>
            <a:r>
              <a:rPr lang="zh-TW" altLang="en-US" sz="1800" b="1" dirty="0">
                <a:solidFill>
                  <a:srgbClr val="7030A0"/>
                </a:solidFill>
              </a:rPr>
              <a:t>：字典</a:t>
            </a:r>
            <a:r>
              <a:rPr lang="en-US" altLang="zh-TW" sz="1800" b="1" dirty="0" err="1">
                <a:solidFill>
                  <a:srgbClr val="7030A0"/>
                </a:solidFill>
              </a:rPr>
              <a:t>dict</a:t>
            </a:r>
            <a:r>
              <a:rPr lang="en-US" altLang="zh-TW" sz="1800" b="1" dirty="0">
                <a:solidFill>
                  <a:srgbClr val="7030A0"/>
                </a:solidFill>
              </a:rPr>
              <a:t>,</a:t>
            </a:r>
            <a:r>
              <a:rPr lang="zh-TW" altLang="en-US" sz="1800" b="1" dirty="0">
                <a:solidFill>
                  <a:srgbClr val="7030A0"/>
                </a:solidFill>
              </a:rPr>
              <a:t>串列</a:t>
            </a:r>
            <a:r>
              <a:rPr lang="en-US" altLang="zh-TW" sz="1800" b="1" dirty="0">
                <a:solidFill>
                  <a:srgbClr val="7030A0"/>
                </a:solidFill>
              </a:rPr>
              <a:t>list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chp11-5.noSQL</a:t>
            </a:r>
            <a:r>
              <a:rPr lang="zh-TW" altLang="en-US" sz="1800" b="1" dirty="0">
                <a:solidFill>
                  <a:srgbClr val="7030A0"/>
                </a:solidFill>
              </a:rPr>
              <a:t>：資料集</a:t>
            </a:r>
            <a:r>
              <a:rPr lang="en-US" altLang="zh-TW" sz="1800" b="1" dirty="0">
                <a:solidFill>
                  <a:srgbClr val="7030A0"/>
                </a:solidFill>
              </a:rPr>
              <a:t>dataset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chp11-6.noSQL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SQLite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chp11-7.SQL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mySQL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chp11-8.noSQL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MongoDb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chp11-9.noSQL</a:t>
            </a:r>
            <a:r>
              <a:rPr lang="zh-TW" altLang="en-US" sz="1800" b="1" dirty="0">
                <a:solidFill>
                  <a:srgbClr val="7030A0"/>
                </a:solidFill>
              </a:rPr>
              <a:t>：網頁</a:t>
            </a:r>
          </a:p>
          <a:p>
            <a:pPr lvl="1"/>
            <a:endParaRPr lang="en-US" altLang="zh-TW" sz="18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老師補充資料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860032" y="1700808"/>
            <a:ext cx="4536504" cy="5257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 dirty="0">
                <a:solidFill>
                  <a:srgbClr val="C00000"/>
                </a:solidFill>
              </a:rPr>
              <a:t>chp12.</a:t>
            </a:r>
            <a:r>
              <a:rPr lang="zh-TW" altLang="en-US" sz="1800" b="1" dirty="0">
                <a:solidFill>
                  <a:srgbClr val="C00000"/>
                </a:solidFill>
              </a:rPr>
              <a:t>網路爬蟲：</a:t>
            </a:r>
            <a:r>
              <a:rPr lang="en-US" altLang="zh-TW" sz="1800" b="1" dirty="0">
                <a:solidFill>
                  <a:srgbClr val="C00000"/>
                </a:solidFill>
              </a:rPr>
              <a:t>web crawler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chp12-1.Pandas</a:t>
            </a:r>
            <a:r>
              <a:rPr lang="zh-TW" altLang="en-US" sz="1800" b="1" dirty="0">
                <a:solidFill>
                  <a:srgbClr val="7030A0"/>
                </a:solidFill>
              </a:rPr>
              <a:t>讀取網頁表格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chp12-2.</a:t>
            </a:r>
            <a:r>
              <a:rPr lang="zh-TW" altLang="en-US" sz="1800" b="1" dirty="0">
                <a:solidFill>
                  <a:srgbClr val="7030A0"/>
                </a:solidFill>
              </a:rPr>
              <a:t>讀取</a:t>
            </a:r>
            <a:r>
              <a:rPr lang="en-US" altLang="zh-TW" sz="1800" b="1" dirty="0">
                <a:solidFill>
                  <a:srgbClr val="7030A0"/>
                </a:solidFill>
              </a:rPr>
              <a:t>html</a:t>
            </a:r>
            <a:r>
              <a:rPr lang="zh-TW" altLang="en-US" sz="1800" b="1" dirty="0">
                <a:solidFill>
                  <a:srgbClr val="7030A0"/>
                </a:solidFill>
              </a:rPr>
              <a:t>網頁：</a:t>
            </a:r>
            <a:r>
              <a:rPr lang="en-US" altLang="zh-TW" sz="1800" b="1" dirty="0">
                <a:solidFill>
                  <a:srgbClr val="7030A0"/>
                </a:solidFill>
              </a:rPr>
              <a:t>Request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chp12-3.</a:t>
            </a:r>
            <a:r>
              <a:rPr lang="zh-TW" altLang="en-US" sz="1800" b="1" dirty="0">
                <a:solidFill>
                  <a:srgbClr val="7030A0"/>
                </a:solidFill>
              </a:rPr>
              <a:t>分析</a:t>
            </a:r>
            <a:r>
              <a:rPr lang="en-US" altLang="zh-TW" sz="1800" b="1" dirty="0">
                <a:solidFill>
                  <a:srgbClr val="7030A0"/>
                </a:solidFill>
              </a:rPr>
              <a:t>html</a:t>
            </a:r>
            <a:r>
              <a:rPr lang="zh-TW" altLang="en-US" sz="1800" b="1" dirty="0">
                <a:solidFill>
                  <a:srgbClr val="7030A0"/>
                </a:solidFill>
              </a:rPr>
              <a:t>標籤</a:t>
            </a:r>
            <a:r>
              <a:rPr lang="en-US" altLang="zh-TW" sz="1800" b="1" dirty="0">
                <a:solidFill>
                  <a:srgbClr val="7030A0"/>
                </a:solidFill>
              </a:rPr>
              <a:t>tag</a:t>
            </a:r>
            <a:r>
              <a:rPr lang="zh-TW" altLang="en-US" sz="1800" b="1" dirty="0">
                <a:solidFill>
                  <a:srgbClr val="7030A0"/>
                </a:solidFill>
              </a:rPr>
              <a:t>內容：</a:t>
            </a:r>
            <a:r>
              <a:rPr lang="en-US" altLang="zh-TW" sz="1800" b="1" dirty="0" err="1">
                <a:solidFill>
                  <a:srgbClr val="7030A0"/>
                </a:solidFill>
              </a:rPr>
              <a:t>BeautifulSoup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chp13.</a:t>
            </a:r>
            <a:r>
              <a:rPr lang="zh-TW" altLang="en-US" sz="1800" b="1" dirty="0">
                <a:solidFill>
                  <a:srgbClr val="C00000"/>
                </a:solidFill>
              </a:rPr>
              <a:t>需要寫</a:t>
            </a:r>
            <a:r>
              <a:rPr lang="en-US" altLang="zh-TW" sz="1800" b="1" dirty="0">
                <a:solidFill>
                  <a:srgbClr val="C00000"/>
                </a:solidFill>
              </a:rPr>
              <a:t>SQL</a:t>
            </a:r>
            <a:r>
              <a:rPr lang="zh-TW" altLang="en-US" sz="1800" b="1" dirty="0">
                <a:solidFill>
                  <a:srgbClr val="C00000"/>
                </a:solidFill>
              </a:rPr>
              <a:t>語法的連線</a:t>
            </a:r>
            <a:r>
              <a:rPr lang="en-US" altLang="zh-TW" sz="1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pymysql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--- SQL</a:t>
            </a:r>
            <a:r>
              <a:rPr lang="zh-TW" altLang="en-US" sz="1800" b="1" dirty="0">
                <a:solidFill>
                  <a:srgbClr val="7030A0"/>
                </a:solidFill>
              </a:rPr>
              <a:t>語法與</a:t>
            </a:r>
            <a:r>
              <a:rPr lang="en-US" altLang="zh-TW" sz="1800" b="1" dirty="0">
                <a:solidFill>
                  <a:srgbClr val="7030A0"/>
                </a:solidFill>
              </a:rPr>
              <a:t>Pandas</a:t>
            </a:r>
            <a:r>
              <a:rPr lang="zh-TW" altLang="en-US" sz="1800" b="1" dirty="0">
                <a:solidFill>
                  <a:srgbClr val="7030A0"/>
                </a:solidFill>
              </a:rPr>
              <a:t>的指令對照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endParaRPr lang="zh-TW" altLang="en-US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chp14.</a:t>
            </a:r>
            <a:r>
              <a:rPr lang="zh-TW" altLang="en-US" sz="1800" b="1" dirty="0">
                <a:solidFill>
                  <a:srgbClr val="C00000"/>
                </a:solidFill>
              </a:rPr>
              <a:t>不需要寫</a:t>
            </a:r>
            <a:r>
              <a:rPr lang="en-US" altLang="zh-TW" sz="1800" b="1" dirty="0">
                <a:solidFill>
                  <a:srgbClr val="C00000"/>
                </a:solidFill>
              </a:rPr>
              <a:t>SQL</a:t>
            </a:r>
            <a:r>
              <a:rPr lang="zh-TW" altLang="en-US" sz="1800" b="1" dirty="0">
                <a:solidFill>
                  <a:srgbClr val="C00000"/>
                </a:solidFill>
              </a:rPr>
              <a:t>語法的連線</a:t>
            </a:r>
            <a:r>
              <a:rPr lang="en-US" altLang="zh-TW" sz="1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TW" sz="1800" b="1" dirty="0" err="1">
                <a:solidFill>
                  <a:srgbClr val="C00000"/>
                </a:solidFill>
              </a:rPr>
              <a:t>sqlalchemy</a:t>
            </a:r>
            <a:endParaRPr lang="zh-TW" altLang="en-US" sz="1800" b="1" dirty="0">
              <a:solidFill>
                <a:srgbClr val="C00000"/>
              </a:solidFill>
            </a:endParaRPr>
          </a:p>
          <a:p>
            <a:endParaRPr lang="zh-CN" altLang="en-US" sz="1800" b="1" dirty="0"/>
          </a:p>
          <a:p>
            <a:pPr lvl="1"/>
            <a:endParaRPr lang="zh-CN" altLang="en-US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782201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04457" cy="51054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chp30.</a:t>
            </a:r>
            <a:r>
              <a:rPr lang="zh-TW" altLang="en-US" sz="1800" b="1" dirty="0">
                <a:solidFill>
                  <a:srgbClr val="7030A0"/>
                </a:solidFill>
              </a:rPr>
              <a:t>電商數據分析：淘寶服飾店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年數據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chp31.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市場分析：市場佔有率分析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chp32.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市場分析：市場趨勢分析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chp33.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市場分析：細分市場分析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chp34.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市場分析：消費者需求分析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chp35.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運營分析：店鋪數據化運營的</a:t>
            </a:r>
            <a:r>
              <a:rPr lang="en-US" altLang="zh-TW" sz="1800" b="1" dirty="0">
                <a:solidFill>
                  <a:srgbClr val="7030A0"/>
                </a:solidFill>
              </a:rPr>
              <a:t>SEO</a:t>
            </a:r>
            <a:r>
              <a:rPr lang="zh-TW" altLang="en-US" sz="1800" b="1" dirty="0">
                <a:solidFill>
                  <a:srgbClr val="7030A0"/>
                </a:solidFill>
              </a:rPr>
              <a:t>關鍵字詞根與統計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chp36.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運營分析：商品推廣方案分析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chp37.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運營分析：競品分析</a:t>
            </a:r>
            <a:r>
              <a:rPr lang="en-US" altLang="zh-TW" sz="1800" b="1" dirty="0">
                <a:solidFill>
                  <a:srgbClr val="7030A0"/>
                </a:solidFill>
              </a:rPr>
              <a:t>(</a:t>
            </a:r>
            <a:r>
              <a:rPr lang="zh-TW" altLang="en-US" sz="1800" b="1" dirty="0">
                <a:solidFill>
                  <a:srgbClr val="7030A0"/>
                </a:solidFill>
              </a:rPr>
              <a:t>追踪競爭對手的</a:t>
            </a:r>
            <a:r>
              <a:rPr lang="en-US" altLang="zh-TW" sz="1800" b="1" dirty="0">
                <a:solidFill>
                  <a:srgbClr val="7030A0"/>
                </a:solidFill>
              </a:rPr>
              <a:t>SKU</a:t>
            </a:r>
            <a:r>
              <a:rPr lang="zh-TW" altLang="en-US" sz="1800" b="1" dirty="0">
                <a:solidFill>
                  <a:srgbClr val="7030A0"/>
                </a:solidFill>
              </a:rPr>
              <a:t>庫存價格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進階課程，都是預測分析，演算法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283969" y="1417638"/>
            <a:ext cx="4536503" cy="5440362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>
                <a:solidFill>
                  <a:srgbClr val="7030A0"/>
                </a:solidFill>
              </a:rPr>
              <a:t>chp38.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基於關聯規則的產品推薦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chp39.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基於聚類演算法的商品推薦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chp40.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基於協同過濾演算法的產品推薦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chp41.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基於業務邏輯的預測演算法模型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chp42.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基於時序演算法預測庫存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chp43.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電商的庫存預測演算法建模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chp44.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用戶成單預測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chp45.</a:t>
            </a:r>
            <a:r>
              <a:rPr lang="zh-TW" altLang="en-US" sz="2000" b="1" dirty="0">
                <a:solidFill>
                  <a:srgbClr val="7030A0"/>
                </a:solidFill>
              </a:rPr>
              <a:t>用戶預測：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用戶流失預測</a:t>
            </a:r>
            <a:endParaRPr lang="zh-CN" altLang="en-US" sz="20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endParaRPr lang="zh-CN" altLang="en-US" sz="20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766566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916832"/>
            <a:ext cx="6400800" cy="17526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評分方式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45750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本學期的評分方式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>
            <a:norm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上課分數，作業分數：</a:t>
            </a:r>
            <a:endParaRPr lang="en-US" altLang="zh-CN" b="1" dirty="0"/>
          </a:p>
          <a:p>
            <a:pPr lvl="1"/>
            <a:r>
              <a:rPr lang="zh-CN" altLang="en-US" b="1" dirty="0"/>
              <a:t>上課來跟著老師做範例就有加分（使用</a:t>
            </a:r>
            <a:r>
              <a:rPr lang="en-US" altLang="zh-CN" b="1" dirty="0" err="1">
                <a:highlight>
                  <a:srgbClr val="FFFF00"/>
                </a:highlight>
              </a:rPr>
              <a:t>Zuvio</a:t>
            </a:r>
            <a:r>
              <a:rPr lang="zh-CN" altLang="en-US" b="1" dirty="0"/>
              <a:t>來加分）</a:t>
            </a:r>
            <a:endParaRPr lang="en-US" altLang="zh-CN" b="1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50%</a:t>
            </a:r>
          </a:p>
          <a:p>
            <a:pPr lvl="1"/>
            <a:r>
              <a:rPr lang="zh-CN" altLang="en-US" b="1" dirty="0"/>
              <a:t>做練習範例：作業（大多參考自課本範例）（</a:t>
            </a:r>
            <a:r>
              <a:rPr lang="en-US" altLang="zh-CN" b="1" dirty="0" err="1">
                <a:highlight>
                  <a:srgbClr val="FFFF00"/>
                </a:highlight>
              </a:rPr>
              <a:t>Zuvio</a:t>
            </a:r>
            <a:r>
              <a:rPr lang="zh-CN" altLang="en-US" b="1" dirty="0"/>
              <a:t>上傳）</a:t>
            </a:r>
            <a:endParaRPr lang="en-US" altLang="zh-CN" b="1" dirty="0"/>
          </a:p>
          <a:p>
            <a:pPr lvl="1"/>
            <a:r>
              <a:rPr lang="zh-CN" altLang="en-US" b="1" dirty="0"/>
              <a:t>作業是上課考試題庫來源，有寫作業，考試一定會</a:t>
            </a:r>
            <a:endParaRPr lang="en-US" altLang="zh-TW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期中考分數（</a:t>
            </a:r>
            <a:r>
              <a:rPr lang="en-US" altLang="zh-CN" b="1" dirty="0" err="1">
                <a:highlight>
                  <a:srgbClr val="FFFF00"/>
                </a:highlight>
              </a:rPr>
              <a:t>Zuvio</a:t>
            </a:r>
            <a:r>
              <a:rPr lang="zh-CN" altLang="en-US" b="1" dirty="0"/>
              <a:t>上傳，或</a:t>
            </a:r>
            <a:r>
              <a:rPr lang="en-US" altLang="zh-CN" b="1" dirty="0" err="1">
                <a:highlight>
                  <a:srgbClr val="FFFF00"/>
                </a:highlight>
              </a:rPr>
              <a:t>i</a:t>
            </a:r>
            <a:r>
              <a:rPr lang="zh-CN" altLang="en-US" b="1" dirty="0">
                <a:highlight>
                  <a:srgbClr val="FFFF00"/>
                </a:highlight>
              </a:rPr>
              <a:t>學園</a:t>
            </a:r>
            <a:r>
              <a:rPr lang="en-US" altLang="zh-CN" b="1" dirty="0">
                <a:highlight>
                  <a:srgbClr val="FFFF00"/>
                </a:highlight>
              </a:rPr>
              <a:t>PLUS</a:t>
            </a:r>
            <a:r>
              <a:rPr lang="zh-CN" altLang="en-US" b="1" dirty="0"/>
              <a:t>上傳）</a:t>
            </a:r>
            <a:endParaRPr lang="en-US" altLang="zh-CN" b="1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25%</a:t>
            </a:r>
          </a:p>
          <a:p>
            <a:r>
              <a:rPr lang="en-US" altLang="zh-TW" b="1" dirty="0"/>
              <a:t>3.</a:t>
            </a:r>
            <a:r>
              <a:rPr lang="zh-CN" altLang="en-US" b="1" dirty="0"/>
              <a:t>期末考分數（</a:t>
            </a:r>
            <a:r>
              <a:rPr lang="en-US" altLang="zh-CN" b="1" dirty="0" err="1">
                <a:highlight>
                  <a:srgbClr val="FFFF00"/>
                </a:highlight>
              </a:rPr>
              <a:t>Zuvio</a:t>
            </a:r>
            <a:r>
              <a:rPr lang="zh-CN" altLang="en-US" b="1" dirty="0"/>
              <a:t>上傳，或</a:t>
            </a:r>
            <a:r>
              <a:rPr lang="en-US" altLang="zh-CN" b="1" dirty="0" err="1">
                <a:highlight>
                  <a:srgbClr val="FFFF00"/>
                </a:highlight>
              </a:rPr>
              <a:t>i</a:t>
            </a:r>
            <a:r>
              <a:rPr lang="zh-CN" altLang="en-US" b="1" dirty="0">
                <a:highlight>
                  <a:srgbClr val="FFFF00"/>
                </a:highlight>
              </a:rPr>
              <a:t>學園</a:t>
            </a:r>
            <a:r>
              <a:rPr lang="en-US" altLang="zh-CN" b="1" dirty="0">
                <a:highlight>
                  <a:srgbClr val="FFFF00"/>
                </a:highlight>
              </a:rPr>
              <a:t>PLUS</a:t>
            </a:r>
            <a:r>
              <a:rPr lang="zh-CN" altLang="en-US" b="1" dirty="0"/>
              <a:t>上傳）</a:t>
            </a:r>
            <a:endParaRPr lang="en-US" altLang="zh-CN" b="1" dirty="0"/>
          </a:p>
          <a:p>
            <a:pPr lvl="1"/>
            <a:r>
              <a:rPr lang="zh-CN" altLang="en-US" b="1" dirty="0"/>
              <a:t>考作業練習過的範例，或課本指定範例</a:t>
            </a:r>
            <a:endParaRPr lang="en-US" altLang="zh-CN" b="1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9452409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869160"/>
          </a:xfrm>
        </p:spPr>
        <p:txBody>
          <a:bodyPr>
            <a:normAutofit/>
          </a:bodyPr>
          <a:lstStyle/>
          <a:p>
            <a:r>
              <a:rPr lang="zh-CN" altLang="en-US" sz="4000" b="1" dirty="0"/>
              <a:t>電子書（第一版）</a:t>
            </a:r>
            <a:endParaRPr lang="en-US" altLang="zh-CN" sz="4000" b="1" dirty="0"/>
          </a:p>
          <a:p>
            <a:r>
              <a:rPr lang="zh-CN" altLang="en-US" sz="4000" b="1" dirty="0"/>
              <a:t>紙本（第二版），書商聯絡人</a:t>
            </a:r>
            <a:endParaRPr lang="en-US" altLang="zh-CN" sz="4000" b="1" dirty="0"/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全華出版社，書商聯絡人：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黃文珍</a:t>
            </a:r>
            <a:r>
              <a:rPr lang="zh-CN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查詢：</a:t>
            </a:r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0958008962</a:t>
            </a:r>
            <a:endParaRPr lang="en-US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</p:spTree>
    <p:extLst>
      <p:ext uri="{BB962C8B-B14F-4D97-AF65-F5344CB8AC3E}">
        <p14:creationId xmlns:p14="http://schemas.microsoft.com/office/powerpoint/2010/main" val="17303211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952328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經營管理系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所規劃的資訊相關課程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5764858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6A1DD0C-FB1D-4160-B13A-4049011A491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200"/>
          <a:ext cx="8229600" cy="4401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783406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上學期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下學期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大一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網頁設計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程式設計</a:t>
                      </a:r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python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大二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SQL</a:t>
                      </a:r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</a:t>
                      </a:r>
                      <a:endParaRPr lang="en-US" altLang="zh-CN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Power BI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商用多媒體設計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35222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大三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網站流量分析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大數據分析</a:t>
                      </a:r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pandas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981333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大四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F663B3D-B6A5-452C-BFEA-830EA3A5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系上所規劃的</a:t>
            </a:r>
            <a:br>
              <a:rPr lang="en-US" altLang="zh-CN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資訊相關課程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37853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8435280" cy="5105401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effectLst/>
              </a:rPr>
              <a:t>資訊課程，包括</a:t>
            </a:r>
            <a:r>
              <a:rPr lang="en-US" altLang="zh-CN" sz="4400" b="1" dirty="0">
                <a:effectLst/>
              </a:rPr>
              <a:t>2</a:t>
            </a:r>
            <a:r>
              <a:rPr lang="zh-CN" altLang="en-US" sz="4400" b="1" dirty="0">
                <a:effectLst/>
              </a:rPr>
              <a:t>個系列單元：</a:t>
            </a:r>
            <a:endParaRPr lang="en-US" altLang="zh-CN" sz="4400" b="1" dirty="0">
              <a:effectLst/>
            </a:endParaRPr>
          </a:p>
          <a:p>
            <a:r>
              <a:rPr lang="zh-CN" altLang="en-US" sz="4400" b="1" dirty="0">
                <a:effectLst/>
              </a:rPr>
              <a:t>（</a:t>
            </a:r>
            <a:r>
              <a:rPr lang="en-US" altLang="zh-CN" sz="4400" b="1" dirty="0">
                <a:effectLst/>
              </a:rPr>
              <a:t>1</a:t>
            </a:r>
            <a:r>
              <a:rPr lang="zh-CN" altLang="en-US" sz="4400" b="1" dirty="0">
                <a:effectLst/>
              </a:rPr>
              <a:t>）</a:t>
            </a:r>
            <a:r>
              <a:rPr lang="zh-CN" altLang="en-US" sz="4400" b="1" dirty="0">
                <a:solidFill>
                  <a:srgbClr val="7030A0"/>
                </a:solidFill>
                <a:effectLst/>
              </a:rPr>
              <a:t>商業數據程式分析</a:t>
            </a:r>
            <a:endParaRPr lang="en-US" altLang="zh-CN" sz="44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en-US" altLang="zh-CN" sz="2000" b="1" dirty="0">
                <a:effectLst/>
              </a:rPr>
              <a:t>Python</a:t>
            </a:r>
            <a:r>
              <a:rPr lang="zh-CN" altLang="en-US" sz="2000" b="1" dirty="0">
                <a:effectLst/>
              </a:rPr>
              <a:t>程式設計</a:t>
            </a:r>
            <a:endParaRPr lang="en-US" altLang="zh-CN" sz="2000" b="1" dirty="0">
              <a:effectLst/>
            </a:endParaRPr>
          </a:p>
          <a:p>
            <a:pPr lvl="1"/>
            <a:r>
              <a:rPr lang="en-US" altLang="zh-CN" sz="2000" b="1" dirty="0">
                <a:effectLst/>
              </a:rPr>
              <a:t>SQL</a:t>
            </a:r>
            <a:r>
              <a:rPr lang="zh-CN" altLang="en-US" sz="2000" b="1" dirty="0">
                <a:effectLst/>
              </a:rPr>
              <a:t>資料庫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大數據分析</a:t>
            </a:r>
            <a:endParaRPr lang="en-US" altLang="zh-CN" sz="2000" b="1" dirty="0">
              <a:effectLst/>
            </a:endParaRPr>
          </a:p>
          <a:p>
            <a:pPr lvl="1"/>
            <a:r>
              <a:rPr lang="en-US" altLang="zh-CN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</a:t>
            </a:r>
            <a:endParaRPr lang="en-US" altLang="zh-CN" sz="2000" b="1" dirty="0">
              <a:effectLst/>
            </a:endParaRPr>
          </a:p>
          <a:p>
            <a:r>
              <a:rPr lang="zh-CN" altLang="en-US" sz="4400" b="1" dirty="0">
                <a:effectLst/>
              </a:rPr>
              <a:t>（</a:t>
            </a:r>
            <a:r>
              <a:rPr lang="en-US" altLang="zh-CN" sz="4400" b="1" dirty="0">
                <a:effectLst/>
              </a:rPr>
              <a:t>2</a:t>
            </a:r>
            <a:r>
              <a:rPr lang="zh-CN" altLang="en-US" sz="4400" b="1" dirty="0">
                <a:effectLst/>
              </a:rPr>
              <a:t>）</a:t>
            </a:r>
            <a:r>
              <a:rPr lang="zh-CN" altLang="en-US" sz="4400" b="1" dirty="0">
                <a:solidFill>
                  <a:srgbClr val="7030A0"/>
                </a:solidFill>
                <a:effectLst/>
              </a:rPr>
              <a:t>網站流量分析</a:t>
            </a:r>
            <a:endParaRPr lang="en-US" altLang="zh-CN" sz="44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網頁設計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商用多媒體設計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網路流量分析</a:t>
            </a:r>
            <a:endParaRPr lang="en-US" altLang="zh-TW" sz="2000" b="1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系上所規劃的</a:t>
            </a:r>
            <a:b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資訊相關課程</a:t>
            </a:r>
            <a:endParaRPr lang="zh-TW" altLang="zh-TW" sz="4400" b="1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0652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952328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完整的商業資料程式分析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包括二個部分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8252504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8435280" cy="5105401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effectLst/>
              </a:rPr>
              <a:t>（</a:t>
            </a:r>
            <a:r>
              <a:rPr lang="en-US" altLang="zh-CN" sz="4400" b="1" dirty="0">
                <a:effectLst/>
              </a:rPr>
              <a:t>1</a:t>
            </a:r>
            <a:r>
              <a:rPr lang="zh-CN" altLang="en-US" sz="4400" b="1" dirty="0">
                <a:effectLst/>
              </a:rPr>
              <a:t>）</a:t>
            </a:r>
            <a:r>
              <a:rPr lang="zh-CN" altLang="en-US" sz="4400" b="1" dirty="0">
                <a:solidFill>
                  <a:srgbClr val="7030A0"/>
                </a:solidFill>
                <a:effectLst/>
              </a:rPr>
              <a:t>商業數據程式分析</a:t>
            </a:r>
            <a:endParaRPr lang="en-US" altLang="zh-CN" sz="44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en-US" altLang="zh-CN" sz="2000" b="1" dirty="0">
                <a:effectLst/>
              </a:rPr>
              <a:t>Python</a:t>
            </a:r>
            <a:r>
              <a:rPr lang="zh-CN" altLang="en-US" sz="2000" b="1" dirty="0">
                <a:effectLst/>
              </a:rPr>
              <a:t>程式設計</a:t>
            </a:r>
            <a:r>
              <a:rPr lang="en-US" altLang="zh-CN" sz="2000" b="1" dirty="0">
                <a:effectLst/>
              </a:rPr>
              <a:t>(</a:t>
            </a:r>
            <a:r>
              <a:rPr lang="en-US" altLang="zh-CN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pandas</a:t>
            </a:r>
            <a:r>
              <a:rPr lang="en-US" altLang="zh-CN" sz="2000" b="1" dirty="0">
                <a:effectLst/>
              </a:rPr>
              <a:t>)</a:t>
            </a:r>
          </a:p>
          <a:p>
            <a:pPr lvl="1"/>
            <a:r>
              <a:rPr lang="en-US" altLang="zh-CN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SQL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資料庫</a:t>
            </a:r>
            <a:endParaRPr lang="en-US" altLang="zh-CN" sz="2000" b="1" dirty="0">
              <a:solidFill>
                <a:srgbClr val="C00000"/>
              </a:solidFill>
              <a:effectLst/>
              <a:highlight>
                <a:srgbClr val="FFFF00"/>
              </a:highlight>
            </a:endParaRPr>
          </a:p>
          <a:p>
            <a:pPr lvl="1"/>
            <a:r>
              <a:rPr lang="en-US" altLang="zh-CN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</a:t>
            </a:r>
            <a:endParaRPr lang="en-US" altLang="zh-CN" sz="2000" b="1" dirty="0">
              <a:effectLst/>
            </a:endParaRPr>
          </a:p>
          <a:p>
            <a:r>
              <a:rPr lang="zh-CN" altLang="en-US" sz="4400" b="1" dirty="0">
                <a:effectLst/>
              </a:rPr>
              <a:t>（</a:t>
            </a:r>
            <a:r>
              <a:rPr lang="en-US" altLang="zh-CN" sz="4400" b="1" dirty="0">
                <a:effectLst/>
              </a:rPr>
              <a:t>2</a:t>
            </a:r>
            <a:r>
              <a:rPr lang="zh-CN" altLang="en-US" sz="4400" b="1" dirty="0">
                <a:effectLst/>
              </a:rPr>
              <a:t>）</a:t>
            </a:r>
            <a:r>
              <a:rPr lang="zh-CN" altLang="en-US" sz="4400" b="1" dirty="0">
                <a:solidFill>
                  <a:srgbClr val="7030A0"/>
                </a:solidFill>
                <a:effectLst/>
              </a:rPr>
              <a:t>商業資料預測</a:t>
            </a:r>
            <a:endParaRPr lang="en-US" altLang="zh-CN" sz="44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TW" altLang="en-US" sz="2000" b="1" dirty="0">
                <a:effectLst/>
              </a:rPr>
              <a:t>線性</a:t>
            </a:r>
            <a:r>
              <a:rPr lang="zh-TW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迴歸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分析</a:t>
            </a:r>
            <a:endParaRPr lang="en-US" altLang="zh-TW" sz="2000" b="1" dirty="0">
              <a:solidFill>
                <a:srgbClr val="C00000"/>
              </a:solidFill>
              <a:effectLst/>
              <a:highlight>
                <a:srgbClr val="FFFF00"/>
              </a:highlight>
            </a:endParaRPr>
          </a:p>
          <a:p>
            <a:pPr lvl="1"/>
            <a:r>
              <a:rPr lang="zh-TW" altLang="en-US" sz="2000" b="1" dirty="0">
                <a:effectLst/>
              </a:rPr>
              <a:t>一元線性迴歸</a:t>
            </a:r>
            <a:r>
              <a:rPr lang="zh-CN" altLang="en-US" sz="2000" b="1" dirty="0">
                <a:effectLst/>
              </a:rPr>
              <a:t>，</a:t>
            </a:r>
            <a:r>
              <a:rPr lang="zh-TW" altLang="en-US" sz="2000" b="1" dirty="0">
                <a:effectLst/>
              </a:rPr>
              <a:t>多元線性迴歸</a:t>
            </a:r>
            <a:endParaRPr lang="en-US" altLang="zh-TW" sz="2000" b="1" dirty="0">
              <a:effectLst/>
            </a:endParaRPr>
          </a:p>
          <a:p>
            <a:pPr lvl="1"/>
            <a:r>
              <a:rPr lang="zh-TW" altLang="en-US" sz="2000" b="1" dirty="0">
                <a:effectLst/>
              </a:rPr>
              <a:t>非線性迴歸</a:t>
            </a:r>
            <a:r>
              <a:rPr lang="zh-CN" altLang="en-US" sz="2000" b="1" dirty="0">
                <a:effectLst/>
              </a:rPr>
              <a:t>，</a:t>
            </a:r>
            <a:r>
              <a:rPr lang="zh-TW" altLang="en-US" sz="2000" b="1" dirty="0">
                <a:effectLst/>
              </a:rPr>
              <a:t>多項式迴歸</a:t>
            </a:r>
            <a:endParaRPr lang="en-US" altLang="zh-TW" sz="2000" b="1" dirty="0">
              <a:effectLst/>
            </a:endParaRPr>
          </a:p>
          <a:p>
            <a:pPr lvl="1"/>
            <a:r>
              <a:rPr lang="en-US" altLang="zh-TW" sz="2000" b="1" dirty="0" err="1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Scikit</a:t>
            </a:r>
            <a:r>
              <a:rPr lang="en-US" altLang="zh-TW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-learn(</a:t>
            </a:r>
            <a:r>
              <a:rPr lang="en-US" altLang="zh-TW" sz="2000" b="1" dirty="0" err="1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SKlearn</a:t>
            </a:r>
            <a:r>
              <a:rPr lang="en-US" altLang="zh-TW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套件</a:t>
            </a:r>
            <a:r>
              <a:rPr lang="zh-CN" altLang="en-US" sz="2000" b="1" dirty="0">
                <a:effectLst/>
              </a:rPr>
              <a:t>：一種實用</a:t>
            </a:r>
            <a:r>
              <a:rPr lang="zh-TW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機器學習演算法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包含</a:t>
            </a:r>
            <a:r>
              <a:rPr lang="zh-CN" altLang="en-US" sz="2000" b="1" dirty="0">
                <a:effectLst/>
              </a:rPr>
              <a:t>：</a:t>
            </a:r>
            <a:r>
              <a:rPr lang="zh-TW" altLang="en-US" sz="2000" b="1" dirty="0">
                <a:effectLst/>
              </a:rPr>
              <a:t>分類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回歸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分群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降維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隨機森林</a:t>
            </a:r>
            <a:endParaRPr lang="en-US" altLang="zh-TW" sz="2000" b="1" dirty="0">
              <a:effectLst/>
            </a:endParaRPr>
          </a:p>
          <a:p>
            <a:pPr lvl="1"/>
            <a:r>
              <a:rPr lang="en-US" altLang="zh-TW" sz="2000" b="1" dirty="0" err="1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Keras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套件</a:t>
            </a:r>
            <a:r>
              <a:rPr lang="zh-CN" altLang="en-US" sz="2000" b="1" dirty="0">
                <a:effectLst/>
              </a:rPr>
              <a:t>：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深度學習</a:t>
            </a:r>
            <a:r>
              <a:rPr lang="zh-CN" altLang="en-US" sz="2000" b="1" dirty="0">
                <a:effectLst/>
              </a:rPr>
              <a:t>，自動學習，人工智慧</a:t>
            </a:r>
            <a:endParaRPr lang="en-US" altLang="zh-TW" sz="2000" b="1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完整的</a:t>
            </a:r>
            <a:r>
              <a:rPr lang="zh-CN" altLang="en-US" sz="4400" b="1" dirty="0">
                <a:solidFill>
                  <a:srgbClr val="C0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商業程式分析</a:t>
            </a:r>
            <a:b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包括二個部分</a:t>
            </a:r>
            <a:endParaRPr lang="zh-TW" altLang="zh-TW" sz="4400" b="1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436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04457" cy="51054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chp30.</a:t>
            </a:r>
            <a:r>
              <a:rPr lang="zh-TW" altLang="en-US" sz="1800" b="1" dirty="0">
                <a:solidFill>
                  <a:srgbClr val="7030A0"/>
                </a:solidFill>
              </a:rPr>
              <a:t>電商數據分析：淘寶服飾店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年數據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chp31.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市場分析：市場佔有率分析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chp32.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市場分析：市場趨勢分析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chp33.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市場分析：細分市場分析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chp34.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市場分析：消費者需求分析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chp35.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運營分析：店鋪數據化運營的</a:t>
            </a:r>
            <a:r>
              <a:rPr lang="en-US" altLang="zh-TW" sz="1800" b="1" dirty="0">
                <a:solidFill>
                  <a:srgbClr val="7030A0"/>
                </a:solidFill>
              </a:rPr>
              <a:t>SEO</a:t>
            </a:r>
            <a:r>
              <a:rPr lang="zh-TW" altLang="en-US" sz="1800" b="1" dirty="0">
                <a:solidFill>
                  <a:srgbClr val="7030A0"/>
                </a:solidFill>
              </a:rPr>
              <a:t>關鍵字詞根與統計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chp36.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運營分析：商品推廣方案分析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chp37.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運營分析：競品分析</a:t>
            </a:r>
            <a:r>
              <a:rPr lang="en-US" altLang="zh-TW" sz="1800" b="1" dirty="0">
                <a:solidFill>
                  <a:srgbClr val="7030A0"/>
                </a:solidFill>
              </a:rPr>
              <a:t>(</a:t>
            </a:r>
            <a:r>
              <a:rPr lang="zh-TW" altLang="en-US" sz="1800" b="1" dirty="0">
                <a:solidFill>
                  <a:srgbClr val="7030A0"/>
                </a:solidFill>
              </a:rPr>
              <a:t>追踪競爭對手的</a:t>
            </a:r>
            <a:r>
              <a:rPr lang="en-US" altLang="zh-TW" sz="1800" b="1" dirty="0">
                <a:solidFill>
                  <a:srgbClr val="7030A0"/>
                </a:solidFill>
              </a:rPr>
              <a:t>SKU</a:t>
            </a:r>
            <a:r>
              <a:rPr lang="zh-TW" altLang="en-US" sz="1800" b="1" dirty="0">
                <a:solidFill>
                  <a:srgbClr val="7030A0"/>
                </a:solidFill>
              </a:rPr>
              <a:t>庫存價格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進階課程，都是預測分析，演算法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283969" y="1417638"/>
            <a:ext cx="4536503" cy="5440362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>
                <a:solidFill>
                  <a:srgbClr val="7030A0"/>
                </a:solidFill>
              </a:rPr>
              <a:t>chp38.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基於關聯規則的產品推薦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chp39.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基於聚類演算法的商品推薦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chp40.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基於協同過濾演算法的產品推薦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chp41.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基於業務邏輯的預測演算法模型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chp42.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基於時序演算法預測庫存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chp43.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電商的庫存預測演算法建模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chp44.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用戶成單預測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chp45.</a:t>
            </a:r>
            <a:r>
              <a:rPr lang="zh-TW" altLang="en-US" sz="2000" b="1" dirty="0">
                <a:solidFill>
                  <a:srgbClr val="7030A0"/>
                </a:solidFill>
              </a:rPr>
              <a:t>用戶預測：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用戶流失預測</a:t>
            </a:r>
            <a:endParaRPr lang="zh-CN" altLang="en-US" sz="20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endParaRPr lang="zh-CN" altLang="en-US" sz="20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001295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199"/>
            <a:ext cx="9144000" cy="510540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>
                <a:effectLst/>
              </a:rPr>
              <a:t>範例：台大課程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2"/>
              </a:rPr>
              <a:t>https://tw.coursera.org/learn/pbc2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3"/>
              </a:rPr>
              <a:t>https://tw.coursera.org/learn/pbc2/home/week/4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4"/>
              </a:rPr>
              <a:t>https://www.classcentral.com/course/pbc3-11205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TW" sz="1000" b="1" dirty="0">
                <a:effectLst/>
                <a:hlinkClick r:id="rId5"/>
              </a:rPr>
              <a:t>https://medium.com/%E5%B1%95%E9%96%8B%E6%95%B8%E6%93%9A%E4%BA%BA%E7%94%9F/python%E6%A9%9F%E5%99%A8%E5%AD%B8%E7%BF%92%E5%85%A5%E9%96%80-%E4%BA%8C-bbc8414d4632</a:t>
            </a:r>
            <a:endParaRPr lang="en-US" altLang="zh-TW" sz="1000" b="1" dirty="0">
              <a:effectLst/>
            </a:endParaRPr>
          </a:p>
          <a:p>
            <a:r>
              <a:rPr lang="zh-CN" altLang="en-US" b="1" dirty="0">
                <a:effectLst/>
              </a:rPr>
              <a:t>付費課程：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TW" b="1" dirty="0">
                <a:effectLst/>
              </a:rPr>
              <a:t>Python</a:t>
            </a:r>
            <a:r>
              <a:rPr lang="zh-TW" altLang="en-US" b="1" dirty="0">
                <a:effectLst/>
              </a:rPr>
              <a:t>工業連續製程分析大師：參數指標、預測建模</a:t>
            </a:r>
          </a:p>
          <a:p>
            <a:pPr lvl="1"/>
            <a:r>
              <a:rPr lang="en-US" altLang="zh-TW" sz="2200" b="1" u="sng" dirty="0">
                <a:effectLst/>
                <a:hlinkClick r:id="rId6"/>
              </a:rPr>
              <a:t>https://college.itri.org.tw/Home/LessonData/0A72A944-1D56-49DB-8B18-00FF1568D1C0</a:t>
            </a:r>
            <a:endParaRPr lang="en-US" altLang="zh-TW" sz="2200" b="1" u="sng" dirty="0">
              <a:effectLst/>
            </a:endParaRPr>
          </a:p>
          <a:p>
            <a:pPr lvl="1"/>
            <a:r>
              <a:rPr lang="en-US" altLang="zh-TW" sz="2200" b="1" u="sng" dirty="0">
                <a:effectLst/>
                <a:hlinkClick r:id="rId7"/>
              </a:rPr>
              <a:t>https://college.itri.org.tw/Home/LessonData/7765E126-C587-49CB-8320-4026A3CF8117</a:t>
            </a:r>
            <a:endParaRPr lang="en-US" altLang="zh-TW" sz="2200" b="1" u="sng" dirty="0">
              <a:effectLst/>
            </a:endParaRPr>
          </a:p>
          <a:p>
            <a:r>
              <a:rPr lang="zh-CN" altLang="en-US" b="1" dirty="0">
                <a:effectLst/>
              </a:rPr>
              <a:t>中山課程，</a:t>
            </a:r>
            <a:r>
              <a:rPr lang="zh-TW" altLang="en-US" b="1" dirty="0">
                <a:effectLst/>
              </a:rPr>
              <a:t>預測性模型</a:t>
            </a:r>
          </a:p>
          <a:p>
            <a:pPr lvl="1"/>
            <a:r>
              <a:rPr lang="en-US" altLang="zh-TW" sz="2600" b="1" u="sng" dirty="0">
                <a:effectLst/>
                <a:hlinkClick r:id="rId8"/>
              </a:rPr>
              <a:t>https://bap2.cm.nsysu.edu.tw/?page_id=1694</a:t>
            </a:r>
            <a:endParaRPr lang="en-US" altLang="zh-TW" sz="2600" b="1" u="sng" dirty="0">
              <a:effectLst/>
            </a:endParaRPr>
          </a:p>
          <a:p>
            <a:pPr lvl="1"/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商業數據預測的相關課程</a:t>
            </a:r>
            <a: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付費</a:t>
            </a:r>
            <a: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9491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583812"/>
            <a:ext cx="8928992" cy="513556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200" b="1" dirty="0">
                <a:effectLst/>
              </a:rPr>
              <a:t>這</a:t>
            </a:r>
            <a:r>
              <a:rPr lang="en-US" altLang="zh-CN" sz="3200" b="1" dirty="0">
                <a:effectLst/>
              </a:rPr>
              <a:t>3</a:t>
            </a:r>
            <a:r>
              <a:rPr lang="zh-CN" altLang="en-US" sz="3200" b="1" dirty="0">
                <a:effectLst/>
              </a:rPr>
              <a:t>個名詞，最早來自</a:t>
            </a:r>
            <a:r>
              <a:rPr lang="en-US" altLang="zh-CN" sz="3200" b="1" dirty="0">
                <a:effectLst/>
              </a:rPr>
              <a:t>google</a:t>
            </a:r>
            <a:r>
              <a:rPr lang="zh-TW" altLang="zh-TW" sz="3200" b="1" dirty="0">
                <a:effectLst/>
              </a:rPr>
              <a:t>內部</a:t>
            </a:r>
            <a:r>
              <a:rPr lang="zh-CN" altLang="en-US" sz="3200" b="1" dirty="0">
                <a:effectLst/>
              </a:rPr>
              <a:t>的</a:t>
            </a:r>
            <a:r>
              <a:rPr lang="zh-TW" altLang="zh-TW" sz="3200" b="1" dirty="0">
                <a:effectLst/>
              </a:rPr>
              <a:t>三類技術</a:t>
            </a:r>
            <a:r>
              <a:rPr lang="zh-CN" altLang="en-US" sz="3200" b="1" dirty="0">
                <a:effectLst/>
              </a:rPr>
              <a:t>職缺</a:t>
            </a:r>
            <a:endParaRPr lang="en-US" altLang="zh-CN" sz="3200" b="1" dirty="0">
              <a:effectLst/>
            </a:endParaRPr>
          </a:p>
          <a:p>
            <a:r>
              <a:rPr lang="zh-CN" altLang="en-US" sz="3200" b="1" dirty="0">
                <a:effectLst/>
              </a:rPr>
              <a:t>（</a:t>
            </a:r>
            <a:r>
              <a:rPr lang="en-US" altLang="zh-CN" sz="3200" b="1" dirty="0">
                <a:effectLst/>
              </a:rPr>
              <a:t>1</a:t>
            </a:r>
            <a:r>
              <a:rPr lang="zh-CN" altLang="en-US" sz="3200" b="1" dirty="0">
                <a:effectLst/>
              </a:rPr>
              <a:t>）</a:t>
            </a:r>
            <a:r>
              <a:rPr lang="zh-CN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數據</a:t>
            </a:r>
            <a:r>
              <a:rPr lang="zh-TW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工程師</a:t>
            </a:r>
            <a:r>
              <a:rPr lang="en-US" altLang="zh-CN" sz="3200" b="1" dirty="0">
                <a:effectLst/>
              </a:rPr>
              <a:t>/</a:t>
            </a:r>
            <a:r>
              <a:rPr lang="en-US" altLang="zh-TW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Data Engineer</a:t>
            </a:r>
            <a:r>
              <a:rPr lang="zh-TW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 </a:t>
            </a:r>
            <a:endParaRPr lang="en-US" altLang="zh-TW" sz="3200" b="1" dirty="0">
              <a:solidFill>
                <a:srgbClr val="C00000"/>
              </a:solidFill>
              <a:effectLst/>
              <a:highlight>
                <a:srgbClr val="FFFF00"/>
              </a:highlight>
            </a:endParaRPr>
          </a:p>
          <a:p>
            <a:pPr lvl="1"/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前線的職位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職缺多</a:t>
            </a:r>
            <a:r>
              <a:rPr lang="zh-CN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需要經常寫</a:t>
            </a:r>
            <a:r>
              <a:rPr lang="en-US" altLang="zh-TW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Code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，開發軟件和系統</a:t>
            </a:r>
            <a:r>
              <a:rPr lang="zh-CN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CN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0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主要用來</a:t>
            </a:r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收集各式各樣的數據</a:t>
            </a:r>
            <a:endParaRPr lang="en-US" altLang="zh-TW" sz="20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負責協助</a:t>
            </a:r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蒐集數據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，至於</a:t>
            </a:r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分析就會交由</a:t>
            </a:r>
            <a:r>
              <a:rPr lang="en-US" altLang="zh-TW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Scientist</a:t>
            </a:r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負責</a:t>
            </a:r>
            <a:endParaRPr lang="en-US" altLang="zh-CN" sz="32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200" b="1" dirty="0">
                <a:effectLst/>
              </a:rPr>
              <a:t>（</a:t>
            </a:r>
            <a:r>
              <a:rPr lang="en-US" altLang="zh-CN" sz="3200" b="1" dirty="0">
                <a:effectLst/>
              </a:rPr>
              <a:t>2</a:t>
            </a:r>
            <a:r>
              <a:rPr lang="zh-CN" altLang="en-US" sz="3200" b="1" dirty="0">
                <a:effectLst/>
              </a:rPr>
              <a:t>）</a:t>
            </a:r>
            <a:r>
              <a:rPr lang="zh-CN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商業分析師</a:t>
            </a:r>
            <a:r>
              <a:rPr lang="en-US" altLang="zh-CN" sz="3200" b="1" dirty="0">
                <a:effectLst/>
              </a:rPr>
              <a:t>/</a:t>
            </a:r>
            <a:r>
              <a:rPr lang="zh-CN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資料分析師</a:t>
            </a:r>
            <a:r>
              <a:rPr lang="en-US" altLang="zh-CN" sz="3200" b="1" dirty="0">
                <a:effectLst/>
              </a:rPr>
              <a:t>/</a:t>
            </a:r>
            <a:r>
              <a:rPr lang="en-US" altLang="zh-TW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Data Analyst</a:t>
            </a:r>
          </a:p>
          <a:p>
            <a:pPr lvl="1"/>
            <a:r>
              <a:rPr lang="en-US" altLang="zh-TW" sz="2000" b="1" dirty="0">
                <a:effectLst/>
              </a:rPr>
              <a:t>Data Engineer</a:t>
            </a:r>
            <a:r>
              <a:rPr lang="zh-TW" altLang="zh-TW" sz="2000" b="1" dirty="0">
                <a:effectLst/>
              </a:rPr>
              <a:t>首先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跑資料（大多用</a:t>
            </a:r>
            <a:r>
              <a:rPr lang="en-US" altLang="zh-TW" sz="2000" b="1" dirty="0">
                <a:solidFill>
                  <a:srgbClr val="C00000"/>
                </a:solidFill>
                <a:effectLst/>
              </a:rPr>
              <a:t>SQL</a:t>
            </a:r>
            <a:r>
              <a:rPr lang="en-US" altLang="zh-CN" sz="2000" b="1" dirty="0">
                <a:solidFill>
                  <a:srgbClr val="C00000"/>
                </a:solidFill>
                <a:effectLst/>
              </a:rPr>
              <a:t>/python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）</a:t>
            </a:r>
            <a:r>
              <a:rPr lang="zh-TW" altLang="zh-TW" sz="2000" b="1" dirty="0">
                <a:effectLst/>
              </a:rPr>
              <a:t>。</a:t>
            </a:r>
            <a:endParaRPr lang="en-US" altLang="zh-TW" sz="2000" b="1" dirty="0">
              <a:effectLst/>
            </a:endParaRPr>
          </a:p>
          <a:p>
            <a:pPr lvl="1"/>
            <a:r>
              <a:rPr lang="zh-TW" altLang="zh-TW" sz="2000" b="1" dirty="0">
                <a:effectLst/>
              </a:rPr>
              <a:t>隨後</a:t>
            </a:r>
            <a:r>
              <a:rPr lang="en-US" altLang="zh-TW" sz="2000" b="1" dirty="0">
                <a:effectLst/>
              </a:rPr>
              <a:t>Data Analyst</a:t>
            </a:r>
            <a:r>
              <a:rPr lang="zh-TW" altLang="zh-TW" sz="2000" b="1" dirty="0">
                <a:effectLst/>
              </a:rPr>
              <a:t>會把這些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提取出的資料轉化為“生產力</a:t>
            </a:r>
            <a:r>
              <a:rPr lang="zh-TW" altLang="zh-TW" sz="2000" b="1" dirty="0">
                <a:effectLst/>
              </a:rPr>
              <a:t>“，能夠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指導商業或者產品的建議</a:t>
            </a:r>
            <a:r>
              <a:rPr lang="zh-TW" altLang="zh-TW" sz="2000" b="1" dirty="0">
                <a:effectLst/>
              </a:rPr>
              <a:t>。</a:t>
            </a:r>
            <a:endParaRPr lang="en-US" altLang="zh-TW" sz="2000" b="1" dirty="0"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範例</a:t>
            </a:r>
            <a:r>
              <a:rPr lang="zh-TW" altLang="zh-TW" sz="2000" b="1" dirty="0">
                <a:effectLst/>
              </a:rPr>
              <a:t>：產品經理上線一款產品，產品運行的怎麼樣？有多少人訪問？有多少人購買？購買人數始終上不去是什麼原因？</a:t>
            </a:r>
            <a:endParaRPr lang="en-US" altLang="zh-TW" sz="2000" b="1" dirty="0">
              <a:effectLst/>
            </a:endParaRPr>
          </a:p>
          <a:p>
            <a:pPr lvl="1"/>
            <a:r>
              <a:rPr lang="zh-TW" altLang="zh-TW" sz="2000" b="1" dirty="0">
                <a:effectLst/>
              </a:rPr>
              <a:t>如何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發掘購買人數降低的原理</a:t>
            </a:r>
            <a:r>
              <a:rPr lang="zh-TW" altLang="zh-TW" sz="2000" b="1" dirty="0">
                <a:effectLst/>
              </a:rPr>
              <a:t>然後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針對這些原因進行有目的的處理</a:t>
            </a:r>
            <a:r>
              <a:rPr lang="zh-TW" altLang="zh-TW" sz="2000" b="1" dirty="0">
                <a:effectLst/>
              </a:rPr>
              <a:t>？這些都是通過分析產品產生的資料得到的</a:t>
            </a:r>
            <a:endParaRPr lang="en-US" altLang="zh-TW" sz="3200" b="1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zh-TW" altLang="en-US" sz="32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63" y="152400"/>
            <a:ext cx="8278837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對應的工作職缺</a:t>
            </a:r>
            <a:b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Data Engineer</a:t>
            </a:r>
            <a:r>
              <a:rPr lang="zh-CN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Data Analyst</a:t>
            </a:r>
            <a:r>
              <a:rPr lang="zh-CN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Data Scientist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7982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48056"/>
            <a:ext cx="8229600" cy="4796654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sz="3500" b="1" dirty="0">
                <a:effectLst/>
              </a:rPr>
              <a:t>（</a:t>
            </a:r>
            <a:r>
              <a:rPr lang="en-US" altLang="zh-CN" sz="3500" b="1" dirty="0">
                <a:effectLst/>
              </a:rPr>
              <a:t>3</a:t>
            </a:r>
            <a:r>
              <a:rPr lang="zh-CN" altLang="en-US" sz="3500" b="1" dirty="0">
                <a:effectLst/>
              </a:rPr>
              <a:t>）</a:t>
            </a:r>
            <a:r>
              <a:rPr lang="zh-TW" altLang="en-US" sz="35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資料科學家</a:t>
            </a:r>
            <a:r>
              <a:rPr lang="en-US" altLang="zh-CN" sz="3500" b="1" dirty="0">
                <a:effectLst/>
              </a:rPr>
              <a:t>/</a:t>
            </a:r>
            <a:r>
              <a:rPr lang="en-US" altLang="zh-TW" sz="35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Data Scientist</a:t>
            </a:r>
          </a:p>
          <a:p>
            <a:pPr lvl="1"/>
            <a:r>
              <a:rPr lang="zh-CN" altLang="en-US" sz="3000" b="1" dirty="0">
                <a:effectLst/>
              </a:rPr>
              <a:t>要有程式能力，</a:t>
            </a:r>
            <a:r>
              <a:rPr lang="zh-CN" altLang="en-US" sz="3000" b="1" dirty="0">
                <a:solidFill>
                  <a:srgbClr val="C00000"/>
                </a:solidFill>
                <a:effectLst/>
              </a:rPr>
              <a:t>建模型能力</a:t>
            </a:r>
            <a:endParaRPr lang="en-US" altLang="zh-CN" sz="3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zh-TW" altLang="en-US" sz="3000" b="1" dirty="0">
                <a:effectLst/>
              </a:rPr>
              <a:t>一般需要掌握</a:t>
            </a:r>
            <a:r>
              <a:rPr lang="zh-TW" altLang="en-US" sz="3000" b="1" dirty="0">
                <a:solidFill>
                  <a:srgbClr val="C00000"/>
                </a:solidFill>
                <a:effectLst/>
              </a:rPr>
              <a:t>機器學習</a:t>
            </a:r>
            <a:r>
              <a:rPr lang="zh-TW" altLang="en-US" sz="3000" b="1" dirty="0">
                <a:effectLst/>
              </a:rPr>
              <a:t>和</a:t>
            </a:r>
            <a:r>
              <a:rPr lang="zh-TW" altLang="en-US" sz="3000" b="1" dirty="0">
                <a:solidFill>
                  <a:srgbClr val="C00000"/>
                </a:solidFill>
                <a:effectLst/>
              </a:rPr>
              <a:t>人工</a:t>
            </a:r>
            <a:r>
              <a:rPr lang="zh-CN" altLang="en-US" sz="3000" b="1" dirty="0">
                <a:solidFill>
                  <a:srgbClr val="C00000"/>
                </a:solidFill>
                <a:effectLst/>
              </a:rPr>
              <a:t>智慧</a:t>
            </a:r>
            <a:r>
              <a:rPr lang="zh-TW" altLang="en-US" sz="3000" b="1" dirty="0">
                <a:effectLst/>
              </a:rPr>
              <a:t>的技術，而且要</a:t>
            </a:r>
            <a:r>
              <a:rPr lang="zh-TW" altLang="en-US" sz="3000" b="1" dirty="0">
                <a:solidFill>
                  <a:srgbClr val="C00000"/>
                </a:solidFill>
                <a:effectLst/>
              </a:rPr>
              <a:t>統計學很好</a:t>
            </a:r>
            <a:r>
              <a:rPr lang="zh-TW" altLang="en-US" sz="3000" b="1" dirty="0">
                <a:effectLst/>
              </a:rPr>
              <a:t>，能夠</a:t>
            </a:r>
            <a:r>
              <a:rPr lang="zh-TW" altLang="en-US" sz="3000" b="1" dirty="0">
                <a:solidFill>
                  <a:srgbClr val="C00000"/>
                </a:solidFill>
                <a:effectLst/>
              </a:rPr>
              <a:t>建立數據分析模型</a:t>
            </a:r>
            <a:r>
              <a:rPr lang="zh-TW" altLang="en-US" sz="3000" b="1" dirty="0">
                <a:effectLst/>
              </a:rPr>
              <a:t>，根據演算法開發程式，利用程式分析數據和</a:t>
            </a:r>
            <a:r>
              <a:rPr lang="zh-TW" altLang="en-US" sz="43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作出</a:t>
            </a:r>
            <a:r>
              <a:rPr lang="zh-CN" altLang="en-US" sz="43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預測</a:t>
            </a:r>
            <a:endParaRPr lang="en-US" altLang="zh-TW" sz="3500" b="1" u="sng" dirty="0">
              <a:effectLst/>
            </a:endParaRPr>
          </a:p>
          <a:p>
            <a:endParaRPr lang="en-US" altLang="zh-CN" sz="3600" b="1" dirty="0">
              <a:effectLst/>
            </a:endParaRPr>
          </a:p>
          <a:p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>
                <a:effectLst/>
              </a:rPr>
              <a:t>4</a:t>
            </a:r>
            <a:r>
              <a:rPr lang="zh-CN" altLang="en-US" sz="3600" b="1" dirty="0">
                <a:effectLst/>
              </a:rPr>
              <a:t>）範例：找職缺工作：</a:t>
            </a:r>
            <a:endParaRPr lang="en-US" altLang="zh-CN" sz="3600" b="1" dirty="0">
              <a:effectLst/>
            </a:endParaRPr>
          </a:p>
          <a:p>
            <a:r>
              <a:rPr lang="en-US" altLang="zh-TW" sz="1400" b="1" dirty="0">
                <a:effectLst/>
              </a:rPr>
              <a:t>https://www.google.com/search?q=data+analyst+data+scientist+data+engineer&amp;oq=&amp;aqs=chrome.2.35i39i362l8.3253038400j0j15&amp;sourceid=chrome&amp;ie=UTF-8&amp;ibp=htl;jobs&amp;sa=X&amp;ved=2ahUKEwif2q_wtJb9AhWHBN4KHaVXBNYQudcGKAF6BAgJECc&amp;sxsrf=AJOqlzV4KK48QHT7kE2Es-z5LE0DjAzy1g:1676425829288#htivrt=jobs&amp;htidocid=cGCSKl7iCZoAAAAAAAAAAA%3D%3D&amp;fpstate=tldetail</a:t>
            </a: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對應的工作職缺</a:t>
            </a:r>
            <a:br>
              <a:rPr lang="en-US" altLang="zh-CN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Data Engineer</a:t>
            </a:r>
            <a:r>
              <a:rPr lang="zh-CN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Data Analyst</a:t>
            </a:r>
            <a:r>
              <a:rPr lang="zh-CN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Data Scientist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1690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6A1DD0C-FB1D-4160-B13A-4049011A491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200"/>
          <a:ext cx="8229600" cy="4401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783406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上學期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下學期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大一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網頁設計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程式設計</a:t>
                      </a:r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python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大二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SQL</a:t>
                      </a:r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</a:t>
                      </a:r>
                      <a:endParaRPr lang="en-US" altLang="zh-CN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Power BI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商用多媒體設計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35222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大三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網站流量分析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大數據分析</a:t>
                      </a:r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pandas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981333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大四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F663B3D-B6A5-452C-BFEA-830EA3A5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系上所規劃的資訊相關課程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17248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32" y="1747338"/>
            <a:ext cx="7893768" cy="511066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）</a:t>
            </a:r>
            <a:r>
              <a:rPr lang="en-US" altLang="zh-TW" sz="3600" b="1" dirty="0">
                <a:effectLst/>
              </a:rPr>
              <a:t>Data Analyst</a:t>
            </a: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現在演化的工作職缺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60d29cc33f302efdc61d0567_dYMsQqM.png (800×494)">
            <a:extLst>
              <a:ext uri="{FF2B5EF4-FFF2-40B4-BE49-F238E27FC236}">
                <a16:creationId xmlns:a16="http://schemas.microsoft.com/office/drawing/2014/main" id="{965CB9F7-1BB3-4AE2-A232-673E0708D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260" y="1417638"/>
            <a:ext cx="9252520" cy="5713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5304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32" y="1747338"/>
            <a:ext cx="7893768" cy="511066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）</a:t>
            </a:r>
            <a:r>
              <a:rPr lang="en-US" altLang="zh-TW" sz="3600" b="1" dirty="0">
                <a:effectLst/>
              </a:rPr>
              <a:t>Data Analyst</a:t>
            </a: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現在演化的工作職缺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i0.wp.com/tw.alphacamp.co/wp-content/uploads/2022/12/60d29cc33f302e13e91d0568_oXXKHos.png?w=800&amp;ssl=1">
            <a:extLst>
              <a:ext uri="{FF2B5EF4-FFF2-40B4-BE49-F238E27FC236}">
                <a16:creationId xmlns:a16="http://schemas.microsoft.com/office/drawing/2014/main" id="{B04980C1-021B-4A0B-8C19-0C2A6D4E0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07" y="1439876"/>
            <a:ext cx="9341593" cy="541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2617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628800"/>
            <a:ext cx="7016824" cy="3456384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93992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商業分析上的優勢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52578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1. Excel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BI</a:t>
            </a:r>
            <a:r>
              <a:rPr lang="zh-CN" altLang="en-US" sz="3200" b="1" dirty="0"/>
              <a:t>可以做的，</a:t>
            </a:r>
            <a:r>
              <a:rPr lang="en-US" altLang="zh-CN" sz="3200" b="1" dirty="0"/>
              <a:t>python</a:t>
            </a:r>
            <a:r>
              <a:rPr lang="zh-CN" altLang="en-US" sz="3200" b="1" dirty="0"/>
              <a:t>都可以做。</a:t>
            </a:r>
            <a:endParaRPr lang="en-US" altLang="zh-CN" sz="3200" b="1" dirty="0"/>
          </a:p>
          <a:p>
            <a:pPr lvl="1"/>
            <a:r>
              <a:rPr lang="en-US" altLang="zh-CN" sz="2800" b="1" dirty="0"/>
              <a:t> SQL</a:t>
            </a:r>
            <a:r>
              <a:rPr lang="zh-CN" altLang="en-US" sz="2800" b="1" dirty="0"/>
              <a:t>可以做的，</a:t>
            </a:r>
            <a:r>
              <a:rPr lang="en-US" altLang="zh-CN" sz="2800" b="1" dirty="0"/>
              <a:t>python</a:t>
            </a:r>
            <a:r>
              <a:rPr lang="zh-CN" altLang="en-US" sz="2800" b="1" dirty="0"/>
              <a:t>都可以做。</a:t>
            </a:r>
          </a:p>
          <a:p>
            <a:pPr lvl="1"/>
            <a:r>
              <a:rPr lang="en-US" altLang="zh-CN" sz="2800" b="1" dirty="0"/>
              <a:t> </a:t>
            </a:r>
            <a:r>
              <a:rPr lang="en-US" altLang="zh-CN" sz="2800" b="1" dirty="0" err="1">
                <a:solidFill>
                  <a:srgbClr val="C00000"/>
                </a:solidFill>
              </a:rPr>
              <a:t>pythn</a:t>
            </a:r>
            <a:r>
              <a:rPr lang="zh-CN" altLang="en-US" sz="2800" b="1" dirty="0">
                <a:solidFill>
                  <a:srgbClr val="C00000"/>
                </a:solidFill>
              </a:rPr>
              <a:t>可以做的，</a:t>
            </a:r>
            <a:r>
              <a:rPr lang="en-US" altLang="zh-CN" sz="2800" b="1" dirty="0">
                <a:solidFill>
                  <a:srgbClr val="C00000"/>
                </a:solidFill>
              </a:rPr>
              <a:t>Excel</a:t>
            </a:r>
            <a:r>
              <a:rPr lang="zh-CN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</a:rPr>
              <a:t>BI</a:t>
            </a:r>
            <a:r>
              <a:rPr lang="zh-CN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CN" sz="2800" b="1" dirty="0" err="1">
                <a:solidFill>
                  <a:srgbClr val="C00000"/>
                </a:solidFill>
              </a:rPr>
              <a:t>SQl</a:t>
            </a:r>
            <a:r>
              <a:rPr lang="zh-CN" altLang="en-US" sz="2800" b="1" dirty="0">
                <a:solidFill>
                  <a:srgbClr val="C00000"/>
                </a:solidFill>
              </a:rPr>
              <a:t>不一定可做到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lvl="1"/>
            <a:endParaRPr lang="en-US" altLang="zh-CN" sz="2800" b="1" dirty="0">
              <a:solidFill>
                <a:srgbClr val="C00000"/>
              </a:solidFill>
            </a:endParaRPr>
          </a:p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2.python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讀取的資料，沒有太多的限制，有極高的自由度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</a:rPr>
              <a:t>網頁，</a:t>
            </a:r>
            <a:r>
              <a:rPr lang="en-US" altLang="zh-TW" sz="2800" b="1" dirty="0">
                <a:solidFill>
                  <a:srgbClr val="C00000"/>
                </a:solidFill>
              </a:rPr>
              <a:t>json</a:t>
            </a:r>
            <a:r>
              <a:rPr lang="zh-TW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TW" sz="2800" b="1" dirty="0">
                <a:solidFill>
                  <a:srgbClr val="C00000"/>
                </a:solidFill>
              </a:rPr>
              <a:t>xml, txt</a:t>
            </a:r>
            <a:r>
              <a:rPr lang="zh-TW" altLang="en-US" sz="2800" b="1" dirty="0">
                <a:solidFill>
                  <a:srgbClr val="C00000"/>
                </a:solidFill>
              </a:rPr>
              <a:t>， </a:t>
            </a:r>
            <a:r>
              <a:rPr lang="en-US" altLang="zh-TW" sz="2800" b="1" dirty="0">
                <a:solidFill>
                  <a:srgbClr val="C00000"/>
                </a:solidFill>
              </a:rPr>
              <a:t>csv, excel</a:t>
            </a:r>
            <a:r>
              <a:rPr lang="zh-TW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TW" sz="2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TW" sz="2800" b="1" dirty="0" err="1">
                <a:solidFill>
                  <a:srgbClr val="C00000"/>
                </a:solidFill>
              </a:rPr>
              <a:t>noSQL</a:t>
            </a:r>
            <a:r>
              <a:rPr lang="zh-TW" altLang="en-US" sz="2800" b="1" dirty="0">
                <a:solidFill>
                  <a:srgbClr val="C00000"/>
                </a:solidFill>
              </a:rPr>
              <a:t>，字典</a:t>
            </a:r>
            <a:r>
              <a:rPr lang="en-US" altLang="zh-TW" sz="2800" b="1" dirty="0" err="1">
                <a:solidFill>
                  <a:srgbClr val="C00000"/>
                </a:solidFill>
              </a:rPr>
              <a:t>dict</a:t>
            </a:r>
            <a:r>
              <a:rPr lang="zh-TW" altLang="en-US" sz="2800" b="1" dirty="0">
                <a:solidFill>
                  <a:srgbClr val="C00000"/>
                </a:solidFill>
              </a:rPr>
              <a:t>，串列</a:t>
            </a:r>
            <a:r>
              <a:rPr lang="en-US" altLang="zh-TW" sz="2800" b="1" dirty="0">
                <a:solidFill>
                  <a:srgbClr val="C00000"/>
                </a:solidFill>
              </a:rPr>
              <a:t>list</a:t>
            </a:r>
          </a:p>
          <a:p>
            <a:pPr lvl="1"/>
            <a:r>
              <a:rPr lang="zh-TW" altLang="en-US" sz="2800" b="1" dirty="0">
                <a:solidFill>
                  <a:srgbClr val="C00000"/>
                </a:solidFill>
              </a:rPr>
              <a:t>可以輕鬆採集各種</a:t>
            </a:r>
            <a:r>
              <a:rPr lang="zh-CN" altLang="en-US" sz="2800" b="1" dirty="0">
                <a:solidFill>
                  <a:srgbClr val="C00000"/>
                </a:solidFill>
              </a:rPr>
              <a:t>大數據</a:t>
            </a:r>
            <a:r>
              <a:rPr lang="zh-TW" altLang="en-US" sz="2800" b="1" dirty="0">
                <a:solidFill>
                  <a:srgbClr val="C00000"/>
                </a:solidFill>
              </a:rPr>
              <a:t>資料。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8445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商業分析上的優勢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52578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3. </a:t>
            </a:r>
            <a:r>
              <a:rPr lang="en-US" altLang="zh-TW" sz="3200" b="1" dirty="0">
                <a:solidFill>
                  <a:srgbClr val="C00000"/>
                </a:solidFill>
              </a:rPr>
              <a:t>python</a:t>
            </a:r>
            <a:r>
              <a:rPr lang="zh-TW" altLang="en-US" sz="3200" b="1" dirty="0"/>
              <a:t>相對於傳統的程式語言（</a:t>
            </a:r>
            <a:r>
              <a:rPr lang="en-US" altLang="zh-TW" sz="3200" b="1" dirty="0" err="1"/>
              <a:t>c,java,vb</a:t>
            </a:r>
            <a:r>
              <a:rPr lang="zh-TW" altLang="en-US" sz="3200" b="1" dirty="0"/>
              <a:t>），程式碼的量已經明顯下降，</a:t>
            </a:r>
            <a:endParaRPr lang="en-US" altLang="zh-TW" sz="3200" b="1" dirty="0"/>
          </a:p>
          <a:p>
            <a:pPr lvl="1"/>
            <a:r>
              <a:rPr lang="zh-TW" altLang="en-US" sz="2800" b="1" dirty="0"/>
              <a:t>所以可以縮短開發週期，</a:t>
            </a:r>
            <a:endParaRPr lang="en-US" altLang="zh-TW" sz="2800" b="1" dirty="0"/>
          </a:p>
          <a:p>
            <a:pPr lvl="1"/>
            <a:r>
              <a:rPr lang="zh-TW" altLang="en-US" sz="2800" b="1" dirty="0"/>
              <a:t>變得更簡單容易，減輕負擔。</a:t>
            </a:r>
            <a:endParaRPr lang="en-US" altLang="zh-TW" sz="2800" b="1" dirty="0"/>
          </a:p>
          <a:p>
            <a:pPr lvl="1"/>
            <a:endParaRPr lang="en-US" altLang="zh-TW" sz="2800" b="1" dirty="0"/>
          </a:p>
          <a:p>
            <a:r>
              <a:rPr lang="en-US" altLang="zh-CN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模組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，能夠更精簡地縮短程式碼，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Pandas</a:t>
            </a:r>
            <a:r>
              <a:rPr lang="zh-CN" altLang="en-US" b="1" dirty="0">
                <a:solidFill>
                  <a:srgbClr val="C00000"/>
                </a:solidFill>
              </a:rPr>
              <a:t>更把</a:t>
            </a:r>
            <a:r>
              <a:rPr lang="en-US" altLang="zh-CN" b="1" dirty="0" err="1">
                <a:solidFill>
                  <a:srgbClr val="C00000"/>
                </a:solidFill>
              </a:rPr>
              <a:t>pyhton</a:t>
            </a:r>
            <a:r>
              <a:rPr lang="zh-CN" altLang="en-US" b="1" dirty="0">
                <a:solidFill>
                  <a:srgbClr val="C00000"/>
                </a:solidFill>
              </a:rPr>
              <a:t>更進一步精簡，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～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行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就好像</a:t>
            </a:r>
            <a:r>
              <a:rPr lang="en-US" altLang="zh-CN" b="1" dirty="0">
                <a:solidFill>
                  <a:srgbClr val="C00000"/>
                </a:solidFill>
              </a:rPr>
              <a:t>SQL</a:t>
            </a:r>
            <a:r>
              <a:rPr lang="zh-CN" altLang="en-US" b="1" dirty="0">
                <a:solidFill>
                  <a:srgbClr val="C00000"/>
                </a:solidFill>
              </a:rPr>
              <a:t>語法，也是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～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行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439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商業分析上的優勢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52578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5. </a:t>
            </a:r>
            <a:r>
              <a:rPr lang="zh-TW" altLang="en-US" sz="3200" b="1" dirty="0"/>
              <a:t>相對於</a:t>
            </a:r>
            <a:r>
              <a:rPr lang="en-US" altLang="zh-TW" sz="3200" b="1" dirty="0"/>
              <a:t>excel</a:t>
            </a:r>
            <a:r>
              <a:rPr lang="en-US" altLang="zh-CN" sz="3200" b="1" dirty="0"/>
              <a:t>/</a:t>
            </a:r>
            <a:r>
              <a:rPr lang="en-US" altLang="zh-TW" sz="3200" b="1" dirty="0"/>
              <a:t>BI</a:t>
            </a:r>
            <a:r>
              <a:rPr lang="en-US" altLang="zh-CN" sz="3200" b="1" dirty="0"/>
              <a:t>/SQL</a:t>
            </a:r>
            <a:r>
              <a:rPr lang="zh-TW" altLang="en-US" sz="3200" b="1" dirty="0"/>
              <a:t>，</a:t>
            </a:r>
            <a:r>
              <a:rPr lang="en-US" altLang="zh-TW" sz="3200" b="1" dirty="0"/>
              <a:t>python</a:t>
            </a:r>
            <a:r>
              <a:rPr lang="zh-CN" altLang="en-US" sz="3200" b="1" dirty="0"/>
              <a:t>更</a:t>
            </a:r>
            <a:r>
              <a:rPr lang="zh-TW" altLang="en-US" sz="3200" b="1" dirty="0"/>
              <a:t>能夠提供</a:t>
            </a:r>
            <a:r>
              <a:rPr lang="zh-TW" altLang="en-US" sz="3200" b="1" dirty="0">
                <a:solidFill>
                  <a:srgbClr val="C00000"/>
                </a:solidFill>
              </a:rPr>
              <a:t>一體化的分析</a:t>
            </a:r>
            <a:r>
              <a:rPr lang="zh-TW" altLang="en-US" sz="3200" b="1" dirty="0"/>
              <a:t>。</a:t>
            </a:r>
          </a:p>
          <a:p>
            <a:pPr lvl="1"/>
            <a:r>
              <a:rPr lang="zh-CN" altLang="en-US" sz="2800" b="1" dirty="0"/>
              <a:t>數據分析的步驟</a:t>
            </a:r>
            <a:r>
              <a:rPr lang="zh-TW" altLang="en-US" sz="2800" b="1" dirty="0"/>
              <a:t>：</a:t>
            </a:r>
            <a:r>
              <a:rPr lang="zh-TW" altLang="en-US" sz="2800" b="1" dirty="0">
                <a:solidFill>
                  <a:srgbClr val="7030A0"/>
                </a:solidFill>
              </a:rPr>
              <a:t>數據採集，數據清洗，數據分析，數據挖掘，數據可視化</a:t>
            </a:r>
            <a:r>
              <a:rPr lang="zh-TW" altLang="en-US" sz="2800" b="1" dirty="0"/>
              <a:t>。</a:t>
            </a:r>
          </a:p>
          <a:p>
            <a:pPr lvl="1"/>
            <a:endParaRPr lang="en-US" altLang="zh-TW" sz="2800" b="1" dirty="0"/>
          </a:p>
          <a:p>
            <a:r>
              <a:rPr lang="en-US" altLang="zh-CN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提供各種齊全的</a:t>
            </a:r>
            <a:r>
              <a:rPr lang="zh-TW" altLang="en-US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數學演算法</a:t>
            </a:r>
            <a:endParaRPr lang="en-US" altLang="zh-TW" sz="32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zh-TW" altLang="en-US" sz="2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一般數學，到微積分，工程數學，矩陣，人工智慧，統計函數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可以做</a:t>
            </a:r>
            <a:r>
              <a:rPr lang="zh-CN" altLang="en-US" sz="28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預測分析</a:t>
            </a:r>
            <a:endParaRPr lang="en-US" altLang="zh-CN" sz="2800" b="1" dirty="0">
              <a:solidFill>
                <a:srgbClr val="C00000"/>
              </a:solidFill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這是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所無法媲美的。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2577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商業分析上的優勢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52578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6.</a:t>
            </a:r>
            <a:r>
              <a:rPr lang="en-US" altLang="zh-TW" sz="3200" b="1" dirty="0"/>
              <a:t> Excel</a:t>
            </a:r>
            <a:r>
              <a:rPr lang="zh-TW" altLang="en-US" sz="3200" b="1" dirty="0"/>
              <a:t>優點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缺點</a:t>
            </a:r>
            <a:r>
              <a:rPr lang="zh-TW" altLang="en-US" sz="3200" b="1" dirty="0"/>
              <a:t>。</a:t>
            </a:r>
          </a:p>
          <a:p>
            <a:r>
              <a:rPr lang="en-US" altLang="zh-TW" sz="3200" b="1" dirty="0"/>
              <a:t> Excel</a:t>
            </a:r>
            <a:r>
              <a:rPr lang="zh-TW" altLang="en-US" sz="3200" b="1" dirty="0"/>
              <a:t>優點是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pPr lvl="1"/>
            <a:r>
              <a:rPr lang="zh-TW" altLang="en-US" sz="2800" b="1" dirty="0">
                <a:solidFill>
                  <a:srgbClr val="C00000"/>
                </a:solidFill>
              </a:rPr>
              <a:t>簡單直觀</a:t>
            </a:r>
            <a:r>
              <a:rPr lang="zh-TW" altLang="en-US" sz="2800" b="1" dirty="0"/>
              <a:t>。</a:t>
            </a:r>
          </a:p>
          <a:p>
            <a:r>
              <a:rPr lang="en-US" altLang="zh-TW" sz="3200" b="1" dirty="0"/>
              <a:t>Excel</a:t>
            </a:r>
            <a:r>
              <a:rPr lang="zh-TW" altLang="en-US" sz="3200" b="1" dirty="0"/>
              <a:t>缺點是：</a:t>
            </a:r>
            <a:endParaRPr lang="en-US" altLang="zh-TW" sz="3200" b="1" dirty="0"/>
          </a:p>
          <a:p>
            <a:pPr lvl="1"/>
            <a:r>
              <a:rPr lang="zh-TW" altLang="en-US" sz="2800" b="1" dirty="0"/>
              <a:t>無法支援</a:t>
            </a:r>
            <a:r>
              <a:rPr lang="zh-TW" altLang="en-US" sz="2800" b="1" dirty="0">
                <a:solidFill>
                  <a:srgbClr val="C00000"/>
                </a:solidFill>
              </a:rPr>
              <a:t>自訂分析的演算方法</a:t>
            </a:r>
            <a:r>
              <a:rPr lang="zh-TW" altLang="en-US" sz="2800" b="1" dirty="0"/>
              <a:t>，</a:t>
            </a:r>
          </a:p>
          <a:p>
            <a:pPr lvl="1"/>
            <a:r>
              <a:rPr lang="zh-TW" altLang="en-US" sz="2800" b="1" dirty="0"/>
              <a:t>無法提供</a:t>
            </a:r>
            <a:r>
              <a:rPr lang="zh-TW" altLang="en-US" sz="2800" b="1" dirty="0">
                <a:solidFill>
                  <a:srgbClr val="C00000"/>
                </a:solidFill>
              </a:rPr>
              <a:t>一體化的分析</a:t>
            </a:r>
            <a:r>
              <a:rPr lang="zh-TW" altLang="en-US" sz="2800" b="1" dirty="0"/>
              <a:t>（數據採集～數據挖掘，可視化）</a:t>
            </a:r>
          </a:p>
          <a:p>
            <a:pPr lvl="1"/>
            <a:r>
              <a:rPr lang="zh-TW" altLang="en-US" sz="2800" b="1" dirty="0"/>
              <a:t>無法</a:t>
            </a:r>
            <a:r>
              <a:rPr lang="zh-TW" altLang="en-US" sz="2800" b="1" dirty="0">
                <a:solidFill>
                  <a:srgbClr val="C00000"/>
                </a:solidFill>
              </a:rPr>
              <a:t>全流程的自動化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4981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560" y="1340768"/>
            <a:ext cx="7016824" cy="3816424"/>
          </a:xfrm>
        </p:spPr>
        <p:txBody>
          <a:bodyPr vert="horz" rtlCol="0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商業數據的三種來源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第一方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第二方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第三方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8516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16832"/>
            <a:ext cx="8807896" cy="4644752"/>
          </a:xfrm>
        </p:spPr>
        <p:txBody>
          <a:bodyPr>
            <a:noAutofit/>
          </a:bodyPr>
          <a:lstStyle/>
          <a:p>
            <a:r>
              <a:rPr lang="zh-TW" altLang="en-US" sz="4000" b="1" dirty="0">
                <a:effectLst/>
              </a:rPr>
              <a:t>數據分析師</a:t>
            </a:r>
            <a:r>
              <a:rPr lang="zh-CN" altLang="en-US" sz="4000" b="1" dirty="0">
                <a:effectLst/>
              </a:rPr>
              <a:t>熱門的原因：</a:t>
            </a:r>
            <a:endParaRPr lang="en-US" altLang="zh-TW" sz="4000" b="1" dirty="0"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1.</a:t>
            </a:r>
            <a:r>
              <a:rPr lang="zh-CN" altLang="en-US" sz="4400" b="1" dirty="0">
                <a:effectLst/>
              </a:rPr>
              <a:t>資料量，以後只會越來越</a:t>
            </a:r>
            <a:r>
              <a:rPr lang="zh-CN" altLang="en-US" sz="4400" b="1" dirty="0">
                <a:solidFill>
                  <a:srgbClr val="C00000"/>
                </a:solidFill>
                <a:effectLst/>
              </a:rPr>
              <a:t>大量</a:t>
            </a:r>
            <a:endParaRPr lang="en-US" altLang="zh-TW" sz="44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2.</a:t>
            </a:r>
            <a:r>
              <a:rPr lang="zh-TW" altLang="en-US" sz="4400" b="1" dirty="0">
                <a:effectLst/>
              </a:rPr>
              <a:t>現今企業如果想做數據蒐集的方法</a:t>
            </a:r>
            <a:r>
              <a:rPr lang="zh-CN" altLang="en-US" sz="4400" b="1" dirty="0">
                <a:effectLst/>
              </a:rPr>
              <a:t>，</a:t>
            </a:r>
            <a:r>
              <a:rPr lang="zh-TW" altLang="en-US" sz="4400" b="1" dirty="0">
                <a:effectLst/>
              </a:rPr>
              <a:t>變得</a:t>
            </a:r>
            <a:r>
              <a:rPr lang="zh-TW" altLang="en-US" sz="4400" b="1" dirty="0">
                <a:solidFill>
                  <a:srgbClr val="C00000"/>
                </a:solidFill>
                <a:effectLst/>
              </a:rPr>
              <a:t>非常多元</a:t>
            </a:r>
            <a:r>
              <a:rPr lang="zh-CN" altLang="en-US" sz="4400" b="1" dirty="0">
                <a:effectLst/>
              </a:rPr>
              <a:t> </a:t>
            </a:r>
            <a:endParaRPr lang="en-US" altLang="zh-CN" sz="44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數據分析熱門的原因</a:t>
            </a:r>
            <a:endParaRPr lang="zh-TW" altLang="zh-TW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95444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00808"/>
            <a:ext cx="8686800" cy="4860776"/>
          </a:xfrm>
        </p:spPr>
        <p:txBody>
          <a:bodyPr>
            <a:noAutofit/>
          </a:bodyPr>
          <a:lstStyle/>
          <a:p>
            <a:r>
              <a:rPr lang="zh-CN" altLang="en-US" sz="5400" b="1" dirty="0">
                <a:effectLst/>
              </a:rPr>
              <a:t>資料來源包括：</a:t>
            </a:r>
            <a:r>
              <a:rPr lang="en-US" altLang="zh-CN" sz="5400" b="1" dirty="0">
                <a:effectLst/>
              </a:rPr>
              <a:t>3</a:t>
            </a:r>
            <a:r>
              <a:rPr lang="zh-CN" altLang="en-US" sz="5400" b="1" dirty="0">
                <a:effectLst/>
              </a:rPr>
              <a:t>類</a:t>
            </a:r>
            <a:endParaRPr lang="en-US" altLang="zh-CN" sz="5400" b="1" dirty="0">
              <a:effectLst/>
            </a:endParaRPr>
          </a:p>
          <a:p>
            <a:pPr lvl="1"/>
            <a:r>
              <a:rPr lang="en-US" altLang="zh-CN" sz="4000" b="1" dirty="0">
                <a:effectLst/>
              </a:rPr>
              <a:t>1.</a:t>
            </a:r>
            <a:r>
              <a:rPr lang="zh-TW" altLang="en-US" sz="4000" b="1" dirty="0">
                <a:effectLst/>
              </a:rPr>
              <a:t>來自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用戶</a:t>
            </a:r>
            <a:r>
              <a:rPr lang="zh-TW" altLang="en-US" sz="4000" b="1" dirty="0">
                <a:effectLst/>
              </a:rPr>
              <a:t>的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第一方</a:t>
            </a:r>
            <a:r>
              <a:rPr lang="zh-TW" altLang="en-US" sz="4000" b="1" dirty="0">
                <a:effectLst/>
              </a:rPr>
              <a:t>數據</a:t>
            </a:r>
            <a:endParaRPr lang="en-US" altLang="zh-TW" sz="4000" b="1" dirty="0">
              <a:effectLst/>
            </a:endParaRPr>
          </a:p>
          <a:p>
            <a:pPr lvl="1"/>
            <a:r>
              <a:rPr lang="en-US" altLang="zh-CN" sz="4000" b="1" dirty="0">
                <a:effectLst/>
              </a:rPr>
              <a:t>2.</a:t>
            </a:r>
            <a:r>
              <a:rPr lang="zh-TW" altLang="en-US" sz="4000" b="1" dirty="0">
                <a:effectLst/>
              </a:rPr>
              <a:t>透過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交換共享</a:t>
            </a:r>
            <a:r>
              <a:rPr lang="zh-TW" altLang="en-US" sz="4000" b="1" dirty="0">
                <a:effectLst/>
              </a:rPr>
              <a:t>得到的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第二方</a:t>
            </a:r>
            <a:r>
              <a:rPr lang="zh-TW" altLang="en-US" sz="4000" b="1" dirty="0">
                <a:effectLst/>
              </a:rPr>
              <a:t>數據</a:t>
            </a:r>
            <a:endParaRPr lang="en-US" altLang="zh-TW" sz="4400" b="1" dirty="0">
              <a:effectLst/>
            </a:endParaRPr>
          </a:p>
          <a:p>
            <a:pPr lvl="1"/>
            <a:r>
              <a:rPr lang="en-US" altLang="zh-CN" sz="4000" b="1" dirty="0">
                <a:effectLst/>
              </a:rPr>
              <a:t>3.</a:t>
            </a:r>
            <a:r>
              <a:rPr lang="zh-TW" altLang="en-US" sz="4000" b="1" dirty="0">
                <a:effectLst/>
              </a:rPr>
              <a:t>任何與商業需求有關的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第三方數據</a:t>
            </a:r>
            <a:endParaRPr lang="en-US" altLang="zh-TW" sz="4000" b="1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TW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非常多元</a:t>
            </a:r>
            <a:r>
              <a:rPr lang="zh-CN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的資料來源</a:t>
            </a:r>
            <a:endParaRPr lang="zh-TW" altLang="zh-TW" sz="6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6917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44824"/>
            <a:ext cx="8686800" cy="4716760"/>
          </a:xfrm>
        </p:spPr>
        <p:txBody>
          <a:bodyPr>
            <a:noAutofit/>
          </a:bodyPr>
          <a:lstStyle/>
          <a:p>
            <a:r>
              <a:rPr lang="zh-TW" altLang="en-US" sz="4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CN" sz="4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4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）來自</a:t>
            </a:r>
            <a:r>
              <a:rPr lang="zh-TW" altLang="en-US" sz="4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用戶</a:t>
            </a:r>
            <a:r>
              <a:rPr lang="zh-TW" altLang="en-US" sz="4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的第一方數據：</a:t>
            </a:r>
            <a:endParaRPr lang="en-US" altLang="zh-TW" sz="40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☎傳統的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用戶資料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建檔、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問卷調查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網頁的瀏覽行為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等的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數據追蹤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</a:t>
            </a:r>
            <a:r>
              <a:rPr lang="zh-CN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電商交易數據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</a:t>
            </a:r>
            <a:r>
              <a:rPr lang="en-US" altLang="zh-TW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應用程式瀏覽行為</a:t>
            </a:r>
            <a:r>
              <a:rPr lang="zh-CN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數據的追蹤、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物聯網</a:t>
            </a:r>
            <a:r>
              <a:rPr lang="en-US" altLang="zh-TW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IoT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設備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傳遞的數據等，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en-US" altLang="zh-CN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來自</a:t>
            </a:r>
            <a:r>
              <a:rPr lang="zh-TW" altLang="en-US" sz="48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用戶</a:t>
            </a:r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的第一方數據</a:t>
            </a:r>
            <a:endParaRPr lang="zh-TW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263033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700808"/>
            <a:ext cx="8686800" cy="4716760"/>
          </a:xfrm>
        </p:spPr>
        <p:txBody>
          <a:bodyPr>
            <a:noAutofit/>
          </a:bodyPr>
          <a:lstStyle/>
          <a:p>
            <a:r>
              <a:rPr lang="zh-TW" altLang="en-US" sz="3200" b="1" dirty="0">
                <a:effectLst/>
              </a:rPr>
              <a:t>☎第二方數據 </a:t>
            </a:r>
            <a:r>
              <a:rPr lang="zh-CN" altLang="en-US" sz="3200" b="1" dirty="0">
                <a:effectLst/>
              </a:rPr>
              <a:t>，</a:t>
            </a:r>
            <a:r>
              <a:rPr lang="zh-TW" altLang="en-US" sz="3200" b="1" dirty="0">
                <a:effectLst/>
              </a:rPr>
              <a:t>也稱為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第二方</a:t>
            </a:r>
            <a:r>
              <a:rPr lang="zh-CN" altLang="en-US" sz="3200" b="1" dirty="0">
                <a:effectLst/>
              </a:rPr>
              <a:t>，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或 </a:t>
            </a:r>
            <a:r>
              <a:rPr lang="en-US" altLang="zh-TW" sz="3200" b="1" dirty="0">
                <a:solidFill>
                  <a:srgbClr val="C00000"/>
                </a:solidFill>
                <a:effectLst/>
              </a:rPr>
              <a:t>2P 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數據</a:t>
            </a:r>
            <a:endParaRPr lang="en-US" altLang="zh-TW" sz="3200" b="1" dirty="0">
              <a:solidFill>
                <a:srgbClr val="C00000"/>
              </a:solidFill>
              <a:effectLst/>
            </a:endParaRPr>
          </a:p>
          <a:p>
            <a:r>
              <a:rPr lang="zh-TW" altLang="en-US" sz="3200" b="1" dirty="0">
                <a:effectLst/>
              </a:rPr>
              <a:t>☎是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另一個同行公司收集的數據</a:t>
            </a:r>
            <a:r>
              <a:rPr lang="zh-TW" altLang="en-US" sz="3200" b="1" dirty="0">
                <a:effectLst/>
              </a:rPr>
              <a:t>，但可由另一家公司通過購買或協作訪問。</a:t>
            </a:r>
            <a:endParaRPr lang="en-US" altLang="zh-TW" sz="3200" b="1" dirty="0">
              <a:effectLst/>
            </a:endParaRPr>
          </a:p>
          <a:p>
            <a:r>
              <a:rPr lang="zh-TW" altLang="en-US" sz="3200" dirty="0">
                <a:effectLst/>
              </a:rPr>
              <a:t>☎營銷人員在希望擴展其營銷資料庫以吸引新的潛在客戶時，通常會購買它。</a:t>
            </a:r>
            <a:endParaRPr lang="en-US" altLang="zh-TW" sz="3200" dirty="0">
              <a:effectLst/>
            </a:endParaRPr>
          </a:p>
          <a:p>
            <a:r>
              <a:rPr lang="zh-TW" altLang="en-US" sz="3200" b="1" dirty="0">
                <a:effectLst/>
              </a:rPr>
              <a:t>☎例如</a:t>
            </a:r>
            <a:r>
              <a:rPr lang="zh-TW" altLang="en-US" sz="3200" dirty="0">
                <a:effectLst/>
              </a:rPr>
              <a:t>，如果一個為女性製作的服裝品牌決定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增加一個男裝系列</a:t>
            </a:r>
            <a:r>
              <a:rPr lang="zh-TW" altLang="en-US" sz="3200" dirty="0">
                <a:effectLst/>
              </a:rPr>
              <a:t>，並且需要相關的目標來行銷，就可以向外同行公司購買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男裝的數據資料庫</a:t>
            </a:r>
            <a:endParaRPr lang="en-US" altLang="zh-TW" sz="44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en-US" altLang="zh-CN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透過交換共享得到的第二方數據</a:t>
            </a:r>
            <a:endParaRPr lang="zh-TW" altLang="zh-TW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52942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72816"/>
            <a:ext cx="8686800" cy="4716760"/>
          </a:xfrm>
        </p:spPr>
        <p:txBody>
          <a:bodyPr>
            <a:noAutofit/>
          </a:bodyPr>
          <a:lstStyle/>
          <a:p>
            <a:r>
              <a:rPr lang="zh-TW" altLang="en-US" sz="3600" b="1" dirty="0">
                <a:effectLst/>
              </a:rPr>
              <a:t>☎第三方數據 </a:t>
            </a:r>
            <a:r>
              <a:rPr lang="zh-CN" altLang="en-US" sz="3600" b="1" dirty="0">
                <a:effectLst/>
              </a:rPr>
              <a:t>，</a:t>
            </a:r>
            <a:r>
              <a:rPr lang="zh-TW" altLang="en-US" sz="3600" b="1" dirty="0">
                <a:effectLst/>
              </a:rPr>
              <a:t>也稱為</a:t>
            </a:r>
            <a:r>
              <a:rPr lang="zh-TW" altLang="en-US" sz="3600" b="1" dirty="0">
                <a:solidFill>
                  <a:srgbClr val="C00000"/>
                </a:solidFill>
                <a:effectLst/>
              </a:rPr>
              <a:t>第三方</a:t>
            </a:r>
            <a:r>
              <a:rPr lang="zh-CN" altLang="en-US" sz="3600" b="1" dirty="0">
                <a:effectLst/>
              </a:rPr>
              <a:t>，</a:t>
            </a:r>
            <a:r>
              <a:rPr lang="zh-TW" altLang="en-US" sz="3600" b="1" dirty="0">
                <a:effectLst/>
              </a:rPr>
              <a:t>或</a:t>
            </a:r>
            <a:r>
              <a:rPr lang="en-US" altLang="zh-TW" sz="3600" b="1" dirty="0">
                <a:solidFill>
                  <a:srgbClr val="C00000"/>
                </a:solidFill>
                <a:effectLst/>
              </a:rPr>
              <a:t>3P</a:t>
            </a:r>
            <a:r>
              <a:rPr lang="zh-TW" altLang="en-US" sz="3600" b="1" dirty="0">
                <a:solidFill>
                  <a:srgbClr val="C00000"/>
                </a:solidFill>
                <a:effectLst/>
              </a:rPr>
              <a:t>數據</a:t>
            </a:r>
            <a:endParaRPr lang="en-US" altLang="zh-TW" sz="3600" b="1" dirty="0">
              <a:solidFill>
                <a:srgbClr val="C00000"/>
              </a:solidFill>
              <a:effectLst/>
            </a:endParaRPr>
          </a:p>
          <a:p>
            <a:r>
              <a:rPr lang="zh-TW" altLang="en-US" sz="3600" b="1" dirty="0">
                <a:effectLst/>
              </a:rPr>
              <a:t>是來自第三方的數據，該第三方</a:t>
            </a:r>
            <a:r>
              <a:rPr lang="zh-TW" altLang="en-US" sz="3600" b="1" dirty="0">
                <a:solidFill>
                  <a:srgbClr val="C00000"/>
                </a:solidFill>
                <a:effectLst/>
              </a:rPr>
              <a:t>已聚合了多個數據源</a:t>
            </a:r>
            <a:r>
              <a:rPr lang="zh-TW" altLang="en-US" sz="3600" b="1" dirty="0">
                <a:effectLst/>
              </a:rPr>
              <a:t>並使其可供購買。</a:t>
            </a:r>
            <a:endParaRPr lang="en-US" altLang="zh-TW" sz="3600" b="1" dirty="0">
              <a:effectLst/>
            </a:endParaRPr>
          </a:p>
          <a:p>
            <a:r>
              <a:rPr lang="zh-TW" altLang="en-US" sz="3600" b="1" dirty="0">
                <a:effectLst/>
              </a:rPr>
              <a:t>☎第三方數據的缺點：</a:t>
            </a:r>
            <a:endParaRPr lang="en-US" altLang="zh-TW" sz="36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是它可能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缺乏準確性和品質</a:t>
            </a:r>
            <a:r>
              <a:rPr lang="zh-TW" altLang="en-US" sz="3200" b="1" dirty="0">
                <a:effectLst/>
              </a:rPr>
              <a:t>，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因此重要的是了解數據來自何處以及數據使用年限</a:t>
            </a:r>
            <a:r>
              <a:rPr lang="en-US" altLang="zh-TW" sz="3200" b="1" dirty="0">
                <a:effectLst/>
              </a:rPr>
              <a:t>.</a:t>
            </a:r>
            <a:endParaRPr lang="en-US" altLang="zh-TW" sz="50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458200" cy="1265238"/>
          </a:xfrm>
        </p:spPr>
        <p:txBody>
          <a:bodyPr>
            <a:noAutofit/>
          </a:bodyPr>
          <a:lstStyle/>
          <a:p>
            <a:pPr algn="ctr"/>
            <a:r>
              <a:rPr lang="en-US" altLang="zh-CN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任何與商業需求有關的</a:t>
            </a:r>
            <a:r>
              <a:rPr lang="zh-TW" altLang="en-US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第三方</a:t>
            </a:r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</a:t>
            </a:r>
            <a:endParaRPr lang="zh-TW" altLang="zh-TW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525719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20" y="1556792"/>
            <a:ext cx="8942359" cy="4716760"/>
          </a:xfrm>
        </p:spPr>
        <p:txBody>
          <a:bodyPr>
            <a:noAutofit/>
          </a:bodyPr>
          <a:lstStyle/>
          <a:p>
            <a:r>
              <a:rPr lang="zh-TW" altLang="en-US" sz="3600" b="1" dirty="0">
                <a:effectLst/>
              </a:rPr>
              <a:t>方數據之間的</a:t>
            </a:r>
            <a:r>
              <a:rPr lang="zh-TW" altLang="en-US" sz="3600" b="1" dirty="0">
                <a:solidFill>
                  <a:srgbClr val="C00000"/>
                </a:solidFill>
                <a:effectLst/>
              </a:rPr>
              <a:t>主要區別</a:t>
            </a:r>
            <a:r>
              <a:rPr lang="zh-TW" altLang="en-US" sz="3600" b="1" dirty="0">
                <a:effectLst/>
              </a:rPr>
              <a:t>在於：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4400" b="1" dirty="0">
                <a:solidFill>
                  <a:srgbClr val="C00000"/>
                </a:solidFill>
                <a:effectLst/>
              </a:rPr>
              <a:t>來源</a:t>
            </a:r>
            <a:r>
              <a:rPr lang="en-US" altLang="zh-TW" sz="3200" b="1" dirty="0">
                <a:effectLst/>
              </a:rPr>
              <a:t>』</a:t>
            </a:r>
            <a:r>
              <a:rPr lang="zh-CN" altLang="en-US" sz="3200" b="1" dirty="0">
                <a:effectLst/>
              </a:rPr>
              <a:t>：</a:t>
            </a:r>
            <a:endParaRPr lang="en-US" altLang="zh-CN" sz="32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☎第一方數據：由其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存儲</a:t>
            </a:r>
            <a:r>
              <a:rPr lang="en-US" altLang="zh-TW" sz="3200" b="1" dirty="0">
                <a:solidFill>
                  <a:srgbClr val="C00000"/>
                </a:solidFill>
                <a:effectLst/>
              </a:rPr>
              <a:t>/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擁有的公司</a:t>
            </a:r>
            <a:r>
              <a:rPr lang="en-US" altLang="zh-TW" sz="3200" b="1" dirty="0">
                <a:effectLst/>
              </a:rPr>
              <a:t>』</a:t>
            </a:r>
            <a:r>
              <a:rPr lang="zh-TW" altLang="en-US" sz="3200" b="1" dirty="0">
                <a:effectLst/>
              </a:rPr>
              <a:t>收集。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☎第二方數據：由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同行公司</a:t>
            </a:r>
            <a:r>
              <a:rPr lang="en-US" altLang="zh-TW" sz="3200" b="1" dirty="0">
                <a:effectLst/>
              </a:rPr>
              <a:t>』</a:t>
            </a:r>
            <a:r>
              <a:rPr lang="zh-TW" altLang="en-US" sz="3200" b="1" dirty="0">
                <a:effectLst/>
              </a:rPr>
              <a:t>收集，並由另一家公司購買（或通過合作協定與他們共用）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☎第三方數據：是從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多個未知來源</a:t>
            </a:r>
            <a:r>
              <a:rPr lang="en-US" altLang="zh-TW" sz="3200" b="1" dirty="0">
                <a:effectLst/>
              </a:rPr>
              <a:t>』</a:t>
            </a:r>
            <a:r>
              <a:rPr lang="zh-TW" altLang="en-US" sz="3200" b="1" dirty="0">
                <a:effectLst/>
              </a:rPr>
              <a:t>收集的，並由一家公司購買。</a:t>
            </a:r>
            <a:endParaRPr lang="en-US" altLang="zh-TW" sz="54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6415"/>
            <a:ext cx="8458200" cy="944777"/>
          </a:xfrm>
        </p:spPr>
        <p:txBody>
          <a:bodyPr>
            <a:no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比較：第一方、第二方和第三方數據之間的差別</a:t>
            </a:r>
            <a:endParaRPr lang="zh-TW" altLang="zh-TW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6869305"/>
      </p:ext>
    </p:extLst>
  </p:cSld>
  <p:clrMapOvr>
    <a:masterClrMapping/>
  </p:clrMapOvr>
</p:sld>
</file>

<file path=ppt/theme/theme1.xml><?xml version="1.0" encoding="utf-8"?>
<a:theme xmlns:a="http://schemas.openxmlformats.org/drawingml/2006/main" name="EdBackToSchl(2)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21873A"/>
      </a:hlink>
      <a:folHlink>
        <a:srgbClr val="717E00"/>
      </a:folHlink>
    </a:clrScheme>
    <a:fontScheme name="School Presentation">
      <a:majorFont>
        <a:latin typeface="Bookman Old Style"/>
        <a:ea typeface=""/>
        <a:cs typeface=""/>
      </a:majorFont>
      <a:minorFont>
        <a:latin typeface="Segoe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A7A3A1A-66C2-44A9-B26B-C232E3FA40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EdBackToSchl(2)</Template>
  <TotalTime>0</TotalTime>
  <Words>4252</Words>
  <Application>Microsoft Office PowerPoint</Application>
  <PresentationFormat>如螢幕大小 (4:3)</PresentationFormat>
  <Paragraphs>576</Paragraphs>
  <Slides>91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91</vt:i4>
      </vt:variant>
    </vt:vector>
  </HeadingPairs>
  <TitlesOfParts>
    <vt:vector size="100" baseType="lpstr">
      <vt:lpstr>Segoe Condensed</vt:lpstr>
      <vt:lpstr>微軟正黑體</vt:lpstr>
      <vt:lpstr>標楷體</vt:lpstr>
      <vt:lpstr>Arial</vt:lpstr>
      <vt:lpstr>Arial</vt:lpstr>
      <vt:lpstr>Bookman Old Style</vt:lpstr>
      <vt:lpstr>Calibri</vt:lpstr>
      <vt:lpstr>Times New Roman</vt:lpstr>
      <vt:lpstr>EdBackToSchl(2)</vt:lpstr>
      <vt:lpstr>台北科技大學，經管系，陳擎文 </vt:lpstr>
      <vt:lpstr>重點</vt:lpstr>
      <vt:lpstr>PowerPoint 簡報</vt:lpstr>
      <vt:lpstr>PowerPoint 簡報</vt:lpstr>
      <vt:lpstr>數據分析三部曲</vt:lpstr>
      <vt:lpstr>資料分析相關的工作職稱</vt:lpstr>
      <vt:lpstr>PowerPoint 簡報</vt:lpstr>
      <vt:lpstr>PowerPoint 簡報</vt:lpstr>
      <vt:lpstr>要學pandas數據分析 的第1個理由</vt:lpstr>
      <vt:lpstr>要學pandas數據分析 的第1個理由</vt:lpstr>
      <vt:lpstr>PowerPoint 簡報</vt:lpstr>
      <vt:lpstr>不同性別的銷售數量，銷售金額</vt:lpstr>
      <vt:lpstr>各個業務單位的總銷售金額 和總銷售數量</vt:lpstr>
      <vt:lpstr>比較不同性別，不同產品的比較圖</vt:lpstr>
      <vt:lpstr>比較不同業務單位，不同產品的比較圖</vt:lpstr>
      <vt:lpstr>比較不同業務單位，不同產品的比較圖</vt:lpstr>
      <vt:lpstr>比較不同業務員，不同產品的比較圖</vt:lpstr>
      <vt:lpstr>比較不同業務員，不同產品的比較圖</vt:lpstr>
      <vt:lpstr>比較，分析不同業務單位，不同性別的銷售金額</vt:lpstr>
      <vt:lpstr>PowerPoint 簡報</vt:lpstr>
      <vt:lpstr>商管的量化分析工具</vt:lpstr>
      <vt:lpstr>數據量化分析常用工具： 1.python/pandas，2.SQL，3.power BI，tableau，4.AI</vt:lpstr>
      <vt:lpstr>數據量化分析常用工具： 1.python/pandas，2.SQL，3.power BI，tableau，4.AI</vt:lpstr>
      <vt:lpstr>PowerPoint 簡報</vt:lpstr>
      <vt:lpstr>2020調查，使用度最高的程式</vt:lpstr>
      <vt:lpstr>2016年工作職缺需要的程式工具</vt:lpstr>
      <vt:lpstr>PowerPoint 簡報</vt:lpstr>
      <vt:lpstr>Pandas是進入AI人工智慧程式分析的基礎語言</vt:lpstr>
      <vt:lpstr>PowerPoint 簡報</vt:lpstr>
      <vt:lpstr>是否要選修這門課的第1個考量</vt:lpstr>
      <vt:lpstr>是否要選修這門課的第2個考量</vt:lpstr>
      <vt:lpstr>是否要選修這門課的第3個考量</vt:lpstr>
      <vt:lpstr>PowerPoint 簡報</vt:lpstr>
      <vt:lpstr>這門課要不要選修？</vt:lpstr>
      <vt:lpstr>這門課要不要選修？</vt:lpstr>
      <vt:lpstr>這門課要不要選修？</vt:lpstr>
      <vt:lpstr>這門課要不要選修？</vt:lpstr>
      <vt:lpstr>PowerPoint 簡報</vt:lpstr>
      <vt:lpstr>之前系上學生的學習狀況</vt:lpstr>
      <vt:lpstr>PowerPoint 簡報</vt:lpstr>
      <vt:lpstr>PowerPoint 簡報</vt:lpstr>
      <vt:lpstr>PowerPoint 簡報</vt:lpstr>
      <vt:lpstr>近年來熱門的職業</vt:lpstr>
      <vt:lpstr>熱門的原因</vt:lpstr>
      <vt:lpstr>PowerPoint 簡報</vt:lpstr>
      <vt:lpstr>PowerPoint 簡報</vt:lpstr>
      <vt:lpstr>數據分析師Data Analyst </vt:lpstr>
      <vt:lpstr>數據分析師Data Analyst </vt:lpstr>
      <vt:lpstr>數據分析師Data Analyst </vt:lpstr>
      <vt:lpstr>數據分析師Data Analyst </vt:lpstr>
      <vt:lpstr>數據分析師Data Analyst </vt:lpstr>
      <vt:lpstr>美國的職業評比排名</vt:lpstr>
      <vt:lpstr>美國的職業評比排名</vt:lpstr>
      <vt:lpstr>PowerPoint 簡報</vt:lpstr>
      <vt:lpstr>商業數據分析的2種主要技術：</vt:lpstr>
      <vt:lpstr>PowerPoint 簡報</vt:lpstr>
      <vt:lpstr>學習python分析數據的2種方式</vt:lpstr>
      <vt:lpstr>PowerPoint 簡報</vt:lpstr>
      <vt:lpstr>python分析數據的2種方式</vt:lpstr>
      <vt:lpstr>數據分析的進階參考書</vt:lpstr>
      <vt:lpstr>PowerPoint 簡報</vt:lpstr>
      <vt:lpstr>教科書：一行指令學Python－用Pandas掌握商務大數據分析</vt:lpstr>
      <vt:lpstr>老師補充資料</vt:lpstr>
      <vt:lpstr>進階課程，都是預測分析，演算法</vt:lpstr>
      <vt:lpstr>PowerPoint 簡報</vt:lpstr>
      <vt:lpstr>本學期的評分方式</vt:lpstr>
      <vt:lpstr>教科書：一行指令學Python－用Pandas掌握商務大數據分析</vt:lpstr>
      <vt:lpstr>PowerPoint 簡報</vt:lpstr>
      <vt:lpstr>系上所規劃的 資訊相關課程</vt:lpstr>
      <vt:lpstr>系上所規劃的 資訊相關課程</vt:lpstr>
      <vt:lpstr>PowerPoint 簡報</vt:lpstr>
      <vt:lpstr>完整的商業程式分析 包括二個部分</vt:lpstr>
      <vt:lpstr>進階課程，都是預測分析，演算法</vt:lpstr>
      <vt:lpstr>商業數據預測的相關課程(付費)</vt:lpstr>
      <vt:lpstr>對應的工作職缺 Data Engineer， Data Analyst， Data Scientist</vt:lpstr>
      <vt:lpstr>對應的工作職缺 Data Engineer， Data Analyst， Data Scientist</vt:lpstr>
      <vt:lpstr>系上所規劃的資訊相關課程</vt:lpstr>
      <vt:lpstr>現在演化的工作職缺</vt:lpstr>
      <vt:lpstr>現在演化的工作職缺</vt:lpstr>
      <vt:lpstr>PowerPoint 簡報</vt:lpstr>
      <vt:lpstr>Python在商業分析上的優勢</vt:lpstr>
      <vt:lpstr>Python在商業分析上的優勢</vt:lpstr>
      <vt:lpstr>Python在商業分析上的優勢</vt:lpstr>
      <vt:lpstr>Python在商業分析上的優勢</vt:lpstr>
      <vt:lpstr>PowerPoint 簡報</vt:lpstr>
      <vt:lpstr>數據分析熱門的原因</vt:lpstr>
      <vt:lpstr>非常多元的資料來源</vt:lpstr>
      <vt:lpstr>1.來自用戶的第一方數據</vt:lpstr>
      <vt:lpstr>2. 透過交換共享得到的第二方數據</vt:lpstr>
      <vt:lpstr>3. 任何與商業需求有關的第三方數據</vt:lpstr>
      <vt:lpstr>比較：第一方、第二方和第三方數據之間的差別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2012-02-02T03:26:32Z</dcterms:created>
  <dcterms:modified xsi:type="dcterms:W3CDTF">2024-01-26T18:00:40Z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TC101659619990</vt:lpwstr>
  </property>
</Properties>
</file>