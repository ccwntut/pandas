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bookmarkIdSeed="2">
  <p:sldMasterIdLst>
    <p:sldMasterId id="2147483648" r:id="rId2"/>
  </p:sldMasterIdLst>
  <p:notesMasterIdLst>
    <p:notesMasterId r:id="rId108"/>
  </p:notesMasterIdLst>
  <p:handoutMasterIdLst>
    <p:handoutMasterId r:id="rId109"/>
  </p:handoutMasterIdLst>
  <p:sldIdLst>
    <p:sldId id="256" r:id="rId3"/>
    <p:sldId id="973" r:id="rId4"/>
    <p:sldId id="565" r:id="rId5"/>
    <p:sldId id="575" r:id="rId6"/>
    <p:sldId id="576" r:id="rId7"/>
    <p:sldId id="577" r:id="rId8"/>
    <p:sldId id="566" r:id="rId9"/>
    <p:sldId id="929" r:id="rId10"/>
    <p:sldId id="578" r:id="rId11"/>
    <p:sldId id="579" r:id="rId12"/>
    <p:sldId id="968" r:id="rId13"/>
    <p:sldId id="965" r:id="rId14"/>
    <p:sldId id="846" r:id="rId15"/>
    <p:sldId id="847" r:id="rId16"/>
    <p:sldId id="945" r:id="rId17"/>
    <p:sldId id="966" r:id="rId18"/>
    <p:sldId id="946" r:id="rId19"/>
    <p:sldId id="967" r:id="rId20"/>
    <p:sldId id="947" r:id="rId21"/>
    <p:sldId id="969" r:id="rId22"/>
    <p:sldId id="928" r:id="rId23"/>
    <p:sldId id="587" r:id="rId24"/>
    <p:sldId id="588" r:id="rId25"/>
    <p:sldId id="970" r:id="rId26"/>
    <p:sldId id="989" r:id="rId27"/>
    <p:sldId id="991" r:id="rId28"/>
    <p:sldId id="992" r:id="rId29"/>
    <p:sldId id="993" r:id="rId30"/>
    <p:sldId id="994" r:id="rId31"/>
    <p:sldId id="995" r:id="rId32"/>
    <p:sldId id="996" r:id="rId33"/>
    <p:sldId id="997" r:id="rId34"/>
    <p:sldId id="998" r:id="rId35"/>
    <p:sldId id="999" r:id="rId36"/>
    <p:sldId id="1000" r:id="rId37"/>
    <p:sldId id="1001" r:id="rId38"/>
    <p:sldId id="971" r:id="rId39"/>
    <p:sldId id="972" r:id="rId40"/>
    <p:sldId id="567" r:id="rId41"/>
    <p:sldId id="974" r:id="rId42"/>
    <p:sldId id="975" r:id="rId43"/>
    <p:sldId id="976" r:id="rId44"/>
    <p:sldId id="842" r:id="rId45"/>
    <p:sldId id="840" r:id="rId46"/>
    <p:sldId id="843" r:id="rId47"/>
    <p:sldId id="848" r:id="rId48"/>
    <p:sldId id="844" r:id="rId49"/>
    <p:sldId id="977" r:id="rId50"/>
    <p:sldId id="978" r:id="rId51"/>
    <p:sldId id="988" r:id="rId52"/>
    <p:sldId id="979" r:id="rId53"/>
    <p:sldId id="980" r:id="rId54"/>
    <p:sldId id="568" r:id="rId55"/>
    <p:sldId id="845" r:id="rId56"/>
    <p:sldId id="496" r:id="rId57"/>
    <p:sldId id="497" r:id="rId58"/>
    <p:sldId id="340" r:id="rId59"/>
    <p:sldId id="498" r:id="rId60"/>
    <p:sldId id="503" r:id="rId61"/>
    <p:sldId id="543" r:id="rId62"/>
    <p:sldId id="507" r:id="rId63"/>
    <p:sldId id="506" r:id="rId64"/>
    <p:sldId id="553" r:id="rId65"/>
    <p:sldId id="522" r:id="rId66"/>
    <p:sldId id="564" r:id="rId67"/>
    <p:sldId id="263" r:id="rId68"/>
    <p:sldId id="264" r:id="rId69"/>
    <p:sldId id="544" r:id="rId70"/>
    <p:sldId id="509" r:id="rId71"/>
    <p:sldId id="545" r:id="rId72"/>
    <p:sldId id="510" r:id="rId73"/>
    <p:sldId id="583" r:id="rId74"/>
    <p:sldId id="592" r:id="rId75"/>
    <p:sldId id="591" r:id="rId76"/>
    <p:sldId id="590" r:id="rId77"/>
    <p:sldId id="593" r:id="rId78"/>
    <p:sldId id="594" r:id="rId79"/>
    <p:sldId id="595" r:id="rId80"/>
    <p:sldId id="596" r:id="rId81"/>
    <p:sldId id="606" r:id="rId82"/>
    <p:sldId id="597" r:id="rId83"/>
    <p:sldId id="598" r:id="rId84"/>
    <p:sldId id="599" r:id="rId85"/>
    <p:sldId id="600" r:id="rId86"/>
    <p:sldId id="601" r:id="rId87"/>
    <p:sldId id="602" r:id="rId88"/>
    <p:sldId id="603" r:id="rId89"/>
    <p:sldId id="546" r:id="rId90"/>
    <p:sldId id="511" r:id="rId91"/>
    <p:sldId id="512" r:id="rId92"/>
    <p:sldId id="547" r:id="rId93"/>
    <p:sldId id="513" r:id="rId94"/>
    <p:sldId id="514" r:id="rId95"/>
    <p:sldId id="563" r:id="rId96"/>
    <p:sldId id="981" r:id="rId97"/>
    <p:sldId id="982" r:id="rId98"/>
    <p:sldId id="619" r:id="rId99"/>
    <p:sldId id="517" r:id="rId100"/>
    <p:sldId id="983" r:id="rId101"/>
    <p:sldId id="661" r:id="rId102"/>
    <p:sldId id="662" r:id="rId103"/>
    <p:sldId id="663" r:id="rId104"/>
    <p:sldId id="664" r:id="rId105"/>
    <p:sldId id="665" r:id="rId106"/>
    <p:sldId id="580" r:id="rId107"/>
  </p:sldIdLst>
  <p:sldSz cx="9144000" cy="6858000" type="screen4x3"/>
  <p:notesSz cx="6858000" cy="9144000"/>
  <p:defaultTextStyle>
    <a:defPPr>
      <a:defRPr lang="en-US"/>
    </a:defPPr>
    <a:lvl1pPr marL="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45" autoAdjust="0"/>
    <p:restoredTop sz="93977" autoAdjust="0"/>
  </p:normalViewPr>
  <p:slideViewPr>
    <p:cSldViewPr>
      <p:cViewPr varScale="1">
        <p:scale>
          <a:sx n="61" d="100"/>
          <a:sy n="61" d="100"/>
        </p:scale>
        <p:origin x="128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40" d="100"/>
          <a:sy n="40" d="100"/>
        </p:scale>
        <p:origin x="-1579" y="-8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theme" Target="theme/theme1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tableStyles" Target="tableStyles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notesMaster" Target="notesMasters/notesMaster1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handoutMaster" Target="handoutMasters/handoutMaster1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1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presProps" Target="presProps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 latinLnBrk="0">
              <a:defRPr lang="zh-TW" sz="1200"/>
            </a:lvl1pPr>
          </a:lstStyle>
          <a:p>
            <a:endParaRPr lang="zh-TW" dirty="0"/>
          </a:p>
        </p:txBody>
      </p:sp>
      <p:sp>
        <p:nvSpPr>
          <p:cNvPr id="3" name="Rectangl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 latinLnBrk="0">
              <a:defRPr lang="zh-TW" sz="1200"/>
            </a:lvl1pPr>
          </a:lstStyle>
          <a:p>
            <a:fld id="{9472DD5C-B6A9-4714-908F-0B8F74738B98}" type="datetimeFigureOut">
              <a:rPr lang="en-US" altLang="zh-TW" smtClean="0"/>
              <a:pPr/>
              <a:t>2/2/2024</a:t>
            </a:fld>
            <a:endParaRPr lang="zh-TW" dirty="0"/>
          </a:p>
        </p:txBody>
      </p:sp>
      <p:sp>
        <p:nvSpPr>
          <p:cNvPr id="4" name="Rectangl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 latinLnBrk="0">
              <a:defRPr lang="zh-TW" sz="1200"/>
            </a:lvl1pPr>
          </a:lstStyle>
          <a:p>
            <a:endParaRPr lang="zh-TW" dirty="0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 latinLnBrk="0">
              <a:defRPr lang="zh-TW" sz="1200"/>
            </a:lvl1pPr>
          </a:lstStyle>
          <a:p>
            <a:fld id="{7C1C90DE-A98B-4173-B17E-434F189FC4DB}" type="slidenum">
              <a:rPr lang="zh-TW" smtClean="0"/>
              <a:pPr/>
              <a:t>‹#›</a:t>
            </a:fld>
            <a:endParaRPr lang="zh-TW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 latinLnBrk="0">
              <a:defRPr lang="zh-TW" sz="1200"/>
            </a:lvl1pPr>
          </a:lstStyle>
          <a:p>
            <a:endParaRPr lang="zh-TW"/>
          </a:p>
        </p:txBody>
      </p:sp>
      <p:sp>
        <p:nvSpPr>
          <p:cNvPr id="3" name="Rectangl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 latinLnBrk="0">
              <a:defRPr lang="zh-TW" sz="1200"/>
            </a:lvl1pPr>
          </a:lstStyle>
          <a:p>
            <a:fld id="{193366E8-8A22-4400-BBA2-8D322280A6E8}" type="datetimeFigureOut">
              <a:rPr lang="zh-TW" altLang="en-US"/>
              <a:pPr/>
              <a:t>2024/2/2</a:t>
            </a:fld>
            <a:endParaRPr lang="zh-TW"/>
          </a:p>
        </p:txBody>
      </p:sp>
      <p:sp>
        <p:nvSpPr>
          <p:cNvPr id="4" name="Rectangl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zh-TW"/>
          </a:p>
        </p:txBody>
      </p:sp>
      <p:sp>
        <p:nvSpPr>
          <p:cNvPr id="5" name="Rectangl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</a:p>
        </p:txBody>
      </p:sp>
      <p:sp>
        <p:nvSpPr>
          <p:cNvPr id="6" name="Rectangl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 latinLnBrk="0">
              <a:defRPr lang="zh-TW" sz="1200"/>
            </a:lvl1pPr>
          </a:lstStyle>
          <a:p>
            <a:endParaRPr lang="zh-TW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 latinLnBrk="0">
              <a:defRPr lang="zh-TW" sz="1200"/>
            </a:lvl1pPr>
          </a:lstStyle>
          <a:p>
            <a:fld id="{3792D2CF-A01B-4515-8B40-3DC34258267A}" type="slidenum">
              <a:rPr/>
              <a:pPr/>
              <a:t>‹#›</a:t>
            </a:fld>
            <a:endParaRPr 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rtl="0" latinLnBrk="0">
      <a:defRPr lang="zh-TW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lang="zh-TW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lang="zh-TW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lang="zh-TW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lang="zh-TW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lang="zh-TW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lang="zh-TW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lang="zh-TW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lang="zh-TW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92D2CF-A01B-4515-8B40-3DC34258267A}" type="slidenum">
              <a:rPr lang="zh-TW" smtClean="0"/>
              <a:pPr/>
              <a:t>1</a:t>
            </a:fld>
            <a:endParaRPr lang="zh-TW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標題投影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74" y="0"/>
            <a:ext cx="9144000" cy="6858000"/>
            <a:chOff x="-1574" y="0"/>
            <a:chExt cx="9144000" cy="6858000"/>
          </a:xfrm>
        </p:grpSpPr>
        <p:pic>
          <p:nvPicPr>
            <p:cNvPr id="7" name="Rectangle 6"/>
            <p:cNvPicPr>
              <a:picLocks noChangeAspect="1"/>
            </p:cNvPicPr>
            <p:nvPr/>
          </p:nvPicPr>
          <p:blipFill>
            <a:blip r:embed="rId2" cstate="print">
              <a:duotone>
                <a:schemeClr val="accent1"/>
                <a:srgbClr val="FFFFFF"/>
              </a:duotone>
              <a:lum bright="-10000"/>
            </a:blip>
            <a:stretch>
              <a:fillRect/>
            </a:stretch>
          </p:blipFill>
          <p:spPr>
            <a:xfrm>
              <a:off x="-1574" y="381000"/>
              <a:ext cx="9144000" cy="60936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Rectangle 10"/>
            <p:cNvSpPr/>
            <p:nvPr userDrawn="1"/>
          </p:nvSpPr>
          <p:spPr>
            <a:xfrm>
              <a:off x="-1574" y="0"/>
              <a:ext cx="9144000" cy="304800"/>
            </a:xfrm>
            <a:prstGeom prst="rect">
              <a:avLst/>
            </a:prstGeom>
            <a:solidFill>
              <a:schemeClr val="bg2"/>
            </a:solidFill>
            <a:ln w="25400" cap="rnd" cmpd="sng" algn="ctr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-1574" y="6553200"/>
              <a:ext cx="9144000" cy="304800"/>
            </a:xfrm>
            <a:prstGeom prst="rect">
              <a:avLst/>
            </a:prstGeom>
            <a:solidFill>
              <a:schemeClr val="bg2"/>
            </a:solidFill>
            <a:ln w="25400" cap="rnd" cmpd="sng" algn="ctr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/>
            </a:p>
          </p:txBody>
        </p:sp>
        <p:cxnSp>
          <p:nvCxnSpPr>
            <p:cNvPr id="15" name="Straight Connector 14"/>
            <p:cNvCxnSpPr/>
            <p:nvPr/>
          </p:nvCxnSpPr>
          <p:spPr>
            <a:xfrm>
              <a:off x="-1574" y="381000"/>
              <a:ext cx="9144000" cy="1588"/>
            </a:xfrm>
            <a:prstGeom prst="line">
              <a:avLst/>
            </a:prstGeom>
            <a:ln w="38100" cap="flat" cmpd="sng" algn="ctr">
              <a:solidFill>
                <a:schemeClr val="accent1">
                  <a:shade val="75000"/>
                </a:schemeClr>
              </a:solidFill>
              <a:prstDash val="solid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-1574" y="6477000"/>
              <a:ext cx="9144000" cy="1588"/>
            </a:xfrm>
            <a:prstGeom prst="line">
              <a:avLst/>
            </a:prstGeom>
            <a:ln w="38100" cap="flat" cmpd="sng" algn="ctr">
              <a:solidFill>
                <a:schemeClr val="accent1">
                  <a:shade val="75000"/>
                </a:schemeClr>
              </a:solidFill>
              <a:prstDash val="solid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Shape 20"/>
          <p:cNvSpPr>
            <a:spLocks noGrp="1"/>
          </p:cNvSpPr>
          <p:nvPr>
            <p:ph type="title"/>
          </p:nvPr>
        </p:nvSpPr>
        <p:spPr>
          <a:xfrm>
            <a:off x="704850" y="4495800"/>
            <a:ext cx="7772400" cy="1362075"/>
          </a:xfrm>
          <a:prstGeom prst="rect">
            <a:avLst/>
          </a:prstGeom>
        </p:spPr>
        <p:txBody>
          <a:bodyPr anchor="t"/>
          <a:lstStyle>
            <a:lvl1pPr algn="ctr" latinLnBrk="0">
              <a:defRPr lang="zh-TW" sz="4000" b="0" cap="none" baseline="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Shape 2"/>
          <p:cNvSpPr>
            <a:spLocks noGrp="1"/>
          </p:cNvSpPr>
          <p:nvPr>
            <p:ph type="subTitle" idx="1"/>
          </p:nvPr>
        </p:nvSpPr>
        <p:spPr>
          <a:xfrm>
            <a:off x="1371600" y="2667000"/>
            <a:ext cx="6400800" cy="1752600"/>
          </a:xfrm>
        </p:spPr>
        <p:txBody>
          <a:bodyPr anchor="b" anchorCtr="0"/>
          <a:lstStyle>
            <a:lvl1pPr marL="0" indent="0" algn="ctr" latinLnBrk="0">
              <a:buNone/>
              <a:defRPr lang="zh-TW">
                <a:solidFill>
                  <a:schemeClr val="bg2"/>
                </a:solidFill>
                <a:effectLst/>
              </a:defRPr>
            </a:lvl1pPr>
            <a:lvl2pPr marL="457200" indent="0" algn="ctr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zh-TW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及物件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Shap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D0AA-A564-40E6-BDF9-FE3371FD07B4}" type="datetimeFigureOut">
              <a:rPr lang="zh-TW" altLang="en-US"/>
              <a:pPr/>
              <a:t>2024/2/2</a:t>
            </a:fld>
            <a:endParaRPr lang="zh-TW"/>
          </a:p>
        </p:txBody>
      </p:sp>
      <p:sp>
        <p:nvSpPr>
          <p:cNvPr id="5" name="Shap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Shap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D2430-FB11-4C87-BF1D-6F488A17F237}" type="slidenum">
              <a:rPr/>
              <a:pPr/>
              <a:t>‹#›</a:t>
            </a:fld>
            <a:endParaRPr lang="zh-TW"/>
          </a:p>
        </p:txBody>
      </p:sp>
      <p:sp>
        <p:nvSpPr>
          <p:cNvPr id="7" name="Rectang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小節標題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74" y="0"/>
            <a:ext cx="9145574" cy="6858000"/>
            <a:chOff x="-1574" y="0"/>
            <a:chExt cx="9145574" cy="6858000"/>
          </a:xfrm>
        </p:grpSpPr>
        <p:sp>
          <p:nvSpPr>
            <p:cNvPr id="18" name="Rectangle 17"/>
            <p:cNvSpPr/>
            <p:nvPr userDrawn="1"/>
          </p:nvSpPr>
          <p:spPr>
            <a:xfrm>
              <a:off x="0" y="381000"/>
              <a:ext cx="9144000" cy="6096000"/>
            </a:xfrm>
            <a:prstGeom prst="rect">
              <a:avLst/>
            </a:prstGeom>
            <a:gradFill>
              <a:gsLst>
                <a:gs pos="0">
                  <a:schemeClr val="accent1">
                    <a:tint val="40000"/>
                  </a:schemeClr>
                </a:gs>
                <a:gs pos="100000">
                  <a:schemeClr val="accent1">
                    <a:shade val="75000"/>
                  </a:schemeClr>
                </a:gs>
              </a:gsLst>
              <a:path path="circle">
                <a:fillToRect l="100000" t="100000" r="100000" b="100000"/>
              </a:path>
            </a:gradFill>
            <a:ln w="25400" cap="rnd" cmpd="sng" algn="ctr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/>
            </a:p>
          </p:txBody>
        </p:sp>
        <p:sp>
          <p:nvSpPr>
            <p:cNvPr id="10" name="Rectangle 9"/>
            <p:cNvSpPr/>
            <p:nvPr userDrawn="1"/>
          </p:nvSpPr>
          <p:spPr>
            <a:xfrm>
              <a:off x="-1574" y="0"/>
              <a:ext cx="9144000" cy="304800"/>
            </a:xfrm>
            <a:prstGeom prst="rect">
              <a:avLst/>
            </a:prstGeom>
            <a:solidFill>
              <a:schemeClr val="bg2"/>
            </a:solidFill>
            <a:ln w="25400" cap="rnd" cmpd="sng" algn="ctr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/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-1574" y="6553200"/>
              <a:ext cx="9144000" cy="304800"/>
            </a:xfrm>
            <a:prstGeom prst="rect">
              <a:avLst/>
            </a:prstGeom>
            <a:solidFill>
              <a:schemeClr val="bg2"/>
            </a:solidFill>
            <a:ln w="25400" cap="rnd" cmpd="sng" algn="ctr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/>
            </a:p>
          </p:txBody>
        </p:sp>
        <p:cxnSp>
          <p:nvCxnSpPr>
            <p:cNvPr id="16" name="Straight Connector 15"/>
            <p:cNvCxnSpPr/>
            <p:nvPr/>
          </p:nvCxnSpPr>
          <p:spPr>
            <a:xfrm>
              <a:off x="-1574" y="381000"/>
              <a:ext cx="9144000" cy="1588"/>
            </a:xfrm>
            <a:prstGeom prst="line">
              <a:avLst/>
            </a:prstGeom>
            <a:ln w="38100" cap="flat" cmpd="sng" algn="ctr">
              <a:solidFill>
                <a:schemeClr val="accent1">
                  <a:shade val="75000"/>
                </a:schemeClr>
              </a:solidFill>
              <a:prstDash val="solid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-1574" y="6477000"/>
              <a:ext cx="9144000" cy="1588"/>
            </a:xfrm>
            <a:prstGeom prst="line">
              <a:avLst/>
            </a:prstGeom>
            <a:ln w="38100" cap="flat" cmpd="sng" algn="ctr">
              <a:solidFill>
                <a:schemeClr val="accent1">
                  <a:shade val="75000"/>
                </a:schemeClr>
              </a:solidFill>
              <a:prstDash val="solid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Shape 1"/>
          <p:cNvSpPr>
            <a:spLocks noGrp="1"/>
          </p:cNvSpPr>
          <p:nvPr>
            <p:ph type="title"/>
          </p:nvPr>
        </p:nvSpPr>
        <p:spPr>
          <a:xfrm>
            <a:off x="722313" y="4505325"/>
            <a:ext cx="7772400" cy="1362075"/>
          </a:xfrm>
          <a:prstGeom prst="rect">
            <a:avLst/>
          </a:prstGeom>
        </p:spPr>
        <p:txBody>
          <a:bodyPr anchor="t"/>
          <a:lstStyle>
            <a:lvl1pPr algn="ctr" latinLnBrk="0">
              <a:defRPr lang="zh-TW" sz="4000" b="0" cap="none" baseline="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Shap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 algn="ctr" latinLnBrk="0">
              <a:buNone/>
              <a:defRPr lang="zh-TW" sz="2800">
                <a:solidFill>
                  <a:schemeClr val="tx1"/>
                </a:solidFill>
              </a:defRPr>
            </a:lvl1pPr>
            <a:lvl2pPr marL="457200" indent="0">
              <a:buNone/>
              <a:defRPr lang="zh-TW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latinLnBrk="0">
              <a:defRPr lang="zh-TW" sz="2800"/>
            </a:lvl1pPr>
            <a:lvl2pPr>
              <a:defRPr lang="zh-TW" sz="2400"/>
            </a:lvl2pPr>
            <a:lvl3pPr>
              <a:defRPr lang="zh-TW" sz="2000"/>
            </a:lvl3pPr>
            <a:lvl4pPr>
              <a:defRPr lang="zh-TW" sz="1800"/>
            </a:lvl4pPr>
            <a:lvl5pPr>
              <a:defRPr lang="zh-TW" sz="1800"/>
            </a:lvl5pPr>
            <a:lvl6pPr>
              <a:defRPr lang="zh-TW" sz="1800"/>
            </a:lvl6pPr>
            <a:lvl7pPr>
              <a:defRPr lang="zh-TW" sz="1800"/>
            </a:lvl7pPr>
            <a:lvl8pPr>
              <a:defRPr lang="zh-TW" sz="1800"/>
            </a:lvl8pPr>
            <a:lvl9pPr>
              <a:defRPr lang="zh-TW"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Shape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 latinLnBrk="0">
              <a:defRPr lang="zh-TW" sz="2800"/>
            </a:lvl1pPr>
            <a:lvl2pPr>
              <a:defRPr lang="zh-TW" sz="2400"/>
            </a:lvl2pPr>
            <a:lvl3pPr>
              <a:defRPr lang="zh-TW" sz="2000"/>
            </a:lvl3pPr>
            <a:lvl4pPr>
              <a:defRPr lang="zh-TW" sz="1800"/>
            </a:lvl4pPr>
            <a:lvl5pPr>
              <a:defRPr lang="zh-TW" sz="1800"/>
            </a:lvl5pPr>
            <a:lvl6pPr>
              <a:defRPr lang="zh-TW" sz="1800"/>
            </a:lvl6pPr>
            <a:lvl7pPr>
              <a:defRPr lang="zh-TW" sz="1800"/>
            </a:lvl7pPr>
            <a:lvl8pPr>
              <a:defRPr lang="zh-TW" sz="1800"/>
            </a:lvl8pPr>
            <a:lvl9pPr>
              <a:defRPr lang="zh-TW"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5" name="Shap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D0AA-A564-40E6-BDF9-FE3371FD07B4}" type="datetimeFigureOut">
              <a:rPr lang="zh-TW" altLang="en-US"/>
              <a:pPr/>
              <a:t>2024/2/2</a:t>
            </a:fld>
            <a:endParaRPr lang="zh-TW"/>
          </a:p>
        </p:txBody>
      </p:sp>
      <p:sp>
        <p:nvSpPr>
          <p:cNvPr id="6" name="Shap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Shap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D2430-FB11-4C87-BF1D-6F488A17F237}" type="slidenum">
              <a:rPr/>
              <a:pPr/>
              <a:t>‹#›</a:t>
            </a:fld>
            <a:endParaRPr lang="zh-TW"/>
          </a:p>
        </p:txBody>
      </p:sp>
      <p:sp>
        <p:nvSpPr>
          <p:cNvPr id="8" name="Rectang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對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 latinLnBrk="0">
              <a:buNone/>
              <a:defRPr lang="zh-TW" sz="2400" b="0">
                <a:solidFill>
                  <a:schemeClr val="tx2"/>
                </a:solidFill>
              </a:defRPr>
            </a:lvl1pPr>
            <a:lvl2pPr marL="457200" indent="0">
              <a:buNone/>
              <a:defRPr lang="zh-TW" sz="2000" b="1"/>
            </a:lvl2pPr>
            <a:lvl3pPr marL="914400" indent="0">
              <a:buNone/>
              <a:defRPr lang="zh-TW" sz="1800" b="1"/>
            </a:lvl3pPr>
            <a:lvl4pPr marL="1371600" indent="0">
              <a:buNone/>
              <a:defRPr lang="zh-TW" sz="1600" b="1"/>
            </a:lvl4pPr>
            <a:lvl5pPr marL="1828800" indent="0">
              <a:buNone/>
              <a:defRPr lang="zh-TW" sz="1600" b="1"/>
            </a:lvl5pPr>
            <a:lvl6pPr marL="2286000" indent="0">
              <a:buNone/>
              <a:defRPr lang="zh-TW" sz="1600" b="1"/>
            </a:lvl6pPr>
            <a:lvl7pPr marL="2743200" indent="0">
              <a:buNone/>
              <a:defRPr lang="zh-TW" sz="1600" b="1"/>
            </a:lvl7pPr>
            <a:lvl8pPr marL="3200400" indent="0">
              <a:buNone/>
              <a:defRPr lang="zh-TW" sz="1600" b="1"/>
            </a:lvl8pPr>
            <a:lvl9pPr marL="3657600" indent="0">
              <a:buNone/>
              <a:defRPr lang="zh-TW"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Shape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 latinLnBrk="0">
              <a:defRPr lang="zh-TW" sz="2400"/>
            </a:lvl1pPr>
            <a:lvl2pPr>
              <a:defRPr lang="zh-TW" sz="2000"/>
            </a:lvl2pPr>
            <a:lvl3pPr>
              <a:defRPr lang="zh-TW" sz="1800"/>
            </a:lvl3pPr>
            <a:lvl4pPr>
              <a:defRPr lang="zh-TW" sz="1600"/>
            </a:lvl4pPr>
            <a:lvl5pPr>
              <a:defRPr lang="zh-TW" sz="1600"/>
            </a:lvl5pPr>
            <a:lvl6pPr>
              <a:defRPr lang="zh-TW" sz="1600"/>
            </a:lvl6pPr>
            <a:lvl7pPr>
              <a:defRPr lang="zh-TW" sz="1600"/>
            </a:lvl7pPr>
            <a:lvl8pPr>
              <a:defRPr lang="zh-TW" sz="1600"/>
            </a:lvl8pPr>
            <a:lvl9pPr>
              <a:defRPr lang="zh-TW"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5" name="Shap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 latinLnBrk="0">
              <a:buNone/>
              <a:defRPr lang="zh-TW" sz="2400" b="0">
                <a:solidFill>
                  <a:schemeClr val="tx2"/>
                </a:solidFill>
              </a:defRPr>
            </a:lvl1pPr>
            <a:lvl2pPr marL="457200" indent="0">
              <a:buNone/>
              <a:defRPr lang="zh-TW" sz="2000" b="1"/>
            </a:lvl2pPr>
            <a:lvl3pPr marL="914400" indent="0">
              <a:buNone/>
              <a:defRPr lang="zh-TW" sz="1800" b="1"/>
            </a:lvl3pPr>
            <a:lvl4pPr marL="1371600" indent="0">
              <a:buNone/>
              <a:defRPr lang="zh-TW" sz="1600" b="1"/>
            </a:lvl4pPr>
            <a:lvl5pPr marL="1828800" indent="0">
              <a:buNone/>
              <a:defRPr lang="zh-TW" sz="1600" b="1"/>
            </a:lvl5pPr>
            <a:lvl6pPr marL="2286000" indent="0">
              <a:buNone/>
              <a:defRPr lang="zh-TW" sz="1600" b="1"/>
            </a:lvl6pPr>
            <a:lvl7pPr marL="2743200" indent="0">
              <a:buNone/>
              <a:defRPr lang="zh-TW" sz="1600" b="1"/>
            </a:lvl7pPr>
            <a:lvl8pPr marL="3200400" indent="0">
              <a:buNone/>
              <a:defRPr lang="zh-TW" sz="1600" b="1"/>
            </a:lvl8pPr>
            <a:lvl9pPr marL="3657600" indent="0">
              <a:buNone/>
              <a:defRPr lang="zh-TW"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Shape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 latinLnBrk="0">
              <a:defRPr lang="zh-TW" sz="2400"/>
            </a:lvl1pPr>
            <a:lvl2pPr>
              <a:defRPr lang="zh-TW" sz="2000"/>
            </a:lvl2pPr>
            <a:lvl3pPr>
              <a:defRPr lang="zh-TW" sz="1800"/>
            </a:lvl3pPr>
            <a:lvl4pPr>
              <a:defRPr lang="zh-TW" sz="1600"/>
            </a:lvl4pPr>
            <a:lvl5pPr>
              <a:defRPr lang="zh-TW" sz="1600"/>
            </a:lvl5pPr>
            <a:lvl6pPr>
              <a:defRPr lang="zh-TW" sz="1600"/>
            </a:lvl6pPr>
            <a:lvl7pPr>
              <a:defRPr lang="zh-TW" sz="1600"/>
            </a:lvl7pPr>
            <a:lvl8pPr>
              <a:defRPr lang="zh-TW" sz="1600"/>
            </a:lvl8pPr>
            <a:lvl9pPr>
              <a:defRPr lang="zh-TW"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7" name="Shap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D0AA-A564-40E6-BDF9-FE3371FD07B4}" type="datetimeFigureOut">
              <a:rPr lang="zh-TW" altLang="en-US"/>
              <a:pPr/>
              <a:t>2024/2/2</a:t>
            </a:fld>
            <a:endParaRPr lang="zh-TW"/>
          </a:p>
        </p:txBody>
      </p:sp>
      <p:sp>
        <p:nvSpPr>
          <p:cNvPr id="8" name="Shap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9" name="Shap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D2430-FB11-4C87-BF1D-6F488A17F237}" type="slidenum">
              <a:rPr/>
              <a:pPr/>
              <a:t>‹#›</a:t>
            </a:fld>
            <a:endParaRPr lang="zh-TW"/>
          </a:p>
        </p:txBody>
      </p:sp>
      <p:sp>
        <p:nvSpPr>
          <p:cNvPr id="10" name="Rectang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D0AA-A564-40E6-BDF9-FE3371FD07B4}" type="datetimeFigureOut">
              <a:rPr lang="zh-TW" altLang="en-US"/>
              <a:pPr/>
              <a:t>2024/2/2</a:t>
            </a:fld>
            <a:endParaRPr lang="zh-TW"/>
          </a:p>
        </p:txBody>
      </p:sp>
      <p:sp>
        <p:nvSpPr>
          <p:cNvPr id="4" name="Shap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5" name="Shap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D2430-FB11-4C87-BF1D-6F488A17F237}" type="slidenum">
              <a:rPr/>
              <a:pPr/>
              <a:t>‹#›</a:t>
            </a:fld>
            <a:endParaRPr lang="zh-TW"/>
          </a:p>
        </p:txBody>
      </p:sp>
      <p:sp>
        <p:nvSpPr>
          <p:cNvPr id="6" name="Rectang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D0AA-A564-40E6-BDF9-FE3371FD07B4}" type="datetimeFigureOut">
              <a:rPr lang="zh-TW" altLang="en-US"/>
              <a:pPr/>
              <a:t>2024/2/2</a:t>
            </a:fld>
            <a:endParaRPr lang="zh-TW"/>
          </a:p>
        </p:txBody>
      </p:sp>
      <p:sp>
        <p:nvSpPr>
          <p:cNvPr id="3" name="Shap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4" name="Shap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D2430-FB11-4C87-BF1D-6F488A17F237}" type="slidenum">
              <a:rPr/>
              <a:pPr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/>
          <p:cNvSpPr>
            <a:spLocks noGrp="1"/>
          </p:cNvSpPr>
          <p:nvPr>
            <p:ph idx="1"/>
          </p:nvPr>
        </p:nvSpPr>
        <p:spPr>
          <a:xfrm>
            <a:off x="3575050" y="1600201"/>
            <a:ext cx="5111750" cy="4525963"/>
          </a:xfrm>
        </p:spPr>
        <p:txBody>
          <a:bodyPr/>
          <a:lstStyle>
            <a:lvl1pPr latinLnBrk="0">
              <a:defRPr lang="zh-TW" sz="3200">
                <a:solidFill>
                  <a:schemeClr val="tx1"/>
                </a:solidFill>
              </a:defRPr>
            </a:lvl1pPr>
            <a:lvl2pPr>
              <a:defRPr lang="zh-TW" sz="2800"/>
            </a:lvl2pPr>
            <a:lvl3pPr>
              <a:defRPr lang="zh-TW" sz="2400"/>
            </a:lvl3pPr>
            <a:lvl4pPr>
              <a:defRPr lang="zh-TW" sz="2000"/>
            </a:lvl4pPr>
            <a:lvl5pPr>
              <a:defRPr lang="zh-TW" sz="2000"/>
            </a:lvl5pPr>
            <a:lvl6pPr>
              <a:defRPr lang="zh-TW" sz="2000"/>
            </a:lvl6pPr>
            <a:lvl7pPr>
              <a:defRPr lang="zh-TW" sz="2000"/>
            </a:lvl7pPr>
            <a:lvl8pPr>
              <a:defRPr lang="zh-TW" sz="2000"/>
            </a:lvl8pPr>
            <a:lvl9pPr>
              <a:defRPr lang="zh-TW"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Shape 3"/>
          <p:cNvSpPr>
            <a:spLocks noGrp="1"/>
          </p:cNvSpPr>
          <p:nvPr>
            <p:ph type="body" sz="half" idx="2"/>
          </p:nvPr>
        </p:nvSpPr>
        <p:spPr>
          <a:xfrm>
            <a:off x="457201" y="1600201"/>
            <a:ext cx="3008313" cy="4525963"/>
          </a:xfrm>
        </p:spPr>
        <p:txBody>
          <a:bodyPr/>
          <a:lstStyle>
            <a:lvl1pPr marL="0" indent="0" latinLnBrk="0">
              <a:buNone/>
              <a:defRPr lang="zh-TW" sz="1400"/>
            </a:lvl1pPr>
            <a:lvl2pPr marL="457200" indent="0">
              <a:buNone/>
              <a:defRPr lang="zh-TW" sz="1200"/>
            </a:lvl2pPr>
            <a:lvl3pPr marL="914400" indent="0">
              <a:buNone/>
              <a:defRPr lang="zh-TW" sz="1000"/>
            </a:lvl3pPr>
            <a:lvl4pPr marL="1371600" indent="0">
              <a:buNone/>
              <a:defRPr lang="zh-TW" sz="900"/>
            </a:lvl4pPr>
            <a:lvl5pPr marL="1828800" indent="0">
              <a:buNone/>
              <a:defRPr lang="zh-TW" sz="900"/>
            </a:lvl5pPr>
            <a:lvl6pPr marL="2286000" indent="0">
              <a:buNone/>
              <a:defRPr lang="zh-TW" sz="900"/>
            </a:lvl6pPr>
            <a:lvl7pPr marL="2743200" indent="0">
              <a:buNone/>
              <a:defRPr lang="zh-TW" sz="900"/>
            </a:lvl7pPr>
            <a:lvl8pPr marL="3200400" indent="0">
              <a:buNone/>
              <a:defRPr lang="zh-TW" sz="900"/>
            </a:lvl8pPr>
            <a:lvl9pPr marL="3657600" indent="0">
              <a:buNone/>
              <a:defRPr lang="zh-TW"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Shap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D0AA-A564-40E6-BDF9-FE3371FD07B4}" type="datetimeFigureOut">
              <a:rPr lang="zh-TW" altLang="en-US"/>
              <a:pPr/>
              <a:t>2024/2/2</a:t>
            </a:fld>
            <a:endParaRPr lang="zh-TW"/>
          </a:p>
        </p:txBody>
      </p:sp>
      <p:sp>
        <p:nvSpPr>
          <p:cNvPr id="6" name="Shap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Shap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D2430-FB11-4C87-BF1D-6F488A17F237}" type="slidenum">
              <a:rPr/>
              <a:pPr/>
              <a:t>‹#›</a:t>
            </a:fld>
            <a:endParaRPr lang="zh-TW"/>
          </a:p>
        </p:txBody>
      </p:sp>
      <p:sp>
        <p:nvSpPr>
          <p:cNvPr id="9" name="Rectang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 latinLnBrk="0">
              <a:defRPr lang="zh-TW" sz="2000" b="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Shap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 latinLnBrk="0">
              <a:buNone/>
              <a:defRPr lang="zh-TW" sz="3200"/>
            </a:lvl1pPr>
            <a:lvl2pPr marL="457200" indent="0">
              <a:buNone/>
              <a:defRPr lang="zh-TW" sz="2800"/>
            </a:lvl2pPr>
            <a:lvl3pPr marL="914400" indent="0">
              <a:buNone/>
              <a:defRPr lang="zh-TW" sz="2400"/>
            </a:lvl3pPr>
            <a:lvl4pPr marL="1371600" indent="0">
              <a:buNone/>
              <a:defRPr lang="zh-TW" sz="2000"/>
            </a:lvl4pPr>
            <a:lvl5pPr marL="1828800" indent="0">
              <a:buNone/>
              <a:defRPr lang="zh-TW" sz="2000"/>
            </a:lvl5pPr>
            <a:lvl6pPr marL="2286000" indent="0">
              <a:buNone/>
              <a:defRPr lang="zh-TW" sz="2000"/>
            </a:lvl6pPr>
            <a:lvl7pPr marL="2743200" indent="0">
              <a:buNone/>
              <a:defRPr lang="zh-TW" sz="2000"/>
            </a:lvl7pPr>
            <a:lvl8pPr marL="3200400" indent="0">
              <a:buNone/>
              <a:defRPr lang="zh-TW" sz="2000"/>
            </a:lvl8pPr>
            <a:lvl9pPr marL="3657600" indent="0">
              <a:buNone/>
              <a:defRPr lang="zh-TW" sz="2000"/>
            </a:lvl9pPr>
          </a:lstStyle>
          <a:p>
            <a:r>
              <a:rPr lang="zh-TW" altLang="en-US"/>
              <a:t>按一下圖示以新增圖片</a:t>
            </a:r>
            <a:endParaRPr lang="zh-TW"/>
          </a:p>
        </p:txBody>
      </p:sp>
      <p:sp>
        <p:nvSpPr>
          <p:cNvPr id="4" name="Shap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 latinLnBrk="0">
              <a:buNone/>
              <a:defRPr lang="zh-TW" sz="1400"/>
            </a:lvl1pPr>
            <a:lvl2pPr marL="457200" indent="0">
              <a:buNone/>
              <a:defRPr lang="zh-TW" sz="1200"/>
            </a:lvl2pPr>
            <a:lvl3pPr marL="914400" indent="0">
              <a:buNone/>
              <a:defRPr lang="zh-TW" sz="1000"/>
            </a:lvl3pPr>
            <a:lvl4pPr marL="1371600" indent="0">
              <a:buNone/>
              <a:defRPr lang="zh-TW" sz="900"/>
            </a:lvl4pPr>
            <a:lvl5pPr marL="1828800" indent="0">
              <a:buNone/>
              <a:defRPr lang="zh-TW" sz="900"/>
            </a:lvl5pPr>
            <a:lvl6pPr marL="2286000" indent="0">
              <a:buNone/>
              <a:defRPr lang="zh-TW" sz="900"/>
            </a:lvl6pPr>
            <a:lvl7pPr marL="2743200" indent="0">
              <a:buNone/>
              <a:defRPr lang="zh-TW" sz="900"/>
            </a:lvl7pPr>
            <a:lvl8pPr marL="3200400" indent="0">
              <a:buNone/>
              <a:defRPr lang="zh-TW" sz="900"/>
            </a:lvl8pPr>
            <a:lvl9pPr marL="3657600" indent="0">
              <a:buNone/>
              <a:defRPr lang="zh-TW"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Shap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D0AA-A564-40E6-BDF9-FE3371FD07B4}" type="datetimeFigureOut">
              <a:rPr lang="zh-TW" altLang="en-US"/>
              <a:pPr/>
              <a:t>2024/2/2</a:t>
            </a:fld>
            <a:endParaRPr lang="zh-TW"/>
          </a:p>
        </p:txBody>
      </p:sp>
      <p:sp>
        <p:nvSpPr>
          <p:cNvPr id="6" name="Shap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Shap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D2430-FB11-4C87-BF1D-6F488A17F237}" type="slidenum">
              <a:rPr/>
              <a:pPr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9144000" cy="1506538"/>
            <a:chOff x="0" y="0"/>
            <a:chExt cx="9144000" cy="1506538"/>
          </a:xfrm>
        </p:grpSpPr>
        <p:pic>
          <p:nvPicPr>
            <p:cNvPr id="7" name="Rectangle 6"/>
            <p:cNvPicPr>
              <a:picLocks noChangeAspect="1"/>
            </p:cNvPicPr>
            <p:nvPr/>
          </p:nvPicPr>
          <p:blipFill>
            <a:blip r:embed="rId11" cstate="print">
              <a:duotone>
                <a:schemeClr val="accent1"/>
                <a:srgbClr val="FFFFFF"/>
              </a:duotone>
            </a:blip>
            <a:srcRect/>
            <a:stretch>
              <a:fillRect/>
            </a:stretch>
          </p:blipFill>
          <p:spPr>
            <a:xfrm>
              <a:off x="0" y="1"/>
              <a:ext cx="9144000" cy="1419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" name="Rectangle 9"/>
            <p:cNvSpPr/>
            <p:nvPr userDrawn="1"/>
          </p:nvSpPr>
          <p:spPr>
            <a:xfrm>
              <a:off x="0" y="0"/>
              <a:ext cx="9144000" cy="1447800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49000">
                  <a:schemeClr val="accent1">
                    <a:tint val="20000"/>
                    <a:alpha val="0"/>
                  </a:schemeClr>
                </a:gs>
              </a:gsLst>
              <a:lin ang="0" scaled="1"/>
              <a:tileRect/>
            </a:gradFill>
            <a:ln w="25400" cap="rnd" cmpd="sng" algn="ctr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/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0" y="1428750"/>
              <a:ext cx="9144000" cy="1588"/>
            </a:xfrm>
            <a:prstGeom prst="line">
              <a:avLst/>
            </a:prstGeom>
            <a:ln w="38100" cap="flat" cmpd="sng" algn="ctr">
              <a:solidFill>
                <a:schemeClr val="accent1">
                  <a:shade val="75000"/>
                </a:schemeClr>
              </a:solidFill>
              <a:prstDash val="solid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0" y="1504950"/>
              <a:ext cx="9144000" cy="1588"/>
            </a:xfrm>
            <a:prstGeom prst="line">
              <a:avLst/>
            </a:prstGeom>
            <a:ln w="15875" cap="flat" cmpd="sng" algn="ctr">
              <a:solidFill>
                <a:schemeClr val="tx1"/>
              </a:solidFill>
              <a:prstDash val="solid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Rectangl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</a:p>
        </p:txBody>
      </p:sp>
      <p:sp>
        <p:nvSpPr>
          <p:cNvPr id="4" name="Rectangl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l" latinLnBrk="0">
              <a:defRPr lang="zh-TW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0D0AA-A564-40E6-BDF9-FE3371FD07B4}" type="datetimeFigureOut">
              <a:rPr lang="zh-TW" altLang="en-US"/>
              <a:pPr/>
              <a:t>2024/2/2</a:t>
            </a:fld>
            <a:endParaRPr lang="zh-TW"/>
          </a:p>
        </p:txBody>
      </p:sp>
      <p:sp>
        <p:nvSpPr>
          <p:cNvPr id="5" name="Rectangl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latinLnBrk="0">
              <a:defRPr lang="zh-TW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r" latinLnBrk="0">
              <a:defRPr lang="zh-TW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1D2430-FB11-4C87-BF1D-6F488A17F237}" type="slidenum">
              <a:rPr/>
              <a:pPr/>
              <a:t>‹#›</a:t>
            </a:fld>
            <a:endParaRPr lang="zh-TW"/>
          </a:p>
        </p:txBody>
      </p:sp>
      <p:sp>
        <p:nvSpPr>
          <p:cNvPr id="13" name="Rectangle 1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65238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lang="zh-TW"/>
              <a:t>按一下以編輯母片標題樣式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rtl="0" eaLnBrk="1" latinLnBrk="0" hangingPunct="1">
        <a:spcBef>
          <a:spcPct val="0"/>
        </a:spcBef>
        <a:buNone/>
        <a:defRPr kumimoji="0" lang="zh-TW" sz="4000" b="0" u="none" strike="noStrike" kern="1200" cap="none" spc="0" normalizeH="0" baseline="0">
          <a:ln>
            <a:noFill/>
          </a:ln>
          <a:solidFill>
            <a:schemeClr val="tx1"/>
          </a:solidFill>
          <a:effectLst>
            <a:outerShdw blurRad="50800" dist="50800" dir="2700000" algn="tl" rotWithShape="0">
              <a:srgbClr val="000000">
                <a:alpha val="43137"/>
              </a:srgbClr>
            </a:outerShdw>
          </a:effectLst>
          <a:uLnTx/>
          <a:uFillTx/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spcAft>
          <a:spcPts val="400"/>
        </a:spcAft>
        <a:buFont typeface="Arial"/>
        <a:buChar char="•"/>
        <a:defRPr lang="zh-TW" sz="2800" kern="1200">
          <a:solidFill>
            <a:schemeClr val="tx1"/>
          </a:solidFill>
          <a:effectLst>
            <a:outerShdw blurRad="50800" dist="50800" dir="2700000" algn="tl" rotWithShape="0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Font typeface="Arial"/>
        <a:buChar char="–"/>
        <a:defRPr lang="zh-TW" sz="2400" kern="1200">
          <a:solidFill>
            <a:schemeClr val="tx1"/>
          </a:solidFill>
          <a:effectLst>
            <a:outerShdw blurRad="50800" dist="50800" dir="2700000" algn="tl" rotWithShape="0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Font typeface="Arial"/>
        <a:buChar char="•"/>
        <a:defRPr lang="zh-TW" sz="2000" kern="1200">
          <a:solidFill>
            <a:schemeClr val="tx1"/>
          </a:solidFill>
          <a:effectLst>
            <a:outerShdw blurRad="50800" dist="50800" dir="2700000" algn="tl" rotWithShape="0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Font typeface="Arial"/>
        <a:buChar char="–"/>
        <a:defRPr lang="zh-TW" sz="1800" kern="1200">
          <a:solidFill>
            <a:schemeClr val="tx1"/>
          </a:solidFill>
          <a:effectLst>
            <a:outerShdw blurRad="50800" dist="50800" dir="2700000" algn="tl" rotWithShape="0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Font typeface="Arial"/>
        <a:buChar char="»"/>
        <a:defRPr lang="zh-TW" sz="1800" kern="1200">
          <a:solidFill>
            <a:schemeClr val="tx1"/>
          </a:solidFill>
          <a:effectLst>
            <a:outerShdw blurRad="50800" dist="50800" dir="2700000" algn="tl" rotWithShape="0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lang="zh-TW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lang="zh-TW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lang="zh-TW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lang="zh-TW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lang="zh-TW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lang="zh-TW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lang="zh-TW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lang="zh-TW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lang="zh-TW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lang="zh-TW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lang="zh-TW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lang="zh-TW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lang="zh-TW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CApMuuWDDj5dvhbhgZFphUA4gSEy9VH4?usp=sharing" TargetMode="External"/><Relationship Id="rId2" Type="http://schemas.openxmlformats.org/officeDocument/2006/relationships/hyperlink" Target="https://colab.research.google.com/drive/1RTQ_7z6fMQ3XCfeXUodo_LKAUjAPyUEm?usp=sharing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_HmWdlUYjS4" TargetMode="Externa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vs9KuuDPaIc?t=96" TargetMode="External"/><Relationship Id="rId2" Type="http://schemas.openxmlformats.org/officeDocument/2006/relationships/hyperlink" Target="https://www.youtube.com/watch?v=aNaElUzxvPE" TargetMode="Externa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maM4ZljKdXY&amp;t=0s" TargetMode="External"/><Relationship Id="rId2" Type="http://schemas.openxmlformats.org/officeDocument/2006/relationships/hyperlink" Target="https://www.youtube.com/watch?v=NZ6BMUVn5d4&amp;t=0s" TargetMode="Externa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e32frJpvFhc" TargetMode="Externa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sUVX2NqOOEg" TargetMode="External"/><Relationship Id="rId2" Type="http://schemas.openxmlformats.org/officeDocument/2006/relationships/hyperlink" Target="https://www.youtube.com/watch?v=9EcOu_GLsfA" TargetMode="Externa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hyperlink" Target="https://acupun.site/lecture/predict/example/resource/IBM_Churn_chi_2.csv" TargetMode="Externa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colab.research.google.com/drive/1V3OMPkaccYJqmxXDD5Ys5KKRca4MwbOw?usp=sharing#scrollTo=Sd6DrzE7j05N" TargetMode="Externa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hyperlink" Target="https://acupun.site/lecture/predict/example/resource/RFM-2-chi.xlsx" TargetMode="Externa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colab.research.google.com/drive/1mqvr_AEj409bk41_uB7lRi-d2GhNgNaB?usp=sharing#scrollTo=j9QzfMdSODOy" TargetMode="Externa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hyperlink" Target="https://acupun.site/lecture/predict/example/resource/boston-chi.csv" TargetMode="Externa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colab.research.google.com/drive/1WhvTGxZmIJoMZlZWe1xiAvtX7-CVjbp5?usp=sharing#scrollTo=PBVhChI38SMu" TargetMode="Externa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hyperlink" Target="https://acupun.site/lecture/predict/example/resource/creditcard-chi.csv" TargetMode="Externa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hyperlink" Target="https://colab.research.google.com/drive/1a0ik0XQDONem_kfd_OhMktlXHlIJlZVf?usp=sharing#scrollTo=PBVhChI38SMu" TargetMode="Externa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ooks.com.tw/products/0010921275?loc=M_br_r0vq68ygz_D_2aabd0_B_1" TargetMode="External"/><Relationship Id="rId2" Type="http://schemas.openxmlformats.org/officeDocument/2006/relationships/hyperlink" Target="https://www.books.com.tw/products/0010859289?sloc=main" TargetMode="Externa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ooks.com.tw/products/CN11723157" TargetMode="Externa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hyperlink" Target="https://oaa.ntut.edu.tw/var/file/8/1008/img/2880/AVY_.pdf" TargetMode="External"/><Relationship Id="rId2" Type="http://schemas.openxmlformats.org/officeDocument/2006/relationships/hyperlink" Target="https://oaa.ntut.edu.tw/var/file/8/1008/img/2880/AVY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oaa.ntut.edu.tw/p/412-1008-13057.php" TargetMode="External"/><Relationship Id="rId4" Type="http://schemas.openxmlformats.org/officeDocument/2006/relationships/hyperlink" Target="https://oaa.ntut.edu.tw/var/file/8/1008/img/2880/AVY_apply.odt" TargetMode="Externa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/>
          </p:cNvSpPr>
          <p:nvPr>
            <p:ph type="subTitle" idx="1"/>
          </p:nvPr>
        </p:nvSpPr>
        <p:spPr>
          <a:xfrm>
            <a:off x="611929" y="1570112"/>
            <a:ext cx="7848872" cy="2506960"/>
          </a:xfrm>
        </p:spPr>
        <p:txBody>
          <a:bodyPr>
            <a:normAutofit fontScale="85000" lnSpcReduction="20000"/>
          </a:bodyPr>
          <a:lstStyle/>
          <a:p>
            <a:r>
              <a:rPr lang="zh-CN" altLang="en-US" sz="6600" b="1" dirty="0">
                <a:latin typeface="微軟正黑體" pitchFamily="34" charset="-120"/>
                <a:ea typeface="微軟正黑體" pitchFamily="34" charset="-120"/>
              </a:rPr>
              <a:t>商業數據程式分析</a:t>
            </a:r>
            <a:endParaRPr lang="en-US" altLang="zh-CN" sz="6600" b="1" dirty="0"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6600" b="1" dirty="0">
                <a:latin typeface="微軟正黑體" pitchFamily="34" charset="-120"/>
                <a:ea typeface="微軟正黑體" pitchFamily="34" charset="-120"/>
              </a:rPr>
              <a:t>人工智慧跨域經營管理之應用</a:t>
            </a:r>
          </a:p>
        </p:txBody>
      </p:sp>
      <p:sp>
        <p:nvSpPr>
          <p:cNvPr id="10" name="Rectang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軟正黑體" pitchFamily="34" charset="-120"/>
                <a:ea typeface="微軟正黑體" pitchFamily="34" charset="-120"/>
              </a:rPr>
              <a:t>台北科技大學，經管系，陳擎文</a:t>
            </a:r>
            <a:br>
              <a:rPr lang="en-US" altLang="zh-CN" b="1" dirty="0">
                <a:latin typeface="微軟正黑體" pitchFamily="34" charset="-120"/>
                <a:ea typeface="微軟正黑體" pitchFamily="34" charset="-120"/>
              </a:rPr>
            </a:br>
            <a:endParaRPr lang="zh-TW" altLang="en-US" b="1" dirty="0"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1700808"/>
            <a:ext cx="8867328" cy="4525963"/>
          </a:xfrm>
        </p:spPr>
        <p:txBody>
          <a:bodyPr>
            <a:normAutofit lnSpcReduction="10000"/>
          </a:bodyPr>
          <a:lstStyle/>
          <a:p>
            <a:r>
              <a:rPr lang="en-US" altLang="zh-CN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 </a:t>
            </a: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數據分析有三部曲</a:t>
            </a:r>
            <a:endParaRPr lang="en-US" altLang="zh-CN" sz="5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CN" sz="5400" b="1" dirty="0">
                <a:effectLst/>
              </a:rPr>
              <a:t>2. </a:t>
            </a: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要學</a:t>
            </a:r>
            <a:r>
              <a:rPr lang="en-US" altLang="zh-CN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pandas</a:t>
            </a: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數據分析的四個理由</a:t>
            </a:r>
            <a:endParaRPr lang="en-US" altLang="zh-CN" sz="5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CN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3.</a:t>
            </a: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小心考慮是否要選修這門課的三個考量</a:t>
            </a:r>
            <a:endParaRPr lang="zh-TW" altLang="en-US" sz="5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sz="5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5400" b="1" dirty="0">
              <a:effectLst/>
            </a:endParaRPr>
          </a:p>
          <a:p>
            <a:endParaRPr lang="en-US" altLang="zh-TW" sz="36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重點</a:t>
            </a:r>
            <a:endParaRPr lang="zh-TW" altLang="en-US" sz="5400" b="1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690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1340768"/>
            <a:ext cx="8316416" cy="3600400"/>
          </a:xfrm>
        </p:spPr>
        <p:txBody>
          <a:bodyPr vert="horz" rtlCol="0">
            <a:normAutofit/>
          </a:bodyPr>
          <a:lstStyle/>
          <a:p>
            <a:r>
              <a:rPr lang="zh-CN" altLang="en-US" sz="8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數據分析三部曲</a:t>
            </a:r>
            <a:endParaRPr lang="zh-TW" altLang="en-US" sz="8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31768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BDC79735-EC88-4CE3-A6F9-C71788810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B8D31B93-51BB-492F-A8E2-28B711801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2050" name="Picture 2" descr="https://acupun.site/lecture/pandas/pic/scope12.png">
            <a:extLst>
              <a:ext uri="{FF2B5EF4-FFF2-40B4-BE49-F238E27FC236}">
                <a16:creationId xmlns:a16="http://schemas.microsoft.com/office/drawing/2014/main" id="{652F37D9-395D-4790-B535-863F8963D5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6466" y="0"/>
            <a:ext cx="65929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0878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1700808"/>
            <a:ext cx="8867328" cy="4525963"/>
          </a:xfrm>
        </p:spPr>
        <p:txBody>
          <a:bodyPr>
            <a:normAutofit/>
          </a:bodyPr>
          <a:lstStyle/>
          <a:p>
            <a:r>
              <a:rPr lang="zh-TW" altLang="en-US" sz="5400" b="1" dirty="0">
                <a:effectLst/>
              </a:rPr>
              <a:t>數據分析的</a:t>
            </a:r>
            <a:r>
              <a:rPr lang="en-US" altLang="zh-TW" sz="5400" b="1" dirty="0">
                <a:effectLst/>
              </a:rPr>
              <a:t>3</a:t>
            </a:r>
            <a:r>
              <a:rPr lang="zh-TW" altLang="en-US" sz="5400" b="1" dirty="0">
                <a:effectLst/>
              </a:rPr>
              <a:t>步驟圖：</a:t>
            </a:r>
            <a:endParaRPr lang="en-US" altLang="zh-TW" sz="5400" b="1" dirty="0">
              <a:effectLst/>
            </a:endParaRPr>
          </a:p>
          <a:p>
            <a:r>
              <a:rPr lang="zh-TW" altLang="en-US" sz="3600" b="1" dirty="0">
                <a:effectLst/>
              </a:rPr>
              <a:t>步驟</a:t>
            </a:r>
            <a:r>
              <a:rPr lang="en-US" altLang="zh-TW" sz="3600" b="1" dirty="0">
                <a:effectLst/>
              </a:rPr>
              <a:t>1</a:t>
            </a:r>
            <a:r>
              <a:rPr lang="zh-TW" altLang="en-US" sz="3600" b="1" dirty="0">
                <a:effectLst/>
              </a:rPr>
              <a:t>：</a:t>
            </a:r>
            <a:r>
              <a:rPr lang="en-US" altLang="zh-CN" sz="3600" b="1" dirty="0">
                <a:effectLst/>
              </a:rPr>
              <a:t>『</a:t>
            </a:r>
            <a:r>
              <a:rPr lang="zh-TW" altLang="en-US" sz="3600" b="1" dirty="0">
                <a:effectLst/>
              </a:rPr>
              <a:t>基礎數據分析</a:t>
            </a:r>
            <a:r>
              <a:rPr lang="en-US" altLang="zh-CN" sz="3600" b="1" dirty="0">
                <a:effectLst/>
              </a:rPr>
              <a:t>』</a:t>
            </a:r>
            <a:r>
              <a:rPr lang="en-US" altLang="zh-TW" sz="3600" b="1" dirty="0">
                <a:effectLst/>
              </a:rPr>
              <a:t>1</a:t>
            </a:r>
            <a:r>
              <a:rPr lang="zh-TW" altLang="en-US" sz="3600" b="1" dirty="0">
                <a:effectLst/>
              </a:rPr>
              <a:t>：</a:t>
            </a:r>
            <a:r>
              <a:rPr lang="en-US" altLang="zh-TW" sz="36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pandas</a:t>
            </a:r>
          </a:p>
          <a:p>
            <a:r>
              <a:rPr lang="zh-TW" altLang="en-US" sz="3600" b="1" dirty="0">
                <a:effectLst/>
              </a:rPr>
              <a:t>步驟</a:t>
            </a:r>
            <a:r>
              <a:rPr lang="en-US" altLang="zh-TW" sz="3600" b="1" dirty="0">
                <a:effectLst/>
              </a:rPr>
              <a:t>2</a:t>
            </a:r>
            <a:r>
              <a:rPr lang="zh-TW" altLang="en-US" sz="3600" b="1" dirty="0">
                <a:effectLst/>
              </a:rPr>
              <a:t>：</a:t>
            </a:r>
            <a:r>
              <a:rPr lang="en-US" altLang="zh-CN" sz="3600" b="1" dirty="0">
                <a:effectLst/>
              </a:rPr>
              <a:t> 『</a:t>
            </a:r>
            <a:r>
              <a:rPr lang="zh-TW" altLang="en-US" sz="3600" b="1" dirty="0">
                <a:effectLst/>
              </a:rPr>
              <a:t>基礎數據分析</a:t>
            </a:r>
            <a:r>
              <a:rPr lang="en-US" altLang="zh-CN" sz="3600" b="1" dirty="0">
                <a:effectLst/>
              </a:rPr>
              <a:t>』 </a:t>
            </a:r>
            <a:r>
              <a:rPr lang="en-US" altLang="zh-TW" sz="3600" b="1" dirty="0">
                <a:effectLst/>
              </a:rPr>
              <a:t>2</a:t>
            </a:r>
            <a:r>
              <a:rPr lang="zh-TW" altLang="en-US" sz="3600" b="1" dirty="0">
                <a:effectLst/>
              </a:rPr>
              <a:t>：</a:t>
            </a:r>
            <a:r>
              <a:rPr lang="en-US" altLang="zh-TW" sz="36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SQL</a:t>
            </a:r>
          </a:p>
          <a:p>
            <a:r>
              <a:rPr lang="zh-TW" altLang="en-US" sz="3600" b="1" dirty="0">
                <a:effectLst/>
              </a:rPr>
              <a:t>步驟</a:t>
            </a:r>
            <a:r>
              <a:rPr lang="en-US" altLang="zh-TW" sz="3600" b="1" dirty="0">
                <a:effectLst/>
              </a:rPr>
              <a:t>3</a:t>
            </a:r>
            <a:r>
              <a:rPr lang="zh-TW" altLang="en-US" sz="3600" b="1" dirty="0">
                <a:effectLst/>
              </a:rPr>
              <a:t>：</a:t>
            </a:r>
            <a:r>
              <a:rPr lang="en-US" altLang="zh-CN" sz="3600" b="1" dirty="0">
                <a:effectLst/>
              </a:rPr>
              <a:t> 『</a:t>
            </a:r>
            <a:r>
              <a:rPr lang="zh-TW" altLang="en-US" sz="3600" b="1" dirty="0">
                <a:effectLst/>
              </a:rPr>
              <a:t>進階數據分析</a:t>
            </a:r>
            <a:r>
              <a:rPr lang="en-US" altLang="zh-CN" sz="3600" b="1" dirty="0">
                <a:effectLst/>
              </a:rPr>
              <a:t>』 </a:t>
            </a:r>
            <a:r>
              <a:rPr lang="en-US" altLang="zh-TW" sz="3600" b="1" dirty="0">
                <a:effectLst/>
              </a:rPr>
              <a:t>3</a:t>
            </a:r>
            <a:r>
              <a:rPr lang="zh-TW" altLang="en-US" sz="3600" b="1" dirty="0">
                <a:effectLst/>
              </a:rPr>
              <a:t>：</a:t>
            </a:r>
            <a:r>
              <a:rPr lang="zh-TW" altLang="en-US" sz="36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人工智慧</a:t>
            </a:r>
            <a:endParaRPr lang="en-US" altLang="zh-TW" sz="36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  <a:p>
            <a:endParaRPr lang="en-US" altLang="zh-TW" sz="36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  <a:p>
            <a:r>
              <a:rPr lang="zh-CN" altLang="en-US" sz="36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每個路徑點，都要相對應的工作職缺</a:t>
            </a:r>
            <a:endParaRPr lang="en-US" altLang="zh-TW" sz="36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  <a:p>
            <a:endParaRPr lang="en-US" altLang="zh-TW" sz="36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數據分析三部曲</a:t>
            </a:r>
            <a:endParaRPr lang="zh-TW" altLang="en-US" sz="5400" b="1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9885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2355FDBD-85A6-4541-AE96-313EFFB839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101" y="1484784"/>
            <a:ext cx="9144000" cy="2548880"/>
          </a:xfrm>
        </p:spPr>
        <p:txBody>
          <a:bodyPr>
            <a:normAutofit/>
          </a:bodyPr>
          <a:lstStyle/>
          <a:p>
            <a:r>
              <a:rPr lang="zh-TW" altLang="en-US" b="1" dirty="0">
                <a:effectLst/>
              </a:rPr>
              <a:t>☎工作職稱：</a:t>
            </a:r>
            <a:r>
              <a:rPr lang="en-US" altLang="zh-TW" b="1" dirty="0">
                <a:effectLst/>
              </a:rPr>
              <a:t>DA/BA/DS/DE</a:t>
            </a:r>
            <a:r>
              <a:rPr lang="zh-TW" altLang="en-US" b="1" dirty="0">
                <a:effectLst/>
              </a:rPr>
              <a:t>：</a:t>
            </a:r>
            <a:br>
              <a:rPr lang="zh-TW" altLang="en-US" b="1" dirty="0">
                <a:effectLst/>
              </a:rPr>
            </a:br>
            <a:r>
              <a:rPr lang="en-US" altLang="zh-CN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BA</a:t>
            </a:r>
            <a:r>
              <a:rPr lang="zh-CN" altLang="en-US" b="1" dirty="0">
                <a:effectLst/>
              </a:rPr>
              <a:t>：</a:t>
            </a:r>
            <a:r>
              <a:rPr lang="en-US" altLang="zh-TW" b="1" dirty="0">
                <a:effectLst/>
              </a:rPr>
              <a:t>Business Analyst</a:t>
            </a:r>
            <a:r>
              <a:rPr lang="zh-TW" altLang="en-US" b="1" dirty="0">
                <a:effectLst/>
              </a:rPr>
              <a:t>商業分析師（</a:t>
            </a:r>
            <a:r>
              <a:rPr lang="zh-TW" altLang="en-US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商業決策建議</a:t>
            </a:r>
            <a:r>
              <a:rPr lang="zh-TW" altLang="en-US" b="1" dirty="0">
                <a:effectLst/>
              </a:rPr>
              <a:t>）</a:t>
            </a:r>
            <a:br>
              <a:rPr lang="zh-TW" altLang="en-US" b="1" dirty="0">
                <a:effectLst/>
              </a:rPr>
            </a:br>
            <a:r>
              <a:rPr lang="en-US" altLang="zh-CN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DE</a:t>
            </a:r>
            <a:r>
              <a:rPr lang="zh-CN" altLang="en-US" b="1" dirty="0">
                <a:effectLst/>
              </a:rPr>
              <a:t>：</a:t>
            </a:r>
            <a:r>
              <a:rPr lang="en-US" altLang="zh-TW" b="1" dirty="0">
                <a:effectLst/>
              </a:rPr>
              <a:t>Data Engineer</a:t>
            </a:r>
            <a:r>
              <a:rPr lang="zh-TW" altLang="en-US" b="1" dirty="0">
                <a:effectLst/>
              </a:rPr>
              <a:t>數據工程師</a:t>
            </a:r>
            <a:r>
              <a:rPr lang="en-US" altLang="zh-TW" b="1" dirty="0">
                <a:effectLst/>
              </a:rPr>
              <a:t>(</a:t>
            </a:r>
            <a:r>
              <a:rPr lang="en-US" altLang="zh-TW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SQL</a:t>
            </a:r>
            <a:r>
              <a:rPr lang="zh-CN" altLang="en-US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語法</a:t>
            </a:r>
            <a:r>
              <a:rPr lang="en-US" altLang="zh-TW" b="1" dirty="0">
                <a:effectLst/>
              </a:rPr>
              <a:t>)</a:t>
            </a:r>
            <a:br>
              <a:rPr lang="zh-TW" altLang="en-US" b="1" dirty="0">
                <a:effectLst/>
              </a:rPr>
            </a:br>
            <a:r>
              <a:rPr lang="en-US" altLang="zh-TW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DA</a:t>
            </a:r>
            <a:r>
              <a:rPr lang="zh-CN" altLang="en-US" b="1" dirty="0">
                <a:effectLst/>
              </a:rPr>
              <a:t>：</a:t>
            </a:r>
            <a:r>
              <a:rPr lang="en-US" altLang="zh-TW" b="1" dirty="0">
                <a:effectLst/>
              </a:rPr>
              <a:t>Data Analyst</a:t>
            </a:r>
            <a:r>
              <a:rPr lang="zh-TW" altLang="en-US" b="1" dirty="0">
                <a:effectLst/>
              </a:rPr>
              <a:t>資料分析師（</a:t>
            </a:r>
            <a:r>
              <a:rPr lang="en-US" altLang="zh-TW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python</a:t>
            </a:r>
            <a:r>
              <a:rPr lang="zh-CN" altLang="en-US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，</a:t>
            </a:r>
            <a:r>
              <a:rPr lang="en-US" altLang="zh-CN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pandas</a:t>
            </a:r>
            <a:r>
              <a:rPr lang="zh-TW" altLang="en-US" b="1" dirty="0">
                <a:effectLst/>
              </a:rPr>
              <a:t>）</a:t>
            </a:r>
            <a:br>
              <a:rPr lang="zh-TW" altLang="en-US" b="1" dirty="0">
                <a:effectLst/>
              </a:rPr>
            </a:br>
            <a:r>
              <a:rPr lang="en-US" altLang="zh-CN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DS</a:t>
            </a:r>
            <a:r>
              <a:rPr lang="zh-CN" altLang="en-US" b="1" dirty="0">
                <a:effectLst/>
              </a:rPr>
              <a:t>：</a:t>
            </a:r>
            <a:r>
              <a:rPr lang="en-US" altLang="zh-TW" b="1" dirty="0">
                <a:effectLst/>
              </a:rPr>
              <a:t>Data Scientist</a:t>
            </a:r>
            <a:r>
              <a:rPr lang="zh-TW" altLang="en-US" b="1" dirty="0">
                <a:effectLst/>
              </a:rPr>
              <a:t>資料科學家（</a:t>
            </a:r>
            <a:r>
              <a:rPr lang="zh-TW" altLang="en-US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人工智慧</a:t>
            </a:r>
            <a:r>
              <a:rPr lang="zh-CN" altLang="en-US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預測</a:t>
            </a:r>
            <a:r>
              <a:rPr lang="zh-TW" altLang="en-US" b="1" dirty="0">
                <a:effectLst/>
              </a:rPr>
              <a:t>）</a:t>
            </a: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D4A907C-D083-469C-9414-407A218C5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-4010"/>
            <a:ext cx="8229600" cy="1265238"/>
          </a:xfrm>
        </p:spPr>
        <p:txBody>
          <a:bodyPr>
            <a:normAutofit fontScale="90000"/>
          </a:bodyPr>
          <a:lstStyle/>
          <a:p>
            <a:r>
              <a:rPr lang="zh-CN" altLang="en-US" sz="6000" b="1" dirty="0">
                <a:latin typeface="+mn-lt"/>
                <a:ea typeface="+mn-ea"/>
                <a:cs typeface="+mn-cs"/>
              </a:rPr>
              <a:t>資料分析相關的工作職稱</a:t>
            </a:r>
            <a:endParaRPr lang="zh-TW" altLang="en-US" sz="6000" b="1" dirty="0">
              <a:latin typeface="+mn-lt"/>
              <a:ea typeface="+mn-ea"/>
              <a:cs typeface="+mn-cs"/>
            </a:endParaRPr>
          </a:p>
        </p:txBody>
      </p:sp>
      <p:pic>
        <p:nvPicPr>
          <p:cNvPr id="1026" name="Picture 2" descr="scope3.png (1118×362)">
            <a:extLst>
              <a:ext uri="{FF2B5EF4-FFF2-40B4-BE49-F238E27FC236}">
                <a16:creationId xmlns:a16="http://schemas.microsoft.com/office/drawing/2014/main" id="{FC0CB41A-3215-4164-8BB0-6907375313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04" y="3897313"/>
            <a:ext cx="9144000" cy="2960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0911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1628800"/>
            <a:ext cx="8316416" cy="3600400"/>
          </a:xfrm>
        </p:spPr>
        <p:txBody>
          <a:bodyPr vert="horz" rtlCol="0">
            <a:normAutofit/>
          </a:bodyPr>
          <a:lstStyle/>
          <a:p>
            <a:r>
              <a:rPr lang="zh-CN" altLang="en-US" sz="8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要學</a:t>
            </a:r>
            <a:r>
              <a:rPr lang="en-US" altLang="zh-CN" sz="8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pandas</a:t>
            </a:r>
            <a:r>
              <a:rPr lang="zh-CN" altLang="en-US" sz="8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數據分析的四個理由</a:t>
            </a:r>
            <a:endParaRPr lang="zh-TW" altLang="en-US" sz="8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72889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1628800"/>
            <a:ext cx="8316416" cy="3600400"/>
          </a:xfrm>
        </p:spPr>
        <p:txBody>
          <a:bodyPr vert="horz" rtlCol="0">
            <a:normAutofit fontScale="85000" lnSpcReduction="10000"/>
          </a:bodyPr>
          <a:lstStyle/>
          <a:p>
            <a:r>
              <a:rPr lang="zh-CN" altLang="en-US" sz="8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CN" sz="8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CN" altLang="en-US" sz="8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個理由</a:t>
            </a:r>
            <a:endParaRPr lang="en-US" altLang="zh-CN" sz="8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CN" altLang="en-US" sz="8000" b="1" dirty="0"/>
              <a:t>才能夠活用</a:t>
            </a:r>
            <a:r>
              <a:rPr lang="en-US" altLang="zh-CN" sz="8000" b="1" dirty="0" err="1"/>
              <a:t>ChatGPT</a:t>
            </a:r>
            <a:r>
              <a:rPr lang="zh-CN" altLang="en-US" sz="8000" b="1" dirty="0"/>
              <a:t>的數據分析功能</a:t>
            </a:r>
            <a:endParaRPr lang="zh-TW" altLang="en-US" sz="8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51944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1700808"/>
            <a:ext cx="8867328" cy="4525963"/>
          </a:xfrm>
        </p:spPr>
        <p:txBody>
          <a:bodyPr>
            <a:normAutofit lnSpcReduction="10000"/>
          </a:bodyPr>
          <a:lstStyle/>
          <a:p>
            <a:r>
              <a:rPr lang="en-US" altLang="zh-CN" sz="5400" b="1" dirty="0" err="1">
                <a:effectLst/>
              </a:rPr>
              <a:t>ChatGPT</a:t>
            </a:r>
            <a:r>
              <a:rPr lang="zh-CN" altLang="en-US" sz="5400" b="1" dirty="0">
                <a:effectLst/>
              </a:rPr>
              <a:t>的三大功能</a:t>
            </a:r>
            <a:r>
              <a:rPr lang="zh-TW" altLang="en-US" sz="5400" b="1" dirty="0">
                <a:effectLst/>
              </a:rPr>
              <a:t>：</a:t>
            </a:r>
            <a:endParaRPr lang="en-US" altLang="zh-TW" sz="5400" b="1" dirty="0">
              <a:effectLst/>
            </a:endParaRPr>
          </a:p>
          <a:p>
            <a:r>
              <a:rPr lang="zh-CN" altLang="en-US" sz="4000" b="1" dirty="0">
                <a:effectLst/>
              </a:rPr>
              <a:t>功能</a:t>
            </a:r>
            <a:r>
              <a:rPr lang="en-US" altLang="zh-CN" sz="4000" b="1" dirty="0">
                <a:effectLst/>
              </a:rPr>
              <a:t>1</a:t>
            </a:r>
            <a:r>
              <a:rPr lang="zh-TW" altLang="en-US" sz="4000" b="1" dirty="0">
                <a:effectLst/>
              </a:rPr>
              <a:t>：</a:t>
            </a:r>
            <a:r>
              <a:rPr lang="zh-CN" altLang="en-US" sz="4000" b="1" dirty="0">
                <a:effectLst/>
              </a:rPr>
              <a:t>生成文本（對話，回答問題）</a:t>
            </a:r>
            <a:endParaRPr lang="en-US" altLang="zh-TW" sz="40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  <a:p>
            <a:r>
              <a:rPr lang="zh-CN" altLang="en-US" sz="4000" b="1" dirty="0">
                <a:effectLst/>
              </a:rPr>
              <a:t>功能</a:t>
            </a:r>
            <a:r>
              <a:rPr lang="en-US" altLang="zh-CN" sz="4000" b="1" dirty="0">
                <a:effectLst/>
              </a:rPr>
              <a:t>2</a:t>
            </a:r>
            <a:r>
              <a:rPr lang="zh-TW" altLang="en-US" sz="4000" b="1" dirty="0">
                <a:effectLst/>
              </a:rPr>
              <a:t>：</a:t>
            </a:r>
            <a:r>
              <a:rPr lang="zh-CN" altLang="en-US" sz="4000" b="1" dirty="0">
                <a:effectLst/>
              </a:rPr>
              <a:t>生成圖片</a:t>
            </a:r>
            <a:endParaRPr lang="en-US" altLang="zh-CN" sz="4000" b="1" dirty="0">
              <a:effectLst/>
            </a:endParaRPr>
          </a:p>
          <a:p>
            <a:r>
              <a:rPr lang="zh-CN" altLang="en-US" sz="4000" b="1" dirty="0">
                <a:effectLst/>
              </a:rPr>
              <a:t>功能</a:t>
            </a:r>
            <a:r>
              <a:rPr lang="en-US" altLang="zh-CN" sz="4000" b="1" dirty="0">
                <a:effectLst/>
              </a:rPr>
              <a:t>3</a:t>
            </a:r>
            <a:r>
              <a:rPr lang="zh-CN" altLang="en-US" sz="4000" b="1" dirty="0">
                <a:effectLst/>
              </a:rPr>
              <a:t>：</a:t>
            </a:r>
            <a:r>
              <a:rPr lang="zh-CN" altLang="en-US" sz="40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數據分析（上傳</a:t>
            </a:r>
            <a:r>
              <a:rPr lang="en-US" altLang="zh-CN" sz="40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excel</a:t>
            </a:r>
            <a:r>
              <a:rPr lang="zh-CN" altLang="en-US" sz="40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數據，</a:t>
            </a:r>
            <a:r>
              <a:rPr lang="en-US" altLang="zh-CN" sz="4000" b="1" dirty="0" err="1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chatpgt</a:t>
            </a:r>
            <a:r>
              <a:rPr lang="zh-CN" altLang="en-US" sz="40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可以幫你分析數據，自動畫圖視覺化，並給你</a:t>
            </a:r>
            <a:r>
              <a:rPr lang="en-US" altLang="zh-CN" sz="40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python</a:t>
            </a:r>
            <a:r>
              <a:rPr lang="zh-CN" altLang="en-US" sz="40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的程式碼）</a:t>
            </a:r>
            <a:endParaRPr lang="en-US" altLang="zh-CN" sz="40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  <a:p>
            <a:endParaRPr lang="en-US" altLang="zh-TW" sz="36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  <a:p>
            <a:endParaRPr lang="en-US" altLang="zh-TW" sz="36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要學</a:t>
            </a:r>
            <a:r>
              <a:rPr lang="en-US" altLang="zh-CN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pandas</a:t>
            </a: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數據分析</a:t>
            </a:r>
            <a:br>
              <a:rPr lang="en-US" altLang="zh-CN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的第</a:t>
            </a:r>
            <a:r>
              <a:rPr lang="en-US" altLang="zh-CN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個理由</a:t>
            </a:r>
            <a:endParaRPr lang="zh-TW" altLang="en-US" sz="5400" b="1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3876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1700808"/>
            <a:ext cx="8867328" cy="4525963"/>
          </a:xfrm>
        </p:spPr>
        <p:txBody>
          <a:bodyPr>
            <a:normAutofit/>
          </a:bodyPr>
          <a:lstStyle/>
          <a:p>
            <a:r>
              <a:rPr lang="en-US" altLang="zh-CN" sz="5400" b="1" dirty="0" err="1">
                <a:effectLst/>
              </a:rPr>
              <a:t>ChatGPT</a:t>
            </a:r>
            <a:r>
              <a:rPr lang="zh-CN" altLang="en-US" sz="5400" b="1" dirty="0">
                <a:effectLst/>
              </a:rPr>
              <a:t>幫你數據分析的</a:t>
            </a:r>
            <a:r>
              <a:rPr lang="zh-CN" altLang="en-US" sz="5400" b="1" dirty="0">
                <a:solidFill>
                  <a:srgbClr val="7030A0"/>
                </a:solidFill>
                <a:effectLst/>
              </a:rPr>
              <a:t>程式碼</a:t>
            </a:r>
            <a:r>
              <a:rPr lang="zh-TW" altLang="en-US" sz="5400" b="1" dirty="0">
                <a:effectLst/>
              </a:rPr>
              <a:t>：</a:t>
            </a:r>
            <a:endParaRPr lang="en-US" altLang="zh-TW" sz="5400" b="1" dirty="0">
              <a:effectLst/>
            </a:endParaRPr>
          </a:p>
          <a:p>
            <a:pPr lvl="1"/>
            <a:r>
              <a:rPr lang="zh-CN" altLang="en-US" sz="5000" b="1" dirty="0">
                <a:effectLst/>
              </a:rPr>
              <a:t>就是</a:t>
            </a:r>
            <a:r>
              <a:rPr lang="en-US" altLang="zh-CN" sz="9600" b="1" dirty="0">
                <a:solidFill>
                  <a:srgbClr val="7030A0"/>
                </a:solidFill>
                <a:effectLst/>
              </a:rPr>
              <a:t>pandas</a:t>
            </a:r>
            <a:endParaRPr lang="en-US" altLang="zh-TW" sz="9600" b="1" dirty="0">
              <a:solidFill>
                <a:srgbClr val="7030A0"/>
              </a:solidFill>
              <a:effectLst/>
            </a:endParaRPr>
          </a:p>
          <a:p>
            <a:endParaRPr lang="en-US" altLang="zh-TW" sz="36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要學</a:t>
            </a:r>
            <a:r>
              <a:rPr lang="en-US" altLang="zh-CN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pandas</a:t>
            </a: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數據分析</a:t>
            </a:r>
            <a:br>
              <a:rPr lang="en-US" altLang="zh-CN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的第</a:t>
            </a:r>
            <a:r>
              <a:rPr lang="en-US" altLang="zh-CN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個理由</a:t>
            </a:r>
            <a:endParaRPr lang="zh-TW" altLang="en-US" sz="5400" b="1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3045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C7D364C8-A345-49DC-8E2F-5FCAC91C4B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9A8D5755-B98C-4A28-9D6A-53C8E5252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9C2C62F-5F61-43DF-8816-E8734D53A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20" y="-228020"/>
            <a:ext cx="7869560" cy="7014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3790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64D490ED-9193-4104-8656-CADE45824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2400"/>
            <a:ext cx="9036496" cy="959229"/>
          </a:xfrm>
        </p:spPr>
        <p:txBody>
          <a:bodyPr>
            <a:normAutofit/>
          </a:bodyPr>
          <a:lstStyle/>
          <a:p>
            <a:r>
              <a:rPr lang="zh-CN" altLang="en-US" dirty="0"/>
              <a:t>不同性別的銷售數量，銷售金額</a:t>
            </a:r>
            <a:endParaRPr lang="zh-TW" altLang="en-US" dirty="0"/>
          </a:p>
        </p:txBody>
      </p:sp>
      <p:pic>
        <p:nvPicPr>
          <p:cNvPr id="21506" name="Picture 2" descr="https://files.oaiusercontent.com/file-GCXfF1PnHy5TmPyUrSoWjC6d?se=2023-10-24T10%3A27%3A05Z&amp;sp=r&amp;sv=2021-08-06&amp;sr=b&amp;rscc=max-age%3D3599%2C%20immutable&amp;rscd=attachment%3B%20filename%3D2059eecb-0b3c-47f4-8fa3-79350bb3ee28&amp;sig=nCP5szoQAVtkqRLmhpd0SyrBb/1kVEGno3sniPg19gQ%3D">
            <a:extLst>
              <a:ext uri="{FF2B5EF4-FFF2-40B4-BE49-F238E27FC236}">
                <a16:creationId xmlns:a16="http://schemas.microsoft.com/office/drawing/2014/main" id="{3F0C5CAB-1C10-4C77-ABA3-75014C1B189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111629"/>
            <a:ext cx="8928992" cy="5593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4973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5B75CE21-5D30-4FA9-820D-5CA3EDBB7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sz="4900" dirty="0"/>
              <a:t>各個業務單位的總銷售金額</a:t>
            </a:r>
            <a:br>
              <a:rPr lang="en-US" altLang="zh-TW" sz="4900" dirty="0"/>
            </a:br>
            <a:r>
              <a:rPr lang="zh-TW" altLang="en-US" sz="4900" dirty="0"/>
              <a:t>和總銷售數量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9B8D38F-0871-4BD4-906A-AD27EB21E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8196" name="Picture 4" descr="https://files.oaiusercontent.com/file-TYri7LtDm3B6pkXWArK0vhiD?se=2023-10-24T10%3A28%3A28Z&amp;sp=r&amp;sv=2021-08-06&amp;sr=b&amp;rscc=max-age%3D3599%2C%20immutable&amp;rscd=attachment%3B%20filename%3D72286061-d529-423b-abe1-bbe07c6ae182&amp;sig=W1PNLKK0b0pDboAsO1UvQ9D9uD2/4UTxjLQnTlIBtWI%3D">
            <a:extLst>
              <a:ext uri="{FF2B5EF4-FFF2-40B4-BE49-F238E27FC236}">
                <a16:creationId xmlns:a16="http://schemas.microsoft.com/office/drawing/2014/main" id="{B54D0FB7-8F6C-4BB7-A1A7-BD1F83AD53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18" y="1600200"/>
            <a:ext cx="9144000" cy="510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01104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5B75CE21-5D30-4FA9-820D-5CA3EDBB7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118" y="116632"/>
            <a:ext cx="9036496" cy="540296"/>
          </a:xfrm>
        </p:spPr>
        <p:txBody>
          <a:bodyPr>
            <a:normAutofit fontScale="90000"/>
          </a:bodyPr>
          <a:lstStyle/>
          <a:p>
            <a:r>
              <a:rPr lang="zh-TW" altLang="en-US" sz="4900" dirty="0"/>
              <a:t>比較不同性別，不同產品的比較圖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9B8D38F-0871-4BD4-906A-AD27EB21E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endParaRPr lang="en-US" altLang="zh-TW" sz="2400" dirty="0">
              <a:effectLst/>
            </a:endParaRPr>
          </a:p>
          <a:p>
            <a:endParaRPr lang="en-US" altLang="zh-TW" sz="2400" dirty="0">
              <a:effectLst/>
            </a:endParaRPr>
          </a:p>
          <a:p>
            <a:endParaRPr lang="en-US" altLang="zh-TW" sz="2400" dirty="0">
              <a:effectLst/>
            </a:endParaRPr>
          </a:p>
          <a:p>
            <a:endParaRPr lang="en-US" altLang="zh-TW" sz="2400" dirty="0">
              <a:effectLst/>
            </a:endParaRPr>
          </a:p>
          <a:p>
            <a:endParaRPr lang="en-US" altLang="zh-TW" sz="2400" dirty="0">
              <a:effectLst/>
            </a:endParaRPr>
          </a:p>
          <a:p>
            <a:endParaRPr lang="en-US" altLang="zh-TW" sz="2400" dirty="0">
              <a:effectLst/>
            </a:endParaRPr>
          </a:p>
          <a:p>
            <a:r>
              <a:rPr lang="zh-TW" altLang="en-US" sz="2600" dirty="0">
                <a:effectLst/>
                <a:highlight>
                  <a:srgbClr val="FFFF00"/>
                </a:highlight>
              </a:rPr>
              <a:t>左圖</a:t>
            </a:r>
            <a:r>
              <a:rPr lang="zh-TW" altLang="en-US" sz="2600" dirty="0">
                <a:effectLst/>
              </a:rPr>
              <a:t>：展示了按</a:t>
            </a:r>
            <a:r>
              <a:rPr lang="zh-TW" altLang="en-US" sz="2600" dirty="0">
                <a:solidFill>
                  <a:srgbClr val="C00000"/>
                </a:solidFill>
                <a:effectLst/>
              </a:rPr>
              <a:t>性別和產品</a:t>
            </a:r>
            <a:r>
              <a:rPr lang="zh-TW" altLang="en-US" sz="2600" dirty="0">
                <a:effectLst/>
              </a:rPr>
              <a:t>分類的</a:t>
            </a:r>
            <a:r>
              <a:rPr lang="zh-TW" altLang="en-US" sz="2600" dirty="0">
                <a:effectLst/>
                <a:highlight>
                  <a:srgbClr val="FFFF00"/>
                </a:highlight>
              </a:rPr>
              <a:t>銷售數量</a:t>
            </a:r>
            <a:r>
              <a:rPr lang="zh-TW" altLang="en-US" sz="2600" dirty="0">
                <a:effectLst/>
              </a:rPr>
              <a:t>。從圖中我們可以看到，在大多數產品類別中，男性和女性業務員的銷售數量相差不大。然而，在銷售手機和平板方面，男性業務員的表現似乎稍好一些。</a:t>
            </a:r>
          </a:p>
          <a:p>
            <a:r>
              <a:rPr lang="zh-TW" altLang="en-US" sz="2600" dirty="0">
                <a:effectLst/>
                <a:highlight>
                  <a:srgbClr val="FFFF00"/>
                </a:highlight>
              </a:rPr>
              <a:t>右圖</a:t>
            </a:r>
            <a:r>
              <a:rPr lang="zh-TW" altLang="en-US" sz="2600" dirty="0">
                <a:effectLst/>
              </a:rPr>
              <a:t>：展示了按</a:t>
            </a:r>
            <a:r>
              <a:rPr lang="zh-TW" altLang="en-US" sz="2600" dirty="0">
                <a:solidFill>
                  <a:srgbClr val="C00000"/>
                </a:solidFill>
                <a:effectLst/>
              </a:rPr>
              <a:t>性別和產品</a:t>
            </a:r>
            <a:r>
              <a:rPr lang="zh-TW" altLang="en-US" sz="2600" dirty="0">
                <a:effectLst/>
              </a:rPr>
              <a:t>分類的</a:t>
            </a:r>
            <a:r>
              <a:rPr lang="zh-TW" altLang="en-US" sz="2600" dirty="0">
                <a:effectLst/>
                <a:highlight>
                  <a:srgbClr val="FFFF00"/>
                </a:highlight>
              </a:rPr>
              <a:t>銷售金</a:t>
            </a:r>
            <a:r>
              <a:rPr lang="zh-TW" altLang="en-US" sz="2600" dirty="0">
                <a:effectLst/>
              </a:rPr>
              <a:t>額。這個圖表也顯示了類似的趨勢，男性業務員在銷售手機和平板方面的金額略高。</a:t>
            </a:r>
          </a:p>
          <a:p>
            <a:endParaRPr lang="zh-TW" altLang="en-US" dirty="0"/>
          </a:p>
        </p:txBody>
      </p:sp>
      <p:pic>
        <p:nvPicPr>
          <p:cNvPr id="10248" name="Picture 8" descr="https://files.oaiusercontent.com/file-IAOBhwoGPz97DcYHLYyJQhHT?se=2023-10-24T10%3A29%3A57Z&amp;sp=r&amp;sv=2021-08-06&amp;sr=b&amp;rscc=max-age%3D3599%2C%20immutable&amp;rscd=attachment%3B%20filename%3Da0a85895-b1f7-4eea-971e-f1408d0e367e&amp;sig=EqazOYhArh8Oegg3GOHWMmoo/wQa7nA4u4RC/fyDSjY%3D">
            <a:extLst>
              <a:ext uri="{FF2B5EF4-FFF2-40B4-BE49-F238E27FC236}">
                <a16:creationId xmlns:a16="http://schemas.microsoft.com/office/drawing/2014/main" id="{39F6389C-9229-4753-AE19-02D99E3829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87" y="675826"/>
            <a:ext cx="8874086" cy="3766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69879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C85E263E-FB51-4353-AFDB-058EDF6B3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23ADC02-1A36-48CD-B72B-390E3C05C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sz="4400" dirty="0">
                <a:effectLst/>
              </a:rPr>
              <a:t>比較不同業務單位，不同產品的比較圖</a:t>
            </a:r>
            <a:endParaRPr lang="zh-TW" altLang="en-US" dirty="0"/>
          </a:p>
        </p:txBody>
      </p:sp>
      <p:pic>
        <p:nvPicPr>
          <p:cNvPr id="11266" name="Picture 2" descr="https://files.oaiusercontent.com/file-cSzPZwYc60LqIsLEVZsFjKKU?se=2023-10-23T14%3A44%3A19Z&amp;sp=r&amp;sv=2021-08-06&amp;sr=b&amp;rscc=max-age%3D3599%2C%20immutable&amp;rscd=attachment%3B%20filename%3D71663b08-d6c6-4111-ab27-b5fdd8fb29d8&amp;sig=sA5xn7NwnNsF/E3Eh%2BzfCtC5MAWQPJ%2BnKa9stXX%2BNeE%3D">
            <a:extLst>
              <a:ext uri="{FF2B5EF4-FFF2-40B4-BE49-F238E27FC236}">
                <a16:creationId xmlns:a16="http://schemas.microsoft.com/office/drawing/2014/main" id="{BAFEBF0A-4A96-4E38-8545-0A9E9CC24E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3752" y="1399669"/>
            <a:ext cx="9144000" cy="545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99991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C85E263E-FB51-4353-AFDB-058EDF6B3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23ADC02-1A36-48CD-B72B-390E3C05C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sz="4400" dirty="0">
                <a:effectLst/>
              </a:rPr>
              <a:t>比較不同業務單位，不同產品的比較圖</a:t>
            </a:r>
            <a:endParaRPr lang="zh-TW" altLang="en-US" dirty="0"/>
          </a:p>
        </p:txBody>
      </p:sp>
      <p:pic>
        <p:nvPicPr>
          <p:cNvPr id="24578" name="Picture 2" descr="https://files.oaiusercontent.com/file-g1WKCfbYhNQ2fZcITxJLH4FU?se=2023-10-24T10%3A32%3A07Z&amp;sp=r&amp;sv=2021-08-06&amp;sr=b&amp;rscc=max-age%3D3599%2C%20immutable&amp;rscd=attachment%3B%20filename%3Da61fa4fd-038e-4195-a4aa-77a39c50a474&amp;sig=/kveL1M3eZcir3XrZXswfzEuqx9eqhhM6jCX09IDcpk%3D">
            <a:extLst>
              <a:ext uri="{FF2B5EF4-FFF2-40B4-BE49-F238E27FC236}">
                <a16:creationId xmlns:a16="http://schemas.microsoft.com/office/drawing/2014/main" id="{EC96D790-1C9E-4908-83CA-16E4E19FDA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821" y="1411740"/>
            <a:ext cx="9144000" cy="525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1150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C85E263E-FB51-4353-AFDB-058EDF6B3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23ADC02-1A36-48CD-B72B-390E3C05C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sz="4400" dirty="0">
                <a:effectLst/>
              </a:rPr>
              <a:t>比較不同業務員，不同產品的比較圖</a:t>
            </a:r>
          </a:p>
        </p:txBody>
      </p:sp>
      <p:pic>
        <p:nvPicPr>
          <p:cNvPr id="12290" name="Picture 2" descr="https://files.oaiusercontent.com/file-M80EIVoDlTyZD5v0gzvn39tK?se=2023-10-23T14%3A46%3A04Z&amp;sp=r&amp;sv=2021-08-06&amp;sr=b&amp;rscc=max-age%3D3599%2C%20immutable&amp;rscd=attachment%3B%20filename%3D36629a09-9400-44c9-a783-cf3be4462672&amp;sig=hTN51MYApsuJoGrEIiZjH2hlQJT3bBsonKtqGOTypog%3D">
            <a:extLst>
              <a:ext uri="{FF2B5EF4-FFF2-40B4-BE49-F238E27FC236}">
                <a16:creationId xmlns:a16="http://schemas.microsoft.com/office/drawing/2014/main" id="{AEE1D811-78E5-43F0-B5E5-08BF735C08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39629"/>
            <a:ext cx="9144000" cy="5303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62588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C85E263E-FB51-4353-AFDB-058EDF6B3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23ADC02-1A36-48CD-B72B-390E3C05C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sz="4400" dirty="0">
                <a:effectLst/>
              </a:rPr>
              <a:t>比較不同業務員，不同產品的比較圖</a:t>
            </a:r>
          </a:p>
        </p:txBody>
      </p:sp>
      <p:pic>
        <p:nvPicPr>
          <p:cNvPr id="23554" name="Picture 2" descr="https://files.oaiusercontent.com/file-KzgOthU1FnbZMLWVayr55lye?se=2023-10-24T10%3A34%3A06Z&amp;sp=r&amp;sv=2021-08-06&amp;sr=b&amp;rscc=max-age%3D3599%2C%20immutable&amp;rscd=attachment%3B%20filename%3D1521dda4-ba8d-4a9f-9bc6-9666d7dbfa89&amp;sig=3wAwsSoOSXeXpWPXnQcEQ%2BXZFcnV4TERUInqH/10Ddo%3D">
            <a:extLst>
              <a:ext uri="{FF2B5EF4-FFF2-40B4-BE49-F238E27FC236}">
                <a16:creationId xmlns:a16="http://schemas.microsoft.com/office/drawing/2014/main" id="{9D5FE7AB-F738-4444-B4CF-947F89CE0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276" y="1600200"/>
            <a:ext cx="9144000" cy="510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80773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6F980265-D5DF-4785-A9DC-9DC1480F3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A6C64169-8C78-43E9-9911-D348943E0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TW" altLang="en-US" sz="4000" dirty="0">
                <a:effectLst/>
              </a:rPr>
              <a:t>比較，分析不同業務單位，不同性別的銷售金額</a:t>
            </a:r>
            <a:endParaRPr lang="zh-TW" altLang="en-US" sz="2400" dirty="0"/>
          </a:p>
        </p:txBody>
      </p:sp>
      <p:pic>
        <p:nvPicPr>
          <p:cNvPr id="13314" name="Picture 2" descr="https://files.oaiusercontent.com/file-clvvOmNl7bTZYh70IKkYEkAi?se=2023-10-23T14%3A51%3A06Z&amp;sp=r&amp;sv=2021-08-06&amp;sr=b&amp;rscc=max-age%3D3599%2C%20immutable&amp;rscd=attachment%3B%20filename%3D58f010fe-c015-495b-9c08-3c39d7cae168&amp;sig=Ozj%2Bb0X2VWFLtFufKcZCAEKQuOEKlxN9rOyV84dfyeQ%3D">
            <a:extLst>
              <a:ext uri="{FF2B5EF4-FFF2-40B4-BE49-F238E27FC236}">
                <a16:creationId xmlns:a16="http://schemas.microsoft.com/office/drawing/2014/main" id="{9345E019-54E7-4DEC-A91F-E97581EF15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374" y="1376542"/>
            <a:ext cx="9144000" cy="545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22218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1628800"/>
            <a:ext cx="8316416" cy="3600400"/>
          </a:xfrm>
        </p:spPr>
        <p:txBody>
          <a:bodyPr vert="horz" rtlCol="0">
            <a:normAutofit fontScale="77500" lnSpcReduction="20000"/>
          </a:bodyPr>
          <a:lstStyle/>
          <a:p>
            <a:r>
              <a:rPr lang="zh-CN" altLang="en-US" sz="8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CN" sz="8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CN" altLang="en-US" sz="8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個理由</a:t>
            </a:r>
            <a:endParaRPr lang="en-US" altLang="zh-CN" sz="8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CN" sz="8000" b="1" dirty="0"/>
              <a:t>Pandas</a:t>
            </a:r>
            <a:r>
              <a:rPr lang="zh-CN" altLang="en-US" sz="8000" b="1" dirty="0"/>
              <a:t>是最新</a:t>
            </a:r>
            <a:r>
              <a:rPr lang="en-US" altLang="zh-CN" sz="8000" b="1" dirty="0"/>
              <a:t>/</a:t>
            </a:r>
            <a:r>
              <a:rPr lang="zh-CN" altLang="en-US" sz="8000" b="1" dirty="0"/>
              <a:t>最熱門的量化分析工具的基礎</a:t>
            </a:r>
            <a:endParaRPr lang="zh-TW" altLang="en-US" sz="8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505604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5B75CE21-5D30-4FA9-820D-5CA3EDBB7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zh-TW" altLang="en-US" sz="48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商管的量化分析</a:t>
            </a:r>
            <a:r>
              <a:rPr lang="zh-CN" altLang="en-US" sz="48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工具</a:t>
            </a:r>
            <a:endParaRPr lang="en-US" altLang="zh-TW" sz="6600" b="1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E3AE1C2-D9E5-42E4-8658-041196911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08" y="1633166"/>
            <a:ext cx="9144000" cy="5257800"/>
          </a:xfrm>
        </p:spPr>
        <p:txBody>
          <a:bodyPr>
            <a:normAutofit/>
          </a:bodyPr>
          <a:lstStyle/>
          <a:p>
            <a:r>
              <a:rPr lang="en-US" altLang="zh-CN" sz="4000" b="1" dirty="0">
                <a:solidFill>
                  <a:srgbClr val="C00000"/>
                </a:solidFill>
                <a:effectLst/>
              </a:rPr>
              <a:t>1. </a:t>
            </a:r>
            <a:r>
              <a:rPr lang="zh-CN" altLang="en-US" sz="4000" b="1" dirty="0">
                <a:solidFill>
                  <a:srgbClr val="C00000"/>
                </a:solidFill>
                <a:effectLst/>
              </a:rPr>
              <a:t>早期的工具</a:t>
            </a:r>
            <a:r>
              <a:rPr lang="en-US" altLang="zh-CN" sz="4000" b="1" dirty="0">
                <a:solidFill>
                  <a:srgbClr val="C00000"/>
                </a:solidFill>
                <a:effectLst/>
              </a:rPr>
              <a:t>(</a:t>
            </a:r>
            <a:r>
              <a:rPr lang="zh-CN" altLang="en-US" sz="4000" b="1" dirty="0">
                <a:solidFill>
                  <a:srgbClr val="C00000"/>
                </a:solidFill>
                <a:effectLst/>
              </a:rPr>
              <a:t>軟體</a:t>
            </a:r>
            <a:r>
              <a:rPr lang="en-US" altLang="zh-CN" sz="4000" b="1" dirty="0">
                <a:solidFill>
                  <a:srgbClr val="C00000"/>
                </a:solidFill>
                <a:effectLst/>
              </a:rPr>
              <a:t>)</a:t>
            </a:r>
          </a:p>
          <a:p>
            <a:pPr lvl="1"/>
            <a:r>
              <a:rPr lang="en-US" altLang="zh-CN" sz="3900" b="1" dirty="0">
                <a:effectLst/>
                <a:highlight>
                  <a:srgbClr val="FFFF00"/>
                </a:highlight>
              </a:rPr>
              <a:t>SPSS</a:t>
            </a:r>
            <a:r>
              <a:rPr lang="zh-CN" altLang="en-US" sz="3900" b="1" dirty="0">
                <a:effectLst/>
                <a:highlight>
                  <a:srgbClr val="FFFF00"/>
                </a:highlight>
              </a:rPr>
              <a:t>，</a:t>
            </a:r>
            <a:r>
              <a:rPr lang="en-US" altLang="zh-CN" sz="3900" b="1" dirty="0">
                <a:effectLst/>
                <a:highlight>
                  <a:srgbClr val="FFFF00"/>
                </a:highlight>
              </a:rPr>
              <a:t>SAS</a:t>
            </a:r>
          </a:p>
          <a:p>
            <a:r>
              <a:rPr lang="en-US" altLang="zh-CN" sz="4000" b="1" dirty="0">
                <a:solidFill>
                  <a:srgbClr val="C00000"/>
                </a:solidFill>
                <a:effectLst/>
              </a:rPr>
              <a:t>2. </a:t>
            </a:r>
            <a:r>
              <a:rPr lang="zh-CN" altLang="en-US" sz="4000" b="1" dirty="0">
                <a:solidFill>
                  <a:srgbClr val="C00000"/>
                </a:solidFill>
                <a:effectLst/>
              </a:rPr>
              <a:t>近年來流行的工具</a:t>
            </a:r>
            <a:endParaRPr lang="en-US" altLang="zh-CN" sz="4000" b="1" dirty="0">
              <a:solidFill>
                <a:srgbClr val="C00000"/>
              </a:solidFill>
              <a:effectLst/>
            </a:endParaRPr>
          </a:p>
          <a:p>
            <a:pPr lvl="1"/>
            <a:r>
              <a:rPr lang="en-US" altLang="zh-CN" sz="3900" b="1" dirty="0">
                <a:effectLst/>
                <a:highlight>
                  <a:srgbClr val="FFFF00"/>
                </a:highlight>
              </a:rPr>
              <a:t>Python</a:t>
            </a:r>
            <a:r>
              <a:rPr lang="zh-CN" altLang="en-US" sz="3900" b="1" dirty="0">
                <a:effectLst/>
              </a:rPr>
              <a:t>數據分析，</a:t>
            </a:r>
            <a:r>
              <a:rPr lang="en-US" altLang="zh-CN" sz="3900" b="1" dirty="0">
                <a:effectLst/>
                <a:highlight>
                  <a:srgbClr val="FFFF00"/>
                </a:highlight>
              </a:rPr>
              <a:t>R</a:t>
            </a:r>
            <a:r>
              <a:rPr lang="zh-CN" altLang="en-US" sz="3900" b="1" dirty="0">
                <a:effectLst/>
                <a:highlight>
                  <a:srgbClr val="FFFF00"/>
                </a:highlight>
              </a:rPr>
              <a:t>語言</a:t>
            </a:r>
            <a:r>
              <a:rPr lang="zh-CN" altLang="en-US" sz="3900" b="1" dirty="0">
                <a:effectLst/>
              </a:rPr>
              <a:t>數據分析</a:t>
            </a:r>
            <a:endParaRPr lang="en-US" altLang="zh-CN" sz="3900" b="1" dirty="0">
              <a:effectLst/>
            </a:endParaRPr>
          </a:p>
          <a:p>
            <a:r>
              <a:rPr lang="en-US" altLang="zh-CN" sz="4000" b="1" dirty="0">
                <a:solidFill>
                  <a:srgbClr val="C00000"/>
                </a:solidFill>
                <a:effectLst/>
              </a:rPr>
              <a:t>3. 2023</a:t>
            </a:r>
            <a:r>
              <a:rPr lang="zh-CN" altLang="en-US" sz="4000" b="1" dirty="0">
                <a:solidFill>
                  <a:srgbClr val="C00000"/>
                </a:solidFill>
                <a:effectLst/>
              </a:rPr>
              <a:t>年開始熱門起來的最新工具</a:t>
            </a:r>
            <a:endParaRPr lang="en-US" altLang="zh-CN" sz="4000" b="1" dirty="0">
              <a:solidFill>
                <a:srgbClr val="C00000"/>
              </a:solidFill>
              <a:effectLst/>
            </a:endParaRPr>
          </a:p>
          <a:p>
            <a:pPr lvl="1"/>
            <a:r>
              <a:rPr lang="zh-CN" altLang="en-US" sz="3600" b="1" dirty="0">
                <a:effectLst/>
                <a:highlight>
                  <a:srgbClr val="FFFF00"/>
                </a:highlight>
              </a:rPr>
              <a:t>生成式</a:t>
            </a:r>
            <a:r>
              <a:rPr lang="en-US" altLang="zh-CN" sz="3600" b="1" dirty="0">
                <a:effectLst/>
                <a:highlight>
                  <a:srgbClr val="FFFF00"/>
                </a:highlight>
              </a:rPr>
              <a:t>AI</a:t>
            </a:r>
            <a:r>
              <a:rPr lang="zh-CN" altLang="en-US" sz="3600" b="1" dirty="0">
                <a:effectLst/>
              </a:rPr>
              <a:t>（</a:t>
            </a:r>
            <a:r>
              <a:rPr lang="en-US" altLang="zh-CN" sz="3600" b="1" dirty="0" err="1">
                <a:effectLst/>
              </a:rPr>
              <a:t>ChatGPT</a:t>
            </a:r>
            <a:r>
              <a:rPr lang="zh-CN" altLang="en-US" sz="3600" b="1" dirty="0">
                <a:effectLst/>
              </a:rPr>
              <a:t>，</a:t>
            </a:r>
            <a:r>
              <a:rPr lang="en-US" altLang="zh-CN" sz="3600" b="1" dirty="0">
                <a:effectLst/>
              </a:rPr>
              <a:t>Bard</a:t>
            </a:r>
            <a:r>
              <a:rPr lang="zh-CN" altLang="en-US" sz="3600" b="1" dirty="0">
                <a:effectLst/>
              </a:rPr>
              <a:t>，文心一言）</a:t>
            </a:r>
            <a:endParaRPr lang="en-US" altLang="zh-TW" sz="3600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887325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32E1B049-F49C-449F-A0B1-43546B9922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A414D325-A351-4ED0-BD22-9D576959A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756" y="196850"/>
            <a:ext cx="8964488" cy="1265238"/>
          </a:xfrm>
        </p:spPr>
        <p:txBody>
          <a:bodyPr>
            <a:normAutofit fontScale="90000"/>
          </a:bodyPr>
          <a:lstStyle/>
          <a:p>
            <a:r>
              <a:rPr lang="zh-CN" altLang="en-US" sz="4900" dirty="0">
                <a:latin typeface="標楷體" panose="03000509000000000000" pitchFamily="65" charset="-120"/>
                <a:ea typeface="標楷體" panose="03000509000000000000" pitchFamily="65" charset="-120"/>
              </a:rPr>
              <a:t>數據量化</a:t>
            </a:r>
            <a:r>
              <a:rPr lang="zh-TW" altLang="en-US" sz="49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分析常用工具：</a:t>
            </a:r>
            <a:br>
              <a:rPr lang="zh-TW" altLang="en-US" sz="4900" b="1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sz="2700" b="1" dirty="0">
                <a:effectLst/>
              </a:rPr>
              <a:t>1.python/pandas</a:t>
            </a:r>
            <a:r>
              <a:rPr lang="zh-CN" altLang="en-US" sz="2700" b="1" dirty="0">
                <a:effectLst/>
              </a:rPr>
              <a:t>，</a:t>
            </a:r>
            <a:r>
              <a:rPr lang="en-US" altLang="zh-TW" sz="2700" b="1" dirty="0">
                <a:effectLst/>
              </a:rPr>
              <a:t>2.SQL</a:t>
            </a:r>
            <a:r>
              <a:rPr lang="zh-CN" altLang="en-US" sz="2700" b="1" dirty="0">
                <a:effectLst/>
              </a:rPr>
              <a:t>，</a:t>
            </a:r>
            <a:r>
              <a:rPr lang="en-US" altLang="zh-TW" sz="2700" b="1" dirty="0">
                <a:effectLst/>
              </a:rPr>
              <a:t>3.power BI</a:t>
            </a:r>
            <a:r>
              <a:rPr lang="zh-TW" altLang="en-US" sz="2700" b="1" dirty="0">
                <a:effectLst/>
              </a:rPr>
              <a:t>，</a:t>
            </a:r>
            <a:r>
              <a:rPr lang="en-US" altLang="zh-TW" sz="2700" b="1" dirty="0">
                <a:effectLst/>
              </a:rPr>
              <a:t>tableau</a:t>
            </a:r>
            <a:r>
              <a:rPr lang="zh-CN" altLang="en-US" sz="2700" b="1" dirty="0">
                <a:effectLst/>
              </a:rPr>
              <a:t>，</a:t>
            </a:r>
            <a:r>
              <a:rPr lang="en-US" altLang="zh-TW" sz="2700" b="1" dirty="0">
                <a:effectLst/>
              </a:rPr>
              <a:t>4.</a:t>
            </a:r>
            <a:r>
              <a:rPr lang="en-US" altLang="zh-CN" sz="2700" b="1" dirty="0">
                <a:effectLst/>
              </a:rPr>
              <a:t>AI</a:t>
            </a:r>
            <a:endParaRPr lang="zh-TW" altLang="en-US" dirty="0"/>
          </a:p>
        </p:txBody>
      </p:sp>
      <p:pic>
        <p:nvPicPr>
          <p:cNvPr id="5122" name="Picture 2" descr="https://acupun.site/lecture/pandas/pic/scope6.png">
            <a:extLst>
              <a:ext uri="{FF2B5EF4-FFF2-40B4-BE49-F238E27FC236}">
                <a16:creationId xmlns:a16="http://schemas.microsoft.com/office/drawing/2014/main" id="{FEEA9FCB-20C2-474F-9C49-4AB31D229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9" y="1462088"/>
            <a:ext cx="8003232" cy="5395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38303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32E1B049-F49C-449F-A0B1-43546B9922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A414D325-A351-4ED0-BD22-9D576959A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756" y="196850"/>
            <a:ext cx="8964488" cy="1265238"/>
          </a:xfrm>
        </p:spPr>
        <p:txBody>
          <a:bodyPr>
            <a:normAutofit fontScale="90000"/>
          </a:bodyPr>
          <a:lstStyle/>
          <a:p>
            <a:r>
              <a:rPr lang="zh-CN" altLang="en-US" sz="4900" dirty="0">
                <a:latin typeface="標楷體" panose="03000509000000000000" pitchFamily="65" charset="-120"/>
                <a:ea typeface="標楷體" panose="03000509000000000000" pitchFamily="65" charset="-120"/>
              </a:rPr>
              <a:t>數據量化</a:t>
            </a:r>
            <a:r>
              <a:rPr lang="zh-TW" altLang="en-US" sz="49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分析常用工具：</a:t>
            </a:r>
            <a:br>
              <a:rPr lang="zh-TW" altLang="en-US" sz="4900" b="1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sz="2700" b="1" dirty="0">
                <a:effectLst/>
              </a:rPr>
              <a:t>1.python/pandas</a:t>
            </a:r>
            <a:r>
              <a:rPr lang="zh-CN" altLang="en-US" sz="2700" b="1" dirty="0">
                <a:effectLst/>
              </a:rPr>
              <a:t>，</a:t>
            </a:r>
            <a:r>
              <a:rPr lang="en-US" altLang="zh-TW" sz="2700" b="1" dirty="0">
                <a:effectLst/>
              </a:rPr>
              <a:t>2.SQL</a:t>
            </a:r>
            <a:r>
              <a:rPr lang="zh-CN" altLang="en-US" sz="2700" b="1" dirty="0">
                <a:effectLst/>
              </a:rPr>
              <a:t>，</a:t>
            </a:r>
            <a:r>
              <a:rPr lang="en-US" altLang="zh-TW" sz="2700" b="1" dirty="0">
                <a:effectLst/>
              </a:rPr>
              <a:t>3.power BI</a:t>
            </a:r>
            <a:r>
              <a:rPr lang="zh-TW" altLang="en-US" sz="2700" b="1" dirty="0">
                <a:effectLst/>
              </a:rPr>
              <a:t>，</a:t>
            </a:r>
            <a:r>
              <a:rPr lang="en-US" altLang="zh-TW" sz="2700" b="1" dirty="0">
                <a:effectLst/>
              </a:rPr>
              <a:t>tableau</a:t>
            </a:r>
            <a:r>
              <a:rPr lang="zh-CN" altLang="en-US" sz="2700" b="1" dirty="0">
                <a:effectLst/>
              </a:rPr>
              <a:t>，</a:t>
            </a:r>
            <a:r>
              <a:rPr lang="en-US" altLang="zh-TW" sz="2700" b="1" dirty="0">
                <a:effectLst/>
              </a:rPr>
              <a:t>4.</a:t>
            </a:r>
            <a:r>
              <a:rPr lang="en-US" altLang="zh-CN" sz="2700" b="1" dirty="0">
                <a:effectLst/>
              </a:rPr>
              <a:t>AI</a:t>
            </a:r>
            <a:endParaRPr lang="zh-TW" altLang="en-US" dirty="0"/>
          </a:p>
        </p:txBody>
      </p:sp>
      <p:pic>
        <p:nvPicPr>
          <p:cNvPr id="6146" name="Picture 2" descr="https://acupun.site/lecture/pandas/pic/scope4.png">
            <a:extLst>
              <a:ext uri="{FF2B5EF4-FFF2-40B4-BE49-F238E27FC236}">
                <a16:creationId xmlns:a16="http://schemas.microsoft.com/office/drawing/2014/main" id="{13775DDE-ADC7-4E83-A565-2528B914CD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391930"/>
            <a:ext cx="8229600" cy="5485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39128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1628800"/>
            <a:ext cx="8316416" cy="3600400"/>
          </a:xfrm>
        </p:spPr>
        <p:txBody>
          <a:bodyPr vert="horz" rtlCol="0">
            <a:normAutofit fontScale="77500" lnSpcReduction="20000"/>
          </a:bodyPr>
          <a:lstStyle/>
          <a:p>
            <a:r>
              <a:rPr lang="zh-CN" altLang="en-US" sz="8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CN" sz="8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CN" altLang="en-US" sz="8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個理由</a:t>
            </a:r>
            <a:endParaRPr lang="en-US" altLang="zh-CN" sz="8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CN" sz="8000" b="1" dirty="0"/>
              <a:t>Python/Pandas</a:t>
            </a:r>
            <a:r>
              <a:rPr lang="zh-CN" altLang="en-US" sz="8000" b="1" dirty="0"/>
              <a:t>是目前求職市場目前排行前三的程式語言</a:t>
            </a:r>
            <a:endParaRPr lang="zh-TW" altLang="en-US" sz="8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993065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F196DE1D-EA43-4909-BFCB-F96D0FB27F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1362"/>
            <a:ext cx="9111168" cy="5425495"/>
          </a:xfr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2E0C39D6-4333-48B9-AD26-8586B0DFC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104</a:t>
            </a:r>
            <a:r>
              <a:rPr lang="zh-CN" altLang="en-US" dirty="0"/>
              <a:t>人力銀行調查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00597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D271DF42-EFB5-490C-B085-9F53239ED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4400" b="1" i="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在 </a:t>
            </a:r>
            <a:r>
              <a:rPr lang="en-US" altLang="zh-TW" sz="4400" b="1" i="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104 </a:t>
            </a:r>
            <a:r>
              <a:rPr lang="zh-TW" altLang="en-US" sz="4400" b="1" i="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人力銀行上搜尋，篩選月薪 </a:t>
            </a:r>
            <a:r>
              <a:rPr lang="en-US" altLang="zh-TW" sz="4400" b="1" i="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4 </a:t>
            </a:r>
            <a:r>
              <a:rPr lang="zh-TW" altLang="en-US" sz="4400" b="1" i="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萬元以上、</a:t>
            </a:r>
            <a:endParaRPr lang="en-US" altLang="zh-TW" sz="4400" b="1" i="0" dirty="0">
              <a:solidFill>
                <a:srgbClr val="7030A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CN" altLang="en-US" sz="4400" b="1" i="0" dirty="0">
                <a:solidFill>
                  <a:srgbClr val="7030A0"/>
                </a:solidFill>
                <a:effectLst/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最多</a:t>
            </a:r>
            <a:r>
              <a:rPr lang="zh-TW" altLang="en-US" sz="4400" b="1" i="0" dirty="0">
                <a:solidFill>
                  <a:srgbClr val="7030A0"/>
                </a:solidFill>
                <a:effectLst/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需要</a:t>
            </a:r>
            <a:r>
              <a:rPr lang="zh-CN" altLang="en-US" sz="4400" b="1" i="0" dirty="0">
                <a:solidFill>
                  <a:srgbClr val="7030A0"/>
                </a:solidFill>
                <a:effectLst/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的是：</a:t>
            </a:r>
            <a:r>
              <a:rPr lang="zh-TW" altLang="en-US" sz="4400" b="1" i="0" dirty="0">
                <a:solidFill>
                  <a:srgbClr val="7030A0"/>
                </a:solidFill>
                <a:effectLst/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CN" altLang="en-US" sz="4400" b="1" i="0" dirty="0">
                <a:solidFill>
                  <a:srgbClr val="7030A0"/>
                </a:solidFill>
                <a:effectLst/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前端網頁</a:t>
            </a:r>
            <a:r>
              <a:rPr lang="en-US" altLang="zh-TW" sz="4400" b="1" i="0" dirty="0">
                <a:solidFill>
                  <a:srgbClr val="7030A0"/>
                </a:solidFill>
                <a:effectLst/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JavaScript </a:t>
            </a:r>
            <a:r>
              <a:rPr lang="zh-TW" altLang="en-US" sz="4400" b="1" i="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的職缺有 </a:t>
            </a:r>
            <a:r>
              <a:rPr lang="en-US" altLang="zh-TW" sz="4400" b="1" i="0" dirty="0">
                <a:solidFill>
                  <a:srgbClr val="7030A0"/>
                </a:solidFill>
                <a:effectLst/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1300 </a:t>
            </a:r>
            <a:r>
              <a:rPr lang="zh-TW" altLang="en-US" sz="4400" b="1" i="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筆；</a:t>
            </a:r>
            <a:endParaRPr lang="en-US" altLang="zh-TW" sz="4400" b="1" i="0" dirty="0">
              <a:solidFill>
                <a:srgbClr val="7030A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4400" b="1" i="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其次是 </a:t>
            </a:r>
            <a:r>
              <a:rPr lang="en-US" altLang="zh-TW" sz="4400" b="1" i="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Python </a:t>
            </a:r>
            <a:r>
              <a:rPr lang="zh-TW" altLang="en-US" sz="4400" b="1" i="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與 </a:t>
            </a:r>
            <a:r>
              <a:rPr lang="en-US" altLang="zh-TW" sz="4400" b="1" i="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C#</a:t>
            </a:r>
            <a:r>
              <a:rPr lang="zh-TW" altLang="en-US" sz="4400" b="1" i="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，皆有 </a:t>
            </a:r>
            <a:r>
              <a:rPr lang="en-US" altLang="zh-TW" sz="4400" b="1" i="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900 </a:t>
            </a:r>
            <a:r>
              <a:rPr lang="zh-TW" altLang="en-US" sz="4400" b="1" i="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多筆</a:t>
            </a:r>
            <a:endParaRPr lang="zh-TW" altLang="en-US" sz="4400" b="1" dirty="0">
              <a:solidFill>
                <a:srgbClr val="7030A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563DEB1A-69F6-4FA0-86C2-CA6B28A07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6600" b="1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104 </a:t>
            </a:r>
            <a:r>
              <a:rPr lang="zh-TW" altLang="en-US" sz="6600" b="1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人力銀行</a:t>
            </a:r>
            <a:endParaRPr lang="zh-TW" altLang="en-US" sz="6600" dirty="0"/>
          </a:p>
        </p:txBody>
      </p:sp>
    </p:spTree>
    <p:extLst>
      <p:ext uri="{BB962C8B-B14F-4D97-AF65-F5344CB8AC3E}">
        <p14:creationId xmlns:p14="http://schemas.microsoft.com/office/powerpoint/2010/main" val="23760942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2B1C9A2C-A76A-42F8-A1BB-A62A14230A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166018"/>
            <a:ext cx="8496944" cy="5820316"/>
          </a:xfr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9BA912CF-DFC0-49A3-925E-AF4334FFB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013618"/>
          </a:xfrm>
        </p:spPr>
        <p:txBody>
          <a:bodyPr/>
          <a:lstStyle/>
          <a:p>
            <a:r>
              <a:rPr lang="zh-TW" altLang="en-US" dirty="0"/>
              <a:t>台灣</a:t>
            </a:r>
            <a:r>
              <a:rPr lang="en-US" altLang="zh-TW" dirty="0"/>
              <a:t>104</a:t>
            </a:r>
            <a:r>
              <a:rPr lang="zh-TW" altLang="en-US" dirty="0"/>
              <a:t>程式工作職缺與薪水排行</a:t>
            </a:r>
          </a:p>
        </p:txBody>
      </p:sp>
    </p:spTree>
    <p:extLst>
      <p:ext uri="{BB962C8B-B14F-4D97-AF65-F5344CB8AC3E}">
        <p14:creationId xmlns:p14="http://schemas.microsoft.com/office/powerpoint/2010/main" val="3186804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2E0C39D6-4333-48B9-AD26-8586B0DFC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國外企業常用求職平台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LinkedIn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的程式工作職缺排行</a:t>
            </a:r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0DF584B3-4A04-4414-B672-39A62BA853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628800"/>
            <a:ext cx="8784976" cy="5171801"/>
          </a:xfrm>
        </p:spPr>
      </p:pic>
    </p:spTree>
    <p:extLst>
      <p:ext uri="{BB962C8B-B14F-4D97-AF65-F5344CB8AC3E}">
        <p14:creationId xmlns:p14="http://schemas.microsoft.com/office/powerpoint/2010/main" val="8326606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0E066B01-E1F8-4292-AEE4-0CD8F92F8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7112" y="1556792"/>
            <a:ext cx="2366888" cy="5148808"/>
          </a:xfrm>
        </p:spPr>
        <p:txBody>
          <a:bodyPr/>
          <a:lstStyle/>
          <a:p>
            <a:r>
              <a:rPr lang="zh-TW" altLang="en-US" dirty="0"/>
              <a:t>程式社群</a:t>
            </a:r>
            <a:r>
              <a:rPr lang="en-US" altLang="zh-TW" dirty="0" err="1"/>
              <a:t>Stackoverflow</a:t>
            </a:r>
            <a:r>
              <a:rPr lang="en-US" altLang="zh-TW" dirty="0"/>
              <a:t> 2022</a:t>
            </a:r>
            <a:r>
              <a:rPr lang="zh-TW" altLang="en-US" dirty="0"/>
              <a:t>調查工作職缺排行 </a:t>
            </a:r>
          </a:p>
        </p:txBody>
      </p:sp>
      <p:pic>
        <p:nvPicPr>
          <p:cNvPr id="1026" name="Picture 2" descr="0-1.PNG (630×622)">
            <a:extLst>
              <a:ext uri="{FF2B5EF4-FFF2-40B4-BE49-F238E27FC236}">
                <a16:creationId xmlns:a16="http://schemas.microsoft.com/office/drawing/2014/main" id="{418C1030-099B-45EC-8AEA-58409320FB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839" y="-8990"/>
            <a:ext cx="6800951" cy="6714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1929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F6666F86-1833-4504-AD6E-7D85E9FC3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600200"/>
            <a:ext cx="6851104" cy="5105400"/>
          </a:xfrm>
        </p:spPr>
        <p:txBody>
          <a:bodyPr/>
          <a:lstStyle/>
          <a:p>
            <a:r>
              <a:rPr lang="zh-CN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CN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CN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名是：前端網頁</a:t>
            </a:r>
            <a:r>
              <a:rPr lang="en-US" altLang="zh-CN" sz="32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Javascript</a:t>
            </a:r>
            <a:endParaRPr lang="en-US" altLang="zh-CN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CN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CN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CN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名是：前端網頁</a:t>
            </a:r>
            <a:r>
              <a:rPr lang="en-US" altLang="zh-CN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HTML/CSS</a:t>
            </a:r>
          </a:p>
          <a:p>
            <a:r>
              <a:rPr lang="zh-CN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CN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CN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名是：資料庫</a:t>
            </a:r>
            <a:r>
              <a:rPr lang="en-US" altLang="zh-CN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SQL</a:t>
            </a:r>
          </a:p>
          <a:p>
            <a:r>
              <a:rPr lang="zh-CN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CN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CN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名是：</a:t>
            </a:r>
            <a:r>
              <a:rPr lang="en-US" altLang="zh-CN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python</a:t>
            </a:r>
          </a:p>
          <a:p>
            <a:r>
              <a:rPr lang="zh-CN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CN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r>
              <a:rPr lang="zh-CN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名是：</a:t>
            </a:r>
            <a:r>
              <a:rPr lang="en-US" altLang="zh-CN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Typescript</a:t>
            </a:r>
          </a:p>
          <a:p>
            <a:pPr lvl="1"/>
            <a:r>
              <a:rPr lang="en-US" altLang="zh-CN" sz="2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javascript</a:t>
            </a:r>
            <a:r>
              <a:rPr lang="zh-CN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的姐妹產品</a:t>
            </a:r>
            <a:endParaRPr lang="en-US" altLang="zh-CN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CN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CN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</a:t>
            </a:r>
            <a:r>
              <a:rPr lang="zh-CN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名是：後端網頁</a:t>
            </a:r>
            <a:r>
              <a:rPr lang="en-US" altLang="zh-CN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PHP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B48F21BE-27C9-40C6-932D-55F988145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全球最大的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程式社群</a:t>
            </a:r>
            <a:r>
              <a:rPr lang="en-US" altLang="zh-TW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Stackoverflow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b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2022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調查工作職缺排行 </a:t>
            </a:r>
          </a:p>
        </p:txBody>
      </p:sp>
      <p:pic>
        <p:nvPicPr>
          <p:cNvPr id="4" name="Picture 2" descr="0-1.PNG (630×622)">
            <a:extLst>
              <a:ext uri="{FF2B5EF4-FFF2-40B4-BE49-F238E27FC236}">
                <a16:creationId xmlns:a16="http://schemas.microsoft.com/office/drawing/2014/main" id="{70ED3F3A-2E68-48A2-A3C5-5656ADDCA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2564904"/>
            <a:ext cx="4348312" cy="4293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96558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1628800"/>
            <a:ext cx="8316416" cy="3600400"/>
          </a:xfrm>
        </p:spPr>
        <p:txBody>
          <a:bodyPr vert="horz" rtlCol="0">
            <a:normAutofit fontScale="62500" lnSpcReduction="20000"/>
          </a:bodyPr>
          <a:lstStyle/>
          <a:p>
            <a:r>
              <a:rPr lang="zh-CN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你們大學</a:t>
            </a:r>
            <a:r>
              <a:rPr lang="en-US" altLang="zh-CN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CN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年中老師所教的技術</a:t>
            </a:r>
            <a:br>
              <a:rPr lang="en-US" altLang="zh-CN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CN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對應到目前全世界資訊技術工作職缺的排名</a:t>
            </a:r>
            <a:endParaRPr lang="zh-TW" altLang="en-US" sz="8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863302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F6666F86-1833-4504-AD6E-7D85E9FC3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00200"/>
            <a:ext cx="9036496" cy="5257800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sz="3200" b="1" u="sng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(1).</a:t>
            </a:r>
            <a:r>
              <a:rPr lang="zh-CN" altLang="en-US" sz="3200" b="1" u="sng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基礎數據分析：</a:t>
            </a:r>
            <a:r>
              <a:rPr lang="en-US" altLang="zh-CN" sz="3200" b="1" u="sng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SQL</a:t>
            </a:r>
            <a:r>
              <a:rPr lang="zh-CN" altLang="en-US" sz="3200" b="1" u="sng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資料庫</a:t>
            </a:r>
            <a:endParaRPr lang="en-US" altLang="zh-CN" sz="3200" b="1" u="sng" dirty="0">
              <a:highlight>
                <a:srgbClr val="FFFF00"/>
              </a:highligh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CN" altLang="en-US" sz="28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CN" sz="28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CN" altLang="en-US" sz="28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名是</a:t>
            </a:r>
            <a:r>
              <a:rPr lang="zh-CN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：資料庫</a:t>
            </a:r>
            <a:r>
              <a:rPr lang="en-US" altLang="zh-CN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SQL</a:t>
            </a:r>
          </a:p>
          <a:p>
            <a:r>
              <a:rPr lang="en-US" altLang="zh-CN" sz="3200" b="1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(2).</a:t>
            </a:r>
            <a:r>
              <a:rPr lang="zh-CN" altLang="en-US" sz="3200" b="1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基礎數據分析：</a:t>
            </a:r>
            <a:r>
              <a:rPr lang="en-US" altLang="zh-CN" sz="3200" b="1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pandas</a:t>
            </a:r>
            <a:r>
              <a:rPr lang="zh-CN" altLang="en-US" sz="3200" b="1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資料處理，大數據分析</a:t>
            </a:r>
            <a:endParaRPr lang="en-US" altLang="zh-CN" sz="3200" b="1" dirty="0">
              <a:highlight>
                <a:srgbClr val="FFFF00"/>
              </a:highligh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CN" sz="3200" b="1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(3).</a:t>
            </a:r>
            <a:r>
              <a:rPr lang="zh-CN" altLang="en-US" sz="3200" b="1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進階數據分析：人工智慧在商情預測的應用</a:t>
            </a:r>
            <a:endParaRPr lang="en-US" altLang="zh-CN" sz="3200" b="1" dirty="0">
              <a:highlight>
                <a:srgbClr val="FFFF00"/>
              </a:highligh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CN" altLang="en-US" sz="28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CN" sz="28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CN" altLang="en-US" sz="28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名是</a:t>
            </a:r>
            <a:r>
              <a:rPr lang="zh-CN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CN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python</a:t>
            </a:r>
          </a:p>
          <a:p>
            <a:r>
              <a:rPr lang="en-US" altLang="zh-CN" sz="3200" b="1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(4).</a:t>
            </a:r>
            <a:r>
              <a:rPr lang="zh-CN" altLang="en-US" sz="3200" b="1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商業多媒體設計：</a:t>
            </a:r>
            <a:endParaRPr lang="en-US" altLang="zh-CN" sz="3200" b="1" dirty="0">
              <a:highlight>
                <a:srgbClr val="FFFF00"/>
              </a:highligh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CN" altLang="en-US" sz="28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CN" sz="28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CN" altLang="en-US" sz="28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名</a:t>
            </a:r>
            <a:r>
              <a:rPr lang="zh-CN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是：前端網頁</a:t>
            </a:r>
            <a:r>
              <a:rPr lang="en-US" altLang="zh-CN" sz="2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javascript</a:t>
            </a:r>
            <a:endParaRPr lang="en-US" altLang="zh-CN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CN" altLang="en-US" sz="28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CN" sz="28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CN" altLang="en-US" sz="28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名</a:t>
            </a:r>
            <a:r>
              <a:rPr lang="zh-CN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是：前端網頁</a:t>
            </a:r>
            <a:r>
              <a:rPr lang="en-US" altLang="zh-CN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HTML/CSS</a:t>
            </a:r>
          </a:p>
          <a:p>
            <a:pPr lvl="1"/>
            <a:r>
              <a:rPr lang="zh-CN" altLang="en-US" sz="28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CN" sz="28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r>
              <a:rPr lang="zh-CN" altLang="en-US" sz="28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名</a:t>
            </a:r>
            <a:r>
              <a:rPr lang="zh-CN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是：</a:t>
            </a:r>
            <a:r>
              <a:rPr lang="en-US" altLang="zh-CN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Typescript</a:t>
            </a:r>
          </a:p>
          <a:p>
            <a:pPr lvl="2"/>
            <a:r>
              <a:rPr lang="en-US" altLang="zh-CN" sz="2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javascript</a:t>
            </a:r>
            <a:r>
              <a:rPr lang="zh-CN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的姐妹產品</a:t>
            </a:r>
            <a:endParaRPr lang="en-US" altLang="zh-CN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CN" altLang="en-US" sz="28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CN" sz="28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8</a:t>
            </a:r>
            <a:r>
              <a:rPr lang="zh-CN" altLang="en-US" sz="28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名</a:t>
            </a:r>
            <a:r>
              <a:rPr lang="zh-CN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是：後端網頁</a:t>
            </a:r>
            <a:r>
              <a:rPr lang="en-US" altLang="zh-CN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PHP</a:t>
            </a:r>
            <a:endParaRPr lang="en-US" altLang="zh-CN" dirty="0"/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B48F21BE-27C9-40C6-932D-55F988145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152400"/>
            <a:ext cx="9036496" cy="1265238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你們大學</a:t>
            </a:r>
            <a:r>
              <a:rPr lang="en-US" altLang="zh-CN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年中老師所教技術</a:t>
            </a:r>
            <a:br>
              <a:rPr lang="en-US" altLang="zh-CN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對應全球職場業界職缺需求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772350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9592" y="1628800"/>
            <a:ext cx="7668344" cy="3600400"/>
          </a:xfrm>
        </p:spPr>
        <p:txBody>
          <a:bodyPr vert="horz" rtlCol="0">
            <a:normAutofit fontScale="70000" lnSpcReduction="20000"/>
          </a:bodyPr>
          <a:lstStyle/>
          <a:p>
            <a:r>
              <a:rPr lang="zh-CN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全球職場業界職缺需求的第</a:t>
            </a:r>
            <a:r>
              <a:rPr lang="en-US" altLang="zh-CN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CN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～</a:t>
            </a:r>
            <a:r>
              <a:rPr lang="en-US" altLang="zh-CN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5+8</a:t>
            </a:r>
            <a:r>
              <a:rPr lang="zh-CN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名，你都有學到</a:t>
            </a:r>
            <a:endParaRPr lang="zh-TW" altLang="en-US" sz="8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913747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9592" y="1628800"/>
            <a:ext cx="7668344" cy="3600400"/>
          </a:xfrm>
        </p:spPr>
        <p:txBody>
          <a:bodyPr vert="horz" rtlCol="0">
            <a:normAutofit fontScale="62500" lnSpcReduction="20000"/>
          </a:bodyPr>
          <a:lstStyle/>
          <a:p>
            <a:r>
              <a:rPr lang="zh-CN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而且很多課程期末都會帶你做</a:t>
            </a:r>
            <a:r>
              <a:rPr lang="en-US" altLang="zh-CN" sz="9600" b="1" dirty="0">
                <a:solidFill>
                  <a:srgbClr val="C00000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side project</a:t>
            </a:r>
            <a:r>
              <a:rPr lang="zh-CN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可以放在履歷上用</a:t>
            </a:r>
            <a:endParaRPr lang="en-US" altLang="zh-CN" sz="9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CN" altLang="en-US" sz="9600" b="1" dirty="0">
                <a:solidFill>
                  <a:srgbClr val="C00000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作品集</a:t>
            </a:r>
            <a:r>
              <a:rPr lang="zh-CN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證明實力</a:t>
            </a:r>
            <a:endParaRPr lang="zh-TW" altLang="en-US" sz="8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976318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F6666F86-1833-4504-AD6E-7D85E9FC3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00200"/>
            <a:ext cx="9036496" cy="5257800"/>
          </a:xfrm>
        </p:spPr>
        <p:txBody>
          <a:bodyPr>
            <a:normAutofit/>
          </a:bodyPr>
          <a:lstStyle/>
          <a:p>
            <a:r>
              <a:rPr lang="en-US" altLang="zh-CN" sz="3200" b="1" u="sng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(1).</a:t>
            </a:r>
            <a:r>
              <a:rPr lang="zh-CN" altLang="en-US" sz="3200" b="1" u="sng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基礎數據分析：</a:t>
            </a:r>
            <a:r>
              <a:rPr lang="en-US" altLang="zh-CN" sz="3200" b="1" u="sng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SQL</a:t>
            </a:r>
            <a:r>
              <a:rPr lang="zh-CN" altLang="en-US" sz="3200" b="1" u="sng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資料庫</a:t>
            </a:r>
            <a:endParaRPr lang="en-US" altLang="zh-CN" sz="3200" b="1" u="sng" dirty="0">
              <a:solidFill>
                <a:srgbClr val="7030A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CN" sz="3200" b="1" u="sng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(2).</a:t>
            </a:r>
            <a:r>
              <a:rPr lang="zh-CN" altLang="en-US" sz="3200" b="1" u="sng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基礎數據分析：</a:t>
            </a:r>
            <a:r>
              <a:rPr lang="en-US" altLang="zh-CN" sz="3200" b="1" u="sng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pandas</a:t>
            </a:r>
            <a:r>
              <a:rPr lang="zh-CN" altLang="en-US" sz="3200" b="1" u="sng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資料處理，大數據分析</a:t>
            </a:r>
            <a:endParaRPr lang="en-US" altLang="zh-CN" sz="3200" b="1" u="sng" dirty="0">
              <a:solidFill>
                <a:srgbClr val="7030A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CN" sz="3200" b="1" u="sng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(3).</a:t>
            </a:r>
            <a:r>
              <a:rPr lang="zh-CN" altLang="en-US" sz="3200" b="1" u="sng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進階數據分析：人工智慧在商情預測的應用</a:t>
            </a:r>
            <a:endParaRPr lang="en-US" altLang="zh-CN" sz="3200" b="1" u="sng" dirty="0">
              <a:solidFill>
                <a:srgbClr val="7030A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CN" sz="32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(4).</a:t>
            </a:r>
            <a:r>
              <a:rPr lang="zh-CN" altLang="en-US" sz="32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商業多媒體設計：</a:t>
            </a:r>
            <a:endParaRPr lang="en-US" altLang="zh-CN" sz="32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CN" altLang="en-US" sz="28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本學期的作業，可以自己改成</a:t>
            </a:r>
            <a:r>
              <a:rPr lang="en-US" altLang="zh-CN" sz="28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side project</a:t>
            </a:r>
            <a:r>
              <a:rPr lang="zh-CN" altLang="en-US" sz="28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當作品集</a:t>
            </a:r>
            <a:endParaRPr lang="en-US" altLang="zh-CN" sz="2800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CN" altLang="en-US" sz="28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本學期會有很多網頁作業</a:t>
            </a:r>
            <a:endParaRPr lang="en-US" altLang="zh-CN" sz="2800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CN" altLang="en-US" sz="28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但是不會帶你做</a:t>
            </a:r>
            <a:r>
              <a:rPr lang="en-US" altLang="zh-CN" sz="28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side project</a:t>
            </a:r>
          </a:p>
          <a:p>
            <a:pPr lvl="1"/>
            <a:r>
              <a:rPr lang="zh-CN" altLang="en-US" sz="28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要自己做，自己放在履歷</a:t>
            </a:r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B48F21BE-27C9-40C6-932D-55F988145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152400"/>
            <a:ext cx="9036496" cy="1265238"/>
          </a:xfrm>
        </p:spPr>
        <p:txBody>
          <a:bodyPr>
            <a:normAutofit fontScale="90000"/>
          </a:bodyPr>
          <a:lstStyle/>
          <a:p>
            <a:r>
              <a:rPr lang="zh-CN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可以放在履</a:t>
            </a:r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歷上用作品集證明實力的課程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39896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1124744"/>
            <a:ext cx="8784976" cy="4824536"/>
          </a:xfrm>
        </p:spPr>
        <p:txBody>
          <a:bodyPr vert="horz" rtlCol="0">
            <a:normAutofit fontScale="47500" lnSpcReduction="20000"/>
          </a:bodyPr>
          <a:lstStyle/>
          <a:p>
            <a:r>
              <a:rPr lang="zh-CN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你的履歷表上有業界最需要人才的第</a:t>
            </a:r>
            <a:r>
              <a:rPr lang="en-US" altLang="zh-CN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CN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～</a:t>
            </a:r>
            <a:r>
              <a:rPr lang="en-US" altLang="zh-CN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5+8</a:t>
            </a:r>
            <a:r>
              <a:rPr lang="zh-CN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種技術，</a:t>
            </a:r>
            <a:endParaRPr lang="en-US" altLang="zh-CN" sz="9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CN" sz="9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CN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而且你又用作品集證明自己</a:t>
            </a:r>
            <a:endParaRPr lang="en-US" altLang="zh-CN" sz="9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CN" sz="9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CN" altLang="en-US" sz="96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會增加你的競爭力，幫助你找到好工作</a:t>
            </a:r>
            <a:endParaRPr lang="zh-TW" altLang="en-US" sz="8000" b="1" dirty="0">
              <a:solidFill>
                <a:srgbClr val="7030A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02309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1628800"/>
            <a:ext cx="8316416" cy="3600400"/>
          </a:xfrm>
        </p:spPr>
        <p:txBody>
          <a:bodyPr vert="horz" rtlCol="0">
            <a:normAutofit fontScale="77500" lnSpcReduction="20000"/>
          </a:bodyPr>
          <a:lstStyle/>
          <a:p>
            <a:r>
              <a:rPr lang="zh-CN" altLang="en-US" sz="8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CN" sz="8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CN" altLang="en-US" sz="8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個理由</a:t>
            </a:r>
            <a:endParaRPr lang="en-US" altLang="zh-CN" sz="8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CN" sz="8000" b="1" dirty="0"/>
              <a:t>Pandas</a:t>
            </a:r>
            <a:r>
              <a:rPr lang="zh-CN" altLang="en-US" sz="8000" b="1" dirty="0"/>
              <a:t>是進入</a:t>
            </a:r>
            <a:r>
              <a:rPr lang="en-US" altLang="zh-CN" sz="8000" b="1" dirty="0"/>
              <a:t>AI</a:t>
            </a:r>
            <a:r>
              <a:rPr lang="zh-CN" altLang="en-US" sz="8000" b="1" dirty="0"/>
              <a:t>人工智慧程式分析的基礎語言</a:t>
            </a:r>
            <a:endParaRPr lang="zh-TW" altLang="en-US" sz="8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536874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FCEBE15-2AF3-4E9A-894E-EFD6B26FC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600200"/>
            <a:ext cx="8712968" cy="5105400"/>
          </a:xfrm>
        </p:spPr>
        <p:txBody>
          <a:bodyPr/>
          <a:lstStyle/>
          <a:p>
            <a:r>
              <a:rPr lang="zh-CN" altLang="en-US" b="1" dirty="0"/>
              <a:t>用</a:t>
            </a:r>
            <a:r>
              <a:rPr lang="en-US" altLang="zh-CN" b="1" dirty="0"/>
              <a:t>python</a:t>
            </a:r>
            <a:r>
              <a:rPr lang="zh-CN" altLang="en-US" b="1" dirty="0"/>
              <a:t>的</a:t>
            </a:r>
            <a:r>
              <a:rPr lang="zh-TW" altLang="en-US" b="1" dirty="0"/>
              <a:t>用</a:t>
            </a:r>
            <a:r>
              <a:rPr lang="en-US" altLang="zh-TW" b="1" dirty="0" err="1"/>
              <a:t>sklearn</a:t>
            </a:r>
            <a:r>
              <a:rPr lang="zh-TW" altLang="en-US" b="1" dirty="0"/>
              <a:t>模組，建立</a:t>
            </a:r>
            <a:r>
              <a:rPr lang="en-US" altLang="zh-TW" b="1" dirty="0"/>
              <a:t>『</a:t>
            </a:r>
            <a:r>
              <a:rPr lang="zh-TW" altLang="en-US" b="1" dirty="0"/>
              <a:t>隨機森林法</a:t>
            </a:r>
            <a:r>
              <a:rPr lang="en-US" altLang="zh-TW" b="1" dirty="0"/>
              <a:t>』</a:t>
            </a:r>
            <a:r>
              <a:rPr lang="zh-TW" altLang="en-US" b="1" dirty="0"/>
              <a:t>模型來預測</a:t>
            </a:r>
            <a:r>
              <a:rPr lang="en-US" altLang="zh-TW" b="1" dirty="0"/>
              <a:t>『</a:t>
            </a:r>
            <a:r>
              <a:rPr lang="zh-TW" altLang="en-US" b="1" dirty="0"/>
              <a:t>屬於鳶尾花朵的品種</a:t>
            </a:r>
            <a:r>
              <a:rPr lang="en-US" altLang="zh-TW" b="1" dirty="0"/>
              <a:t>』</a:t>
            </a:r>
          </a:p>
          <a:p>
            <a:pPr lvl="1"/>
            <a:r>
              <a:rPr lang="en-US" altLang="zh-TW" dirty="0">
                <a:hlinkClick r:id="rId2"/>
              </a:rPr>
              <a:t>https://colab.research.google.com/drive/1RTQ_7z6fMQ3XCfeXUodo_LKAUjAPyUEm?usp=sharing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b="1" dirty="0"/>
              <a:t>用</a:t>
            </a:r>
            <a:r>
              <a:rPr lang="en-US" altLang="zh-TW" b="1" dirty="0"/>
              <a:t>『</a:t>
            </a:r>
            <a:r>
              <a:rPr lang="zh-TW" altLang="en-US" b="1" dirty="0"/>
              <a:t>深度學習的</a:t>
            </a:r>
            <a:r>
              <a:rPr lang="en-US" altLang="zh-TW" b="1" dirty="0" err="1"/>
              <a:t>keras</a:t>
            </a:r>
            <a:r>
              <a:rPr lang="en-US" altLang="zh-TW" b="1" dirty="0"/>
              <a:t>』</a:t>
            </a:r>
            <a:r>
              <a:rPr lang="zh-TW" altLang="en-US" b="1" dirty="0"/>
              <a:t>模組，建立</a:t>
            </a:r>
            <a:r>
              <a:rPr lang="en-US" altLang="zh-TW" b="1" dirty="0"/>
              <a:t>『</a:t>
            </a:r>
            <a:r>
              <a:rPr lang="zh-TW" altLang="en-US" b="1" dirty="0"/>
              <a:t>類神經網路</a:t>
            </a:r>
            <a:r>
              <a:rPr lang="en-US" altLang="zh-TW" b="1" dirty="0"/>
              <a:t>』</a:t>
            </a:r>
            <a:r>
              <a:rPr lang="zh-TW" altLang="en-US" b="1" dirty="0"/>
              <a:t>，預測患者是否患有糖尿病</a:t>
            </a:r>
            <a:endParaRPr lang="en-US" altLang="zh-TW" b="1" dirty="0"/>
          </a:p>
          <a:p>
            <a:pPr lvl="1"/>
            <a:r>
              <a:rPr lang="en-US" altLang="zh-TW" dirty="0">
                <a:hlinkClick r:id="rId3"/>
              </a:rPr>
              <a:t>https://colab.research.google.com/drive/1CApMuuWDDj5dvhbhgZFphUA4gSEy9VH4?usp=sharing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C129AB10-945F-49A0-8E40-5AFE72248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altLang="zh-CN" b="1" dirty="0"/>
              <a:t>Pandas</a:t>
            </a:r>
            <a:r>
              <a:rPr lang="zh-CN" altLang="en-US" b="1" dirty="0"/>
              <a:t>是進入</a:t>
            </a:r>
            <a:r>
              <a:rPr lang="en-US" altLang="zh-CN" b="1" dirty="0"/>
              <a:t>AI</a:t>
            </a:r>
            <a:r>
              <a:rPr lang="zh-CN" altLang="en-US" b="1" dirty="0"/>
              <a:t>人工智慧程式分析的基礎語言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252200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9512" y="1412776"/>
            <a:ext cx="8550696" cy="3960440"/>
          </a:xfrm>
        </p:spPr>
        <p:txBody>
          <a:bodyPr vert="horz" rtlCol="0">
            <a:normAutofit/>
          </a:bodyPr>
          <a:lstStyle/>
          <a:p>
            <a:r>
              <a:rPr lang="zh-CN" altLang="en-US" sz="7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是否要選修這門課的三個考量</a:t>
            </a:r>
            <a:endParaRPr lang="zh-TW" altLang="en-US" sz="7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73520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1700808"/>
            <a:ext cx="8867328" cy="4525963"/>
          </a:xfrm>
        </p:spPr>
        <p:txBody>
          <a:bodyPr>
            <a:normAutofit/>
          </a:bodyPr>
          <a:lstStyle/>
          <a:p>
            <a:r>
              <a:rPr lang="en-US" altLang="zh-CN" sz="54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1. </a:t>
            </a:r>
            <a:r>
              <a:rPr lang="zh-CN" altLang="en-US" sz="54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這門課不是營養學分</a:t>
            </a:r>
            <a:endParaRPr lang="en-US" altLang="zh-CN" sz="5400" b="1" dirty="0">
              <a:solidFill>
                <a:srgbClr val="7030A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CN" altLang="en-US" sz="5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作業多，</a:t>
            </a:r>
            <a:endParaRPr lang="en-US" altLang="zh-CN" sz="5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CN" altLang="en-US" sz="5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上課加分佔</a:t>
            </a:r>
            <a:r>
              <a:rPr lang="en-US" altLang="zh-CN" sz="5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25%(</a:t>
            </a:r>
            <a:r>
              <a:rPr lang="zh-CN" altLang="en-US" sz="5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請假也無法加分</a:t>
            </a:r>
            <a:r>
              <a:rPr lang="en-US" altLang="zh-CN" sz="5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lvl="1"/>
            <a:r>
              <a:rPr lang="zh-CN" altLang="en-US" sz="5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經常不來上課，分數會低</a:t>
            </a:r>
            <a:endParaRPr lang="en-US" altLang="zh-CN" sz="5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sz="5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5400" b="1" dirty="0">
              <a:effectLst/>
            </a:endParaRPr>
          </a:p>
          <a:p>
            <a:endParaRPr lang="en-US" altLang="zh-TW" sz="36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36" y="152400"/>
            <a:ext cx="8754144" cy="1116360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是否要選修這門課的第</a:t>
            </a:r>
            <a:r>
              <a:rPr lang="en-US" altLang="zh-CN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個考量</a:t>
            </a:r>
            <a:endParaRPr lang="zh-TW" altLang="en-US" sz="5400" b="1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13374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1700808"/>
            <a:ext cx="8867328" cy="4525963"/>
          </a:xfrm>
        </p:spPr>
        <p:txBody>
          <a:bodyPr>
            <a:normAutofit fontScale="85000" lnSpcReduction="20000"/>
          </a:bodyPr>
          <a:lstStyle/>
          <a:p>
            <a:r>
              <a:rPr lang="en-US" altLang="zh-CN" sz="54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2. </a:t>
            </a:r>
            <a:r>
              <a:rPr lang="zh-CN" altLang="en-US" sz="54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考試會比作業，再難點</a:t>
            </a:r>
            <a:endParaRPr lang="en-US" altLang="zh-CN" sz="5400" b="1" dirty="0">
              <a:solidFill>
                <a:srgbClr val="7030A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CN" altLang="en-US" sz="5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若是沒有</a:t>
            </a:r>
            <a:r>
              <a:rPr lang="en-US" altLang="zh-CN" sz="5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CN" altLang="en-US" sz="5000" b="1" dirty="0">
                <a:solidFill>
                  <a:srgbClr val="7030A0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做重點筆記，重點摘要</a:t>
            </a:r>
            <a:r>
              <a:rPr lang="en-US" altLang="zh-CN" sz="5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CN" altLang="en-US" sz="5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，很難高分</a:t>
            </a:r>
            <a:endParaRPr lang="en-US" altLang="zh-CN" sz="5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CN" altLang="en-US" sz="5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若是沒有</a:t>
            </a:r>
            <a:r>
              <a:rPr lang="en-US" altLang="zh-CN" sz="5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CN" altLang="en-US" sz="5000" b="1" dirty="0">
                <a:solidFill>
                  <a:srgbClr val="7030A0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複習到</a:t>
            </a:r>
            <a:r>
              <a:rPr lang="en-US" altLang="zh-CN" sz="5000" b="1" dirty="0">
                <a:solidFill>
                  <a:srgbClr val="7030A0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8</a:t>
            </a:r>
            <a:r>
              <a:rPr lang="zh-CN" altLang="en-US" sz="5000" b="1" dirty="0">
                <a:solidFill>
                  <a:srgbClr val="7030A0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分熟</a:t>
            </a:r>
            <a:r>
              <a:rPr lang="en-US" altLang="zh-CN" sz="5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CN" altLang="en-US" sz="5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，很難高分</a:t>
            </a:r>
            <a:endParaRPr lang="en-US" altLang="zh-CN" sz="5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CN" altLang="en-US" sz="5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若是沒有怎麼唸書就來考試，小心不及格</a:t>
            </a:r>
            <a:endParaRPr lang="zh-TW" altLang="en-US" sz="5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5400" b="1" dirty="0">
              <a:effectLst/>
            </a:endParaRPr>
          </a:p>
          <a:p>
            <a:endParaRPr lang="en-US" altLang="zh-TW" sz="36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36" y="152400"/>
            <a:ext cx="8754144" cy="1116360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是否要選修這門課的第</a:t>
            </a:r>
            <a:r>
              <a:rPr lang="en-US" altLang="zh-CN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個考量</a:t>
            </a:r>
            <a:endParaRPr lang="zh-TW" altLang="en-US" sz="5400" b="1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00054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1700808"/>
            <a:ext cx="8867328" cy="4525963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sz="54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3. </a:t>
            </a:r>
            <a:r>
              <a:rPr lang="zh-CN" altLang="en-US" sz="54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上課全部程式碼教學，會不習慣，有點壓力</a:t>
            </a:r>
            <a:endParaRPr lang="en-US" altLang="zh-CN" sz="5400" b="1" dirty="0">
              <a:solidFill>
                <a:srgbClr val="7030A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CN" altLang="en-US" sz="5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若對</a:t>
            </a:r>
            <a:r>
              <a:rPr lang="en-US" altLang="zh-CN" sz="5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CN" altLang="en-US" sz="5000" b="1" dirty="0">
                <a:solidFill>
                  <a:srgbClr val="7030A0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程式碼沒有興趣</a:t>
            </a:r>
            <a:r>
              <a:rPr lang="en-US" altLang="zh-CN" sz="5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CN" altLang="en-US" sz="5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，會有壓力</a:t>
            </a:r>
            <a:endParaRPr lang="en-US" altLang="zh-CN" sz="5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CN" altLang="en-US" sz="5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若不想</a:t>
            </a:r>
            <a:r>
              <a:rPr lang="en-US" altLang="zh-CN" sz="5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CN" altLang="en-US" sz="5000" b="1" dirty="0">
                <a:solidFill>
                  <a:srgbClr val="7030A0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動腦想想</a:t>
            </a:r>
            <a:r>
              <a:rPr lang="en-US" altLang="zh-CN" sz="5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CN" altLang="en-US" sz="5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，會有壓力</a:t>
            </a:r>
            <a:endParaRPr lang="en-US" altLang="zh-CN" sz="5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5400" b="1" dirty="0">
              <a:effectLst/>
            </a:endParaRPr>
          </a:p>
          <a:p>
            <a:endParaRPr lang="en-US" altLang="zh-TW" sz="36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36" y="152400"/>
            <a:ext cx="8754144" cy="1116360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是否要選修這門課的第</a:t>
            </a:r>
            <a:r>
              <a:rPr lang="en-US" altLang="zh-CN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個考量</a:t>
            </a:r>
            <a:endParaRPr lang="zh-TW" altLang="en-US" sz="5400" b="1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71055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9512" y="1268760"/>
            <a:ext cx="8550696" cy="4032448"/>
          </a:xfrm>
        </p:spPr>
        <p:txBody>
          <a:bodyPr vert="horz" rtlCol="0">
            <a:normAutofit/>
          </a:bodyPr>
          <a:lstStyle/>
          <a:p>
            <a:r>
              <a:rPr lang="zh-CN" altLang="en-US" sz="7200" b="1" dirty="0"/>
              <a:t>這門課</a:t>
            </a:r>
            <a:endParaRPr lang="en-US" altLang="zh-CN" sz="7200" b="1" dirty="0"/>
          </a:p>
          <a:p>
            <a:r>
              <a:rPr lang="zh-CN" altLang="en-US" sz="7200" b="1" dirty="0"/>
              <a:t>要不要選修？</a:t>
            </a:r>
            <a:endParaRPr lang="zh-TW" altLang="en-US" sz="7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893044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488C4AD8-77BC-40DA-AFBE-F2E74FF44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6000" b="1" dirty="0">
                <a:latin typeface="+mn-lt"/>
                <a:ea typeface="+mn-ea"/>
                <a:cs typeface="+mn-cs"/>
              </a:rPr>
              <a:t>這門課要不要選修？</a:t>
            </a:r>
            <a:endParaRPr lang="zh-TW" altLang="en-US" sz="6000" b="1" dirty="0">
              <a:latin typeface="+mn-lt"/>
              <a:ea typeface="+mn-ea"/>
              <a:cs typeface="+mn-cs"/>
            </a:endParaRPr>
          </a:p>
        </p:txBody>
      </p:sp>
      <p:sp>
        <p:nvSpPr>
          <p:cNvPr id="6" name="內容版面配置區 1">
            <a:extLst>
              <a:ext uri="{FF2B5EF4-FFF2-40B4-BE49-F238E27FC236}">
                <a16:creationId xmlns:a16="http://schemas.microsoft.com/office/drawing/2014/main" id="{2E86A9D0-3FB2-4C8B-907C-2384DB4A0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556792"/>
            <a:ext cx="8784976" cy="5148808"/>
          </a:xfrm>
        </p:spPr>
        <p:txBody>
          <a:bodyPr>
            <a:normAutofit lnSpcReduction="10000"/>
          </a:bodyPr>
          <a:lstStyle/>
          <a:p>
            <a:r>
              <a:rPr lang="zh-CN" altLang="en-US" sz="4400" b="1" dirty="0"/>
              <a:t>這門課，</a:t>
            </a:r>
            <a:r>
              <a:rPr lang="zh-CN" altLang="en-US" sz="4400" b="1" dirty="0">
                <a:solidFill>
                  <a:srgbClr val="C00000"/>
                </a:solidFill>
              </a:rPr>
              <a:t>作業很多</a:t>
            </a:r>
            <a:endParaRPr lang="en-US" altLang="zh-CN" sz="4400" b="1" dirty="0">
              <a:solidFill>
                <a:srgbClr val="C00000"/>
              </a:solidFill>
            </a:endParaRPr>
          </a:p>
          <a:p>
            <a:pPr lvl="1"/>
            <a:r>
              <a:rPr lang="en-US" altLang="zh-CN" sz="3200" b="1" dirty="0">
                <a:solidFill>
                  <a:srgbClr val="C00000"/>
                </a:solidFill>
              </a:rPr>
              <a:t>2</a:t>
            </a:r>
            <a:r>
              <a:rPr lang="zh-CN" altLang="en-US" sz="3200" b="1" dirty="0">
                <a:solidFill>
                  <a:srgbClr val="C00000"/>
                </a:solidFill>
              </a:rPr>
              <a:t>週出一個作業</a:t>
            </a:r>
            <a:r>
              <a:rPr lang="zh-CN" altLang="en-US" sz="3200" b="1" dirty="0"/>
              <a:t>，</a:t>
            </a:r>
            <a:endParaRPr lang="en-US" altLang="zh-CN" sz="3200" b="1" dirty="0"/>
          </a:p>
          <a:p>
            <a:pPr lvl="1"/>
            <a:r>
              <a:rPr lang="zh-CN" altLang="en-US" sz="3200" b="1" dirty="0"/>
              <a:t>總成績佔比</a:t>
            </a:r>
            <a:r>
              <a:rPr lang="en-US" altLang="zh-CN" sz="3200" b="1" dirty="0"/>
              <a:t>25%</a:t>
            </a:r>
          </a:p>
          <a:p>
            <a:pPr lvl="1"/>
            <a:r>
              <a:rPr lang="zh-CN" altLang="en-US" sz="3200" b="1" dirty="0"/>
              <a:t>若有</a:t>
            </a:r>
            <a:r>
              <a:rPr lang="en-US" altLang="zh-CN" sz="3200" b="1" dirty="0"/>
              <a:t>side project</a:t>
            </a:r>
            <a:r>
              <a:rPr lang="zh-CN" altLang="en-US" sz="3200" b="1" dirty="0"/>
              <a:t>專題，題目更多</a:t>
            </a:r>
            <a:endParaRPr lang="en-US" altLang="zh-CN" sz="3200" b="1" dirty="0"/>
          </a:p>
          <a:p>
            <a:pPr lvl="1"/>
            <a:endParaRPr lang="en-US" altLang="zh-CN" b="1" dirty="0"/>
          </a:p>
          <a:p>
            <a:r>
              <a:rPr lang="zh-CN" altLang="en-US" sz="4400" b="1" dirty="0"/>
              <a:t>這門課的考試：</a:t>
            </a:r>
            <a:r>
              <a:rPr lang="zh-CN" altLang="en-US" sz="4400" b="1" dirty="0">
                <a:solidFill>
                  <a:srgbClr val="C00000"/>
                </a:solidFill>
              </a:rPr>
              <a:t>上機考試</a:t>
            </a:r>
            <a:endParaRPr lang="en-US" altLang="zh-CN" sz="4400" b="1" dirty="0">
              <a:solidFill>
                <a:srgbClr val="C00000"/>
              </a:solidFill>
            </a:endParaRPr>
          </a:p>
          <a:p>
            <a:pPr lvl="1"/>
            <a:r>
              <a:rPr lang="zh-CN" altLang="en-US" sz="3600" dirty="0"/>
              <a:t>要靠自己內化的程式能力，來考試</a:t>
            </a:r>
            <a:endParaRPr lang="en-US" altLang="zh-CN" sz="3600" dirty="0"/>
          </a:p>
          <a:p>
            <a:pPr lvl="1"/>
            <a:r>
              <a:rPr lang="zh-CN" altLang="en-US" sz="3600" dirty="0"/>
              <a:t>總成績佔比</a:t>
            </a:r>
            <a:r>
              <a:rPr lang="en-US" altLang="zh-CN" sz="3600" dirty="0"/>
              <a:t>25%</a:t>
            </a:r>
            <a:r>
              <a:rPr lang="zh-CN" altLang="en-US" sz="3600" dirty="0"/>
              <a:t>，</a:t>
            </a:r>
            <a:r>
              <a:rPr lang="en-US" altLang="zh-CN" sz="3600" dirty="0"/>
              <a:t> 25%</a:t>
            </a:r>
          </a:p>
          <a:p>
            <a:pPr lvl="1"/>
            <a:endParaRPr lang="en-US" altLang="zh-CN" sz="4000" b="1" dirty="0"/>
          </a:p>
          <a:p>
            <a:endParaRPr lang="en-US" altLang="zh-CN" sz="4400" b="1" dirty="0"/>
          </a:p>
        </p:txBody>
      </p:sp>
    </p:spTree>
    <p:extLst>
      <p:ext uri="{BB962C8B-B14F-4D97-AF65-F5344CB8AC3E}">
        <p14:creationId xmlns:p14="http://schemas.microsoft.com/office/powerpoint/2010/main" val="36180843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488C4AD8-77BC-40DA-AFBE-F2E74FF44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6000" b="1" dirty="0">
                <a:latin typeface="+mn-lt"/>
                <a:ea typeface="+mn-ea"/>
                <a:cs typeface="+mn-cs"/>
              </a:rPr>
              <a:t>這門課要不要選修？</a:t>
            </a:r>
            <a:endParaRPr lang="zh-TW" altLang="en-US" sz="6000" b="1" dirty="0">
              <a:latin typeface="+mn-lt"/>
              <a:ea typeface="+mn-ea"/>
              <a:cs typeface="+mn-cs"/>
            </a:endParaRPr>
          </a:p>
        </p:txBody>
      </p:sp>
      <p:sp>
        <p:nvSpPr>
          <p:cNvPr id="6" name="內容版面配置區 1">
            <a:extLst>
              <a:ext uri="{FF2B5EF4-FFF2-40B4-BE49-F238E27FC236}">
                <a16:creationId xmlns:a16="http://schemas.microsoft.com/office/drawing/2014/main" id="{2E86A9D0-3FB2-4C8B-907C-2384DB4A0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556792"/>
            <a:ext cx="8784976" cy="5148808"/>
          </a:xfrm>
        </p:spPr>
        <p:txBody>
          <a:bodyPr>
            <a:normAutofit/>
          </a:bodyPr>
          <a:lstStyle/>
          <a:p>
            <a:r>
              <a:rPr lang="zh-CN" altLang="en-US" sz="4400" dirty="0"/>
              <a:t>這門課的</a:t>
            </a:r>
            <a:r>
              <a:rPr lang="zh-CN" altLang="en-US" sz="4400" dirty="0">
                <a:highlight>
                  <a:srgbClr val="FFFF00"/>
                </a:highlight>
              </a:rPr>
              <a:t>平時分數</a:t>
            </a:r>
            <a:r>
              <a:rPr lang="zh-CN" altLang="en-US" sz="4400" dirty="0"/>
              <a:t>，加分多</a:t>
            </a:r>
            <a:endParaRPr lang="en-US" altLang="zh-CN" sz="4400" dirty="0"/>
          </a:p>
          <a:p>
            <a:pPr lvl="1"/>
            <a:r>
              <a:rPr lang="zh-CN" altLang="en-US" sz="4000" dirty="0">
                <a:solidFill>
                  <a:srgbClr val="7030A0"/>
                </a:solidFill>
              </a:rPr>
              <a:t>每節課加分</a:t>
            </a:r>
            <a:r>
              <a:rPr lang="en-US" altLang="zh-CN" sz="4000" dirty="0">
                <a:solidFill>
                  <a:srgbClr val="7030A0"/>
                </a:solidFill>
              </a:rPr>
              <a:t>1</a:t>
            </a:r>
            <a:r>
              <a:rPr lang="zh-CN" altLang="en-US" sz="4000" dirty="0">
                <a:solidFill>
                  <a:srgbClr val="7030A0"/>
                </a:solidFill>
              </a:rPr>
              <a:t>次</a:t>
            </a:r>
            <a:r>
              <a:rPr lang="zh-CN" altLang="en-US" sz="4000" dirty="0"/>
              <a:t>（點名</a:t>
            </a:r>
            <a:r>
              <a:rPr lang="en-US" altLang="zh-CN" sz="4000" dirty="0"/>
              <a:t>1</a:t>
            </a:r>
            <a:r>
              <a:rPr lang="zh-CN" altLang="en-US" sz="4000" dirty="0"/>
              <a:t>次）</a:t>
            </a:r>
            <a:endParaRPr lang="en-US" altLang="zh-CN" sz="4000" dirty="0"/>
          </a:p>
          <a:p>
            <a:pPr lvl="1"/>
            <a:r>
              <a:rPr lang="zh-CN" altLang="en-US" sz="4000" dirty="0">
                <a:solidFill>
                  <a:srgbClr val="7030A0"/>
                </a:solidFill>
              </a:rPr>
              <a:t>上課範例每</a:t>
            </a:r>
            <a:r>
              <a:rPr lang="en-US" altLang="zh-CN" sz="4000" dirty="0">
                <a:solidFill>
                  <a:srgbClr val="7030A0"/>
                </a:solidFill>
              </a:rPr>
              <a:t>1</a:t>
            </a:r>
            <a:r>
              <a:rPr lang="zh-CN" altLang="en-US" sz="4000" dirty="0">
                <a:solidFill>
                  <a:srgbClr val="7030A0"/>
                </a:solidFill>
              </a:rPr>
              <a:t>題</a:t>
            </a:r>
            <a:r>
              <a:rPr lang="zh-CN" altLang="en-US" sz="4000" dirty="0"/>
              <a:t>，加分</a:t>
            </a:r>
            <a:r>
              <a:rPr lang="en-US" altLang="zh-CN" sz="4000" dirty="0"/>
              <a:t>1</a:t>
            </a:r>
            <a:r>
              <a:rPr lang="zh-CN" altLang="en-US" sz="4000" dirty="0"/>
              <a:t>次</a:t>
            </a:r>
            <a:endParaRPr lang="en-US" altLang="zh-CN" sz="4000" dirty="0"/>
          </a:p>
          <a:p>
            <a:pPr lvl="1"/>
            <a:r>
              <a:rPr lang="zh-CN" altLang="en-US" sz="4000" dirty="0">
                <a:solidFill>
                  <a:srgbClr val="C00000"/>
                </a:solidFill>
              </a:rPr>
              <a:t>可以請假，但是就沒有平時加分</a:t>
            </a:r>
            <a:endParaRPr lang="en-US" altLang="zh-CN" sz="4000" dirty="0">
              <a:solidFill>
                <a:srgbClr val="C00000"/>
              </a:solidFill>
            </a:endParaRPr>
          </a:p>
          <a:p>
            <a:pPr lvl="1"/>
            <a:r>
              <a:rPr lang="zh-CN" altLang="en-US" sz="4000" dirty="0"/>
              <a:t>平時分數，佔總成績的</a:t>
            </a:r>
            <a:r>
              <a:rPr lang="en-US" altLang="zh-CN" sz="4000" dirty="0">
                <a:highlight>
                  <a:srgbClr val="FFFF00"/>
                </a:highlight>
              </a:rPr>
              <a:t>25%</a:t>
            </a:r>
          </a:p>
          <a:p>
            <a:pPr lvl="1"/>
            <a:endParaRPr lang="en-US" altLang="zh-CN" sz="4000" dirty="0"/>
          </a:p>
          <a:p>
            <a:pPr lvl="1"/>
            <a:endParaRPr lang="en-US" altLang="zh-CN" sz="4000" dirty="0"/>
          </a:p>
          <a:p>
            <a:endParaRPr lang="en-US" altLang="zh-CN" sz="4400" b="1" dirty="0"/>
          </a:p>
        </p:txBody>
      </p:sp>
    </p:spTree>
    <p:extLst>
      <p:ext uri="{BB962C8B-B14F-4D97-AF65-F5344CB8AC3E}">
        <p14:creationId xmlns:p14="http://schemas.microsoft.com/office/powerpoint/2010/main" val="23807446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488C4AD8-77BC-40DA-AFBE-F2E74FF44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6000" b="1" dirty="0">
                <a:latin typeface="+mn-lt"/>
                <a:ea typeface="+mn-ea"/>
                <a:cs typeface="+mn-cs"/>
              </a:rPr>
              <a:t>這門課要不要選修？</a:t>
            </a:r>
            <a:endParaRPr lang="zh-TW" altLang="en-US" sz="6000" b="1" dirty="0">
              <a:latin typeface="+mn-lt"/>
              <a:ea typeface="+mn-ea"/>
              <a:cs typeface="+mn-cs"/>
            </a:endParaRPr>
          </a:p>
        </p:txBody>
      </p:sp>
      <p:sp>
        <p:nvSpPr>
          <p:cNvPr id="6" name="內容版面配置區 1">
            <a:extLst>
              <a:ext uri="{FF2B5EF4-FFF2-40B4-BE49-F238E27FC236}">
                <a16:creationId xmlns:a16="http://schemas.microsoft.com/office/drawing/2014/main" id="{2E86A9D0-3FB2-4C8B-907C-2384DB4A0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556792"/>
            <a:ext cx="8784976" cy="5148808"/>
          </a:xfrm>
        </p:spPr>
        <p:txBody>
          <a:bodyPr>
            <a:normAutofit fontScale="92500"/>
          </a:bodyPr>
          <a:lstStyle/>
          <a:p>
            <a:r>
              <a:rPr lang="zh-CN" altLang="en-US" sz="4400" b="1" dirty="0"/>
              <a:t>這種</a:t>
            </a:r>
            <a:r>
              <a:rPr lang="en-US" altLang="zh-CN" sz="4400" b="1" dirty="0"/>
              <a:t>『</a:t>
            </a:r>
            <a:r>
              <a:rPr lang="zh-CN" altLang="en-US" sz="4400" b="1" dirty="0"/>
              <a:t>程式課，技能課</a:t>
            </a:r>
            <a:r>
              <a:rPr lang="en-US" altLang="zh-CN" sz="4400" b="1" dirty="0"/>
              <a:t>』</a:t>
            </a:r>
            <a:r>
              <a:rPr lang="zh-CN" altLang="en-US" sz="4400" b="1" dirty="0"/>
              <a:t>的特色</a:t>
            </a:r>
            <a:endParaRPr lang="en-US" altLang="zh-CN" sz="4400" b="1" dirty="0"/>
          </a:p>
          <a:p>
            <a:pPr lvl="1"/>
            <a:r>
              <a:rPr lang="zh-CN" altLang="en-US" sz="3900" dirty="0">
                <a:solidFill>
                  <a:srgbClr val="C00000"/>
                </a:solidFill>
              </a:rPr>
              <a:t>今天所教的，是上週學過的繼續深入</a:t>
            </a:r>
            <a:endParaRPr lang="en-US" altLang="zh-CN" sz="3900" dirty="0">
              <a:solidFill>
                <a:srgbClr val="C00000"/>
              </a:solidFill>
            </a:endParaRPr>
          </a:p>
          <a:p>
            <a:pPr lvl="1"/>
            <a:r>
              <a:rPr lang="zh-CN" altLang="en-US" sz="3900" dirty="0">
                <a:solidFill>
                  <a:srgbClr val="C00000"/>
                </a:solidFill>
              </a:rPr>
              <a:t>今天用的軟體，是上週安裝的</a:t>
            </a:r>
            <a:endParaRPr lang="en-US" altLang="zh-CN" sz="3900" dirty="0">
              <a:solidFill>
                <a:srgbClr val="C00000"/>
              </a:solidFill>
            </a:endParaRPr>
          </a:p>
          <a:p>
            <a:r>
              <a:rPr lang="zh-CN" altLang="en-US" sz="4400" b="1" dirty="0">
                <a:highlight>
                  <a:srgbClr val="FFFF00"/>
                </a:highlight>
              </a:rPr>
              <a:t>如果你缺課</a:t>
            </a:r>
            <a:r>
              <a:rPr lang="en-US" altLang="zh-CN" sz="4400" b="1" dirty="0">
                <a:highlight>
                  <a:srgbClr val="FFFF00"/>
                </a:highlight>
              </a:rPr>
              <a:t>2</a:t>
            </a:r>
            <a:r>
              <a:rPr lang="zh-CN" altLang="en-US" sz="4400" b="1" dirty="0">
                <a:highlight>
                  <a:srgbClr val="FFFF00"/>
                </a:highlight>
              </a:rPr>
              <a:t>次，大概就跟不上了</a:t>
            </a:r>
            <a:endParaRPr lang="en-US" altLang="zh-CN" sz="4400" b="1" dirty="0">
              <a:highlight>
                <a:srgbClr val="FFFF00"/>
              </a:highlight>
            </a:endParaRPr>
          </a:p>
          <a:p>
            <a:r>
              <a:rPr lang="zh-CN" altLang="en-US" sz="4400" b="1" dirty="0"/>
              <a:t>舉例：</a:t>
            </a:r>
            <a:r>
              <a:rPr lang="en-US" altLang="zh-CN" sz="4400" b="1" dirty="0">
                <a:solidFill>
                  <a:srgbClr val="7030A0"/>
                </a:solidFill>
              </a:rPr>
              <a:t>1</a:t>
            </a:r>
            <a:r>
              <a:rPr lang="zh-CN" altLang="en-US" sz="4400" b="1" dirty="0">
                <a:solidFill>
                  <a:srgbClr val="7030A0"/>
                </a:solidFill>
              </a:rPr>
              <a:t>位碩士生，新冠感染請假</a:t>
            </a:r>
            <a:r>
              <a:rPr lang="en-US" altLang="zh-CN" sz="4400" b="1" dirty="0">
                <a:solidFill>
                  <a:srgbClr val="7030A0"/>
                </a:solidFill>
              </a:rPr>
              <a:t>2</a:t>
            </a:r>
            <a:r>
              <a:rPr lang="zh-CN" altLang="en-US" sz="4400" b="1" dirty="0">
                <a:solidFill>
                  <a:srgbClr val="7030A0"/>
                </a:solidFill>
              </a:rPr>
              <a:t>週回來，就跟不上，只好</a:t>
            </a:r>
            <a:r>
              <a:rPr lang="zh-CN" altLang="en-US" sz="4400" b="1" dirty="0">
                <a:solidFill>
                  <a:srgbClr val="C00000"/>
                </a:solidFill>
              </a:rPr>
              <a:t>期中退選</a:t>
            </a:r>
            <a:endParaRPr lang="en-US" altLang="zh-CN" sz="4400" b="1" dirty="0">
              <a:solidFill>
                <a:srgbClr val="C00000"/>
              </a:solidFill>
            </a:endParaRPr>
          </a:p>
          <a:p>
            <a:endParaRPr lang="en-US" altLang="zh-CN" sz="4400" b="1" dirty="0"/>
          </a:p>
        </p:txBody>
      </p:sp>
    </p:spTree>
    <p:extLst>
      <p:ext uri="{BB962C8B-B14F-4D97-AF65-F5344CB8AC3E}">
        <p14:creationId xmlns:p14="http://schemas.microsoft.com/office/powerpoint/2010/main" val="377004702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488C4AD8-77BC-40DA-AFBE-F2E74FF44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6000" b="1" dirty="0">
                <a:latin typeface="+mn-lt"/>
                <a:ea typeface="+mn-ea"/>
                <a:cs typeface="+mn-cs"/>
              </a:rPr>
              <a:t>這門課不是營養學分</a:t>
            </a:r>
            <a:endParaRPr lang="zh-TW" altLang="en-US" sz="6000" b="1" dirty="0">
              <a:latin typeface="+mn-lt"/>
              <a:ea typeface="+mn-ea"/>
              <a:cs typeface="+mn-cs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250592C3-C585-4AD5-8F99-EB5DF049A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8925" y="1174758"/>
            <a:ext cx="1701307" cy="5615590"/>
          </a:xfrm>
          <a:prstGeom prst="rect">
            <a:avLst/>
          </a:prstGeom>
        </p:spPr>
      </p:pic>
      <p:sp>
        <p:nvSpPr>
          <p:cNvPr id="15" name="內容版面配置區 14">
            <a:extLst>
              <a:ext uri="{FF2B5EF4-FFF2-40B4-BE49-F238E27FC236}">
                <a16:creationId xmlns:a16="http://schemas.microsoft.com/office/drawing/2014/main" id="{AAA4D0CF-CD44-45C6-8D65-F3EDAE4122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9F232D8D-E3CA-486B-B37A-B578DCB68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062" y="1176496"/>
            <a:ext cx="1701307" cy="5564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28069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9512" y="1412776"/>
            <a:ext cx="8550696" cy="3960440"/>
          </a:xfrm>
        </p:spPr>
        <p:txBody>
          <a:bodyPr vert="horz" rtlCol="0">
            <a:normAutofit/>
          </a:bodyPr>
          <a:lstStyle/>
          <a:p>
            <a:r>
              <a:rPr lang="zh-CN" altLang="en-US" sz="7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之前系上學生的</a:t>
            </a:r>
            <a:endParaRPr lang="en-US" altLang="zh-CN" sz="7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CN" altLang="en-US" sz="7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學習狀況</a:t>
            </a:r>
            <a:endParaRPr lang="zh-TW" altLang="en-US" sz="7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713240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1700808"/>
            <a:ext cx="8867328" cy="4525963"/>
          </a:xfrm>
        </p:spPr>
        <p:txBody>
          <a:bodyPr>
            <a:normAutofit/>
          </a:bodyPr>
          <a:lstStyle/>
          <a:p>
            <a:r>
              <a:rPr lang="en-US" altLang="zh-CN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 </a:t>
            </a: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堅持</a:t>
            </a:r>
            <a:r>
              <a:rPr lang="en-US" altLang="zh-CN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個學期的同學狀況</a:t>
            </a:r>
            <a:endParaRPr lang="en-US" altLang="zh-CN" sz="5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CN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 </a:t>
            </a: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案例</a:t>
            </a:r>
            <a:endParaRPr lang="en-US" altLang="zh-CN" sz="5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CN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3. </a:t>
            </a: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其它</a:t>
            </a:r>
            <a:endParaRPr lang="en-US" altLang="zh-TW" sz="5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36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36" y="152400"/>
            <a:ext cx="8754144" cy="1116360"/>
          </a:xfrm>
        </p:spPr>
        <p:txBody>
          <a:bodyPr>
            <a:normAutofit/>
          </a:bodyPr>
          <a:lstStyle/>
          <a:p>
            <a:pPr algn="ctr"/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之前系上學生的學習狀況</a:t>
            </a:r>
            <a:endParaRPr lang="zh-TW" altLang="en-US" sz="5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5847781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EB4169F7-AEAF-4192-BC4B-BFF1475E5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2160" y="70685"/>
            <a:ext cx="2088232" cy="6716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84118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5536" y="1628800"/>
            <a:ext cx="8496944" cy="2952328"/>
          </a:xfrm>
        </p:spPr>
        <p:txBody>
          <a:bodyPr>
            <a:normAutofit/>
          </a:bodyPr>
          <a:lstStyle/>
          <a:p>
            <a:pPr algn="ctr"/>
            <a:r>
              <a:rPr lang="zh-CN" altLang="en-US" sz="6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經營管理系所規劃的</a:t>
            </a:r>
            <a:endParaRPr lang="en-US" altLang="zh-CN" sz="6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zh-CN" altLang="en-US" sz="6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資料分析</a:t>
            </a:r>
            <a:r>
              <a:rPr lang="en-US" altLang="zh-CN" sz="6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CN" altLang="en-US" sz="6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資訊相關課程</a:t>
            </a:r>
            <a:endParaRPr lang="zh-TW" altLang="en-US" sz="6000" dirty="0"/>
          </a:p>
        </p:txBody>
      </p:sp>
    </p:spTree>
    <p:extLst>
      <p:ext uri="{BB962C8B-B14F-4D97-AF65-F5344CB8AC3E}">
        <p14:creationId xmlns:p14="http://schemas.microsoft.com/office/powerpoint/2010/main" val="96385724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86A1DD0C-FB1D-4160-B13A-4049011A491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3356" y="983216"/>
          <a:ext cx="9130644" cy="5970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8147">
                  <a:extLst>
                    <a:ext uri="{9D8B030D-6E8A-4147-A177-3AD203B41FA5}">
                      <a16:colId xmlns:a16="http://schemas.microsoft.com/office/drawing/2014/main" val="2422959583"/>
                    </a:ext>
                  </a:extLst>
                </a:gridCol>
                <a:gridCol w="4278949">
                  <a:extLst>
                    <a:ext uri="{9D8B030D-6E8A-4147-A177-3AD203B41FA5}">
                      <a16:colId xmlns:a16="http://schemas.microsoft.com/office/drawing/2014/main" val="1576783905"/>
                    </a:ext>
                  </a:extLst>
                </a:gridCol>
                <a:gridCol w="3043548">
                  <a:extLst>
                    <a:ext uri="{9D8B030D-6E8A-4147-A177-3AD203B41FA5}">
                      <a16:colId xmlns:a16="http://schemas.microsoft.com/office/drawing/2014/main" val="2530145649"/>
                    </a:ext>
                  </a:extLst>
                </a:gridCol>
              </a:tblGrid>
              <a:tr h="597777">
                <a:tc>
                  <a:txBody>
                    <a:bodyPr/>
                    <a:lstStyle/>
                    <a:p>
                      <a:pPr algn="ctr"/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課程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內容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8245850"/>
                  </a:ext>
                </a:extLst>
              </a:tr>
              <a:tr h="72099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一上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人工智慧概論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244086"/>
                  </a:ext>
                </a:extLst>
              </a:tr>
              <a:tr h="72099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一下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python</a:t>
                      </a:r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程式設計</a:t>
                      </a:r>
                      <a:endParaRPr lang="zh-TW" altLang="en-US" sz="2800" b="1" kern="1200" dirty="0">
                        <a:solidFill>
                          <a:srgbClr val="7030A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Python</a:t>
                      </a:r>
                      <a:r>
                        <a:rPr lang="zh-CN" altLang="en-US" sz="28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入門</a:t>
                      </a:r>
                      <a:endParaRPr lang="zh-TW" altLang="en-US" sz="28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735222"/>
                  </a:ext>
                </a:extLst>
              </a:tr>
              <a:tr h="100553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二上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資料庫系統與應用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SQL</a:t>
                      </a:r>
                      <a:r>
                        <a:rPr lang="zh-CN" altLang="en-US" sz="28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資料庫，</a:t>
                      </a:r>
                      <a:endParaRPr lang="en-US" altLang="zh-CN" sz="28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algn="ctr"/>
                      <a:r>
                        <a:rPr lang="en-US" altLang="zh-CN" sz="28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SQL</a:t>
                      </a:r>
                      <a:r>
                        <a:rPr lang="zh-CN" altLang="en-US" sz="28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語法</a:t>
                      </a:r>
                      <a:endParaRPr lang="zh-TW" altLang="en-US" sz="28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6981333"/>
                  </a:ext>
                </a:extLst>
              </a:tr>
              <a:tr h="100553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二下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人工智慧跨域</a:t>
                      </a:r>
                      <a:endParaRPr lang="en-US" altLang="zh-CN" sz="2800" b="1" kern="1200" dirty="0">
                        <a:solidFill>
                          <a:srgbClr val="7030A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algn="ctr"/>
                      <a:r>
                        <a:rPr lang="en-US" altLang="zh-CN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『</a:t>
                      </a:r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經營管理</a:t>
                      </a:r>
                      <a:r>
                        <a:rPr lang="en-US" altLang="zh-CN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』</a:t>
                      </a:r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之應用</a:t>
                      </a:r>
                      <a:endParaRPr lang="zh-TW" altLang="en-US" sz="2800" b="1" kern="1200" dirty="0">
                        <a:solidFill>
                          <a:srgbClr val="7030A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原：</a:t>
                      </a:r>
                      <a:r>
                        <a:rPr lang="en-US" altLang="zh-CN" sz="28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pandas</a:t>
                      </a:r>
                      <a:endParaRPr lang="zh-TW" altLang="en-US" sz="28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大數據分析</a:t>
                      </a:r>
                      <a:endParaRPr lang="zh-TW" altLang="en-US" sz="28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777328"/>
                  </a:ext>
                </a:extLst>
              </a:tr>
              <a:tr h="100553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三上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人工智慧跨域</a:t>
                      </a:r>
                      <a:endParaRPr lang="en-US" altLang="zh-CN" sz="2800" b="1" kern="1200" dirty="0">
                        <a:solidFill>
                          <a:srgbClr val="7030A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algn="ctr"/>
                      <a:r>
                        <a:rPr lang="en-US" altLang="zh-CN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『</a:t>
                      </a:r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商情預測</a:t>
                      </a:r>
                      <a:r>
                        <a:rPr lang="en-US" altLang="zh-CN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』</a:t>
                      </a:r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之應用</a:t>
                      </a:r>
                      <a:endParaRPr lang="zh-TW" altLang="en-US" sz="2800" b="1" kern="1200" dirty="0">
                        <a:solidFill>
                          <a:srgbClr val="7030A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機器學習，</a:t>
                      </a:r>
                      <a:endParaRPr lang="en-US" altLang="zh-TW" sz="28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algn="ctr"/>
                      <a:r>
                        <a:rPr lang="zh-TW" altLang="en-US" sz="28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深度學習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502134"/>
                  </a:ext>
                </a:extLst>
              </a:tr>
              <a:tr h="81841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三下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1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商用多媒體設計</a:t>
                      </a:r>
                      <a:endParaRPr lang="zh-TW" altLang="en-US" sz="2800" b="1" dirty="0">
                        <a:solidFill>
                          <a:srgbClr val="7030A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視覺化與商業智能</a:t>
                      </a:r>
                      <a:r>
                        <a:rPr lang="en-US" altLang="zh-CN" sz="1800" b="1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powerBI</a:t>
                      </a:r>
                      <a:r>
                        <a:rPr lang="en-US" altLang="zh-CN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, tableau</a:t>
                      </a:r>
                      <a:r>
                        <a:rPr lang="zh-CN" altLang="en-US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，</a:t>
                      </a:r>
                      <a:r>
                        <a:rPr lang="en-US" altLang="zh-CN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python</a:t>
                      </a:r>
                      <a:r>
                        <a:rPr lang="zh-CN" altLang="en-US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統計</a:t>
                      </a:r>
                      <a:endParaRPr lang="en-US" altLang="zh-CN" sz="1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CN" altLang="en-US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架站，前端</a:t>
                      </a:r>
                      <a:r>
                        <a:rPr lang="en-US" altLang="zh-CN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zh-CN" altLang="en-US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後端網頁，</a:t>
                      </a:r>
                      <a:endParaRPr lang="zh-TW" altLang="en-US" sz="1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4089062"/>
                  </a:ext>
                </a:extLst>
              </a:tr>
            </a:tbl>
          </a:graphicData>
        </a:graphic>
      </p:graphicFrame>
      <p:sp>
        <p:nvSpPr>
          <p:cNvPr id="3" name="標題 2">
            <a:extLst>
              <a:ext uri="{FF2B5EF4-FFF2-40B4-BE49-F238E27FC236}">
                <a16:creationId xmlns:a16="http://schemas.microsoft.com/office/drawing/2014/main" id="{6F663B3D-B6A5-452C-BFEA-830EA3A5E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516" y="-24045"/>
            <a:ext cx="8712968" cy="1265238"/>
          </a:xfrm>
        </p:spPr>
        <p:txBody>
          <a:bodyPr>
            <a:normAutofit/>
          </a:bodyPr>
          <a:lstStyle/>
          <a:p>
            <a:pPr algn="ctr"/>
            <a:r>
              <a:rPr lang="zh-CN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經管系大學部資料分析</a:t>
            </a:r>
            <a:r>
              <a:rPr lang="en-US" altLang="zh-CN" b="1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CN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資訊相關課程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3452167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86A1DD0C-FB1D-4160-B13A-4049011A491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22194" y="1484784"/>
          <a:ext cx="8921806" cy="5339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3516">
                  <a:extLst>
                    <a:ext uri="{9D8B030D-6E8A-4147-A177-3AD203B41FA5}">
                      <a16:colId xmlns:a16="http://schemas.microsoft.com/office/drawing/2014/main" val="1576783905"/>
                    </a:ext>
                  </a:extLst>
                </a:gridCol>
                <a:gridCol w="3708290">
                  <a:extLst>
                    <a:ext uri="{9D8B030D-6E8A-4147-A177-3AD203B41FA5}">
                      <a16:colId xmlns:a16="http://schemas.microsoft.com/office/drawing/2014/main" val="2530145649"/>
                    </a:ext>
                  </a:extLst>
                </a:gridCol>
              </a:tblGrid>
              <a:tr h="62878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技術與能力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說明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8245850"/>
                  </a:ext>
                </a:extLst>
              </a:tr>
              <a:tr h="628781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800" b="1" kern="1200" dirty="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python</a:t>
                      </a:r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程式設計</a:t>
                      </a:r>
                      <a:endParaRPr lang="zh-TW" altLang="en-US" sz="2800" b="1" kern="1200" dirty="0">
                        <a:solidFill>
                          <a:srgbClr val="7030A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Python</a:t>
                      </a:r>
                      <a:endParaRPr lang="zh-TW" altLang="en-US" sz="2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735222"/>
                  </a:ext>
                </a:extLst>
              </a:tr>
              <a:tr h="781772">
                <a:tc>
                  <a:txBody>
                    <a:bodyPr/>
                    <a:lstStyle/>
                    <a:p>
                      <a:pPr lvl="1" algn="l"/>
                      <a:r>
                        <a:rPr lang="en-US" altLang="zh-CN" sz="2800" b="1" kern="1200" dirty="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SQL</a:t>
                      </a:r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程式語法</a:t>
                      </a:r>
                      <a:endParaRPr lang="en-US" altLang="zh-CN" sz="2800" b="1" kern="1200" dirty="0">
                        <a:solidFill>
                          <a:srgbClr val="7030A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SQL</a:t>
                      </a:r>
                      <a:r>
                        <a:rPr lang="zh-CN" altLang="en-US" sz="2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語法</a:t>
                      </a:r>
                      <a:endParaRPr lang="zh-TW" altLang="en-US" sz="2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6981333"/>
                  </a:ext>
                </a:extLst>
              </a:tr>
              <a:tr h="781772">
                <a:tc>
                  <a:txBody>
                    <a:bodyPr/>
                    <a:lstStyle/>
                    <a:p>
                      <a:pPr algn="l"/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基礎數據分析技巧</a:t>
                      </a:r>
                      <a:endParaRPr lang="zh-TW" altLang="en-US" sz="2800" b="1" kern="1200" dirty="0">
                        <a:solidFill>
                          <a:srgbClr val="7030A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Pandas</a:t>
                      </a:r>
                      <a:r>
                        <a:rPr lang="zh-CN" altLang="en-US" sz="2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模組</a:t>
                      </a:r>
                      <a:endParaRPr lang="zh-TW" altLang="en-US" sz="2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777328"/>
                  </a:ext>
                </a:extLst>
              </a:tr>
              <a:tr h="11466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使用人工智慧在</a:t>
                      </a:r>
                      <a:r>
                        <a:rPr lang="en-US" altLang="zh-CN" sz="2800" b="1" kern="1200" dirty="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『</a:t>
                      </a:r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商情預測</a:t>
                      </a:r>
                      <a:r>
                        <a:rPr lang="en-US" altLang="zh-CN" sz="2800" b="1" kern="1200" dirty="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數據預測</a:t>
                      </a:r>
                      <a:r>
                        <a:rPr lang="en-US" altLang="zh-CN" sz="2800" b="1" kern="1200" dirty="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』</a:t>
                      </a:r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的能力</a:t>
                      </a:r>
                      <a:endParaRPr lang="zh-TW" altLang="en-US" sz="2800" b="1" kern="1200" dirty="0">
                        <a:solidFill>
                          <a:srgbClr val="7030A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sklearn</a:t>
                      </a:r>
                      <a:r>
                        <a:rPr lang="zh-CN" altLang="en-US" sz="2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</a:t>
                      </a:r>
                      <a:r>
                        <a:rPr lang="en-US" altLang="zh-CN" sz="2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keras</a:t>
                      </a:r>
                      <a:endParaRPr lang="en-US" altLang="zh-CN" sz="2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zh-CN" altLang="en-US" sz="2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模組</a:t>
                      </a:r>
                      <a:endParaRPr lang="zh-TW" altLang="en-US" sz="2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502134"/>
                  </a:ext>
                </a:extLst>
              </a:tr>
              <a:tr h="7767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資料視覺化</a:t>
                      </a:r>
                      <a:endParaRPr lang="zh-TW" altLang="en-US" sz="2800" b="1" kern="1200" dirty="0">
                        <a:solidFill>
                          <a:srgbClr val="7030A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pandas/</a:t>
                      </a:r>
                      <a:r>
                        <a:rPr lang="en-US" altLang="zh-CN" sz="2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matplolib</a:t>
                      </a:r>
                      <a:r>
                        <a:rPr lang="en-US" altLang="zh-CN" sz="2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2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seabor</a:t>
                      </a:r>
                      <a:r>
                        <a:rPr lang="zh-CN" altLang="en-US" sz="2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</a:t>
                      </a:r>
                      <a:r>
                        <a:rPr lang="en-US" altLang="zh-CN" sz="2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Power BI</a:t>
                      </a:r>
                      <a:r>
                        <a:rPr lang="zh-CN" altLang="en-US" sz="2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</a:t>
                      </a:r>
                      <a:r>
                        <a:rPr lang="en-US" altLang="zh-CN" sz="2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tableau</a:t>
                      </a:r>
                      <a:endParaRPr lang="zh-TW" altLang="en-US" sz="2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4089062"/>
                  </a:ext>
                </a:extLst>
              </a:tr>
            </a:tbl>
          </a:graphicData>
        </a:graphic>
      </p:graphicFrame>
      <p:sp>
        <p:nvSpPr>
          <p:cNvPr id="3" name="標題 2">
            <a:extLst>
              <a:ext uri="{FF2B5EF4-FFF2-40B4-BE49-F238E27FC236}">
                <a16:creationId xmlns:a16="http://schemas.microsoft.com/office/drawing/2014/main" id="{6F663B3D-B6A5-452C-BFEA-830EA3A5E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194" y="116632"/>
            <a:ext cx="8712968" cy="1265238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sz="4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系上大學部資訊課程，重點聚焦在</a:t>
            </a:r>
            <a:br>
              <a:rPr lang="en-US" altLang="zh-CN" sz="4400" b="1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CN" altLang="en-US" sz="4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培育</a:t>
            </a:r>
            <a:r>
              <a:rPr lang="en-US" altLang="zh-CN" sz="4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1</a:t>
            </a:r>
            <a:r>
              <a:rPr lang="zh-CN" altLang="en-US" sz="4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個領域的能力：</a:t>
            </a:r>
            <a:r>
              <a:rPr lang="zh-CN" altLang="en-US" sz="4400" b="1" dirty="0">
                <a:highlight>
                  <a:srgbClr val="FFFF00"/>
                </a:highlight>
                <a:latin typeface="標楷體" panose="03000509000000000000" pitchFamily="65" charset="-120"/>
                <a:ea typeface="標楷體" panose="03000509000000000000" pitchFamily="65" charset="-120"/>
              </a:rPr>
              <a:t>商業數據分析</a:t>
            </a:r>
            <a:endParaRPr lang="en-US" altLang="zh-CN" sz="4400" b="1" dirty="0">
              <a:highlight>
                <a:srgbClr val="FFFF00"/>
              </a:highligh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8795553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5536" y="1268760"/>
            <a:ext cx="8334672" cy="4032448"/>
          </a:xfrm>
        </p:spPr>
        <p:txBody>
          <a:bodyPr vert="horz" rtlCol="0">
            <a:normAutofit fontScale="92500"/>
          </a:bodyPr>
          <a:lstStyle/>
          <a:p>
            <a:r>
              <a:rPr lang="zh-TW" altLang="en-US" sz="6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在大學四年中，</a:t>
            </a:r>
            <a:endParaRPr lang="en-US" altLang="zh-TW" sz="6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6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哪一門課學了之後，</a:t>
            </a:r>
            <a:endParaRPr lang="en-US" altLang="zh-TW" sz="6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6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就可以馬上拿來賺錢呢？</a:t>
            </a:r>
            <a:endParaRPr lang="zh-TW" altLang="en-US" sz="6600" b="1" dirty="0">
              <a:solidFill>
                <a:schemeClr val="bg1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8603226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42B6F7D-B2E5-4750-97E7-85CC0770C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7624" y="2924944"/>
            <a:ext cx="7200800" cy="3456384"/>
          </a:xfrm>
        </p:spPr>
        <p:txBody>
          <a:bodyPr>
            <a:normAutofit/>
          </a:bodyPr>
          <a:lstStyle/>
          <a:p>
            <a:r>
              <a:rPr lang="zh-CN" altLang="en-US" sz="7200" b="1" dirty="0"/>
              <a:t>而且薪水還很好</a:t>
            </a:r>
            <a:endParaRPr lang="zh-TW" altLang="en-US" sz="7200" b="1" dirty="0">
              <a:solidFill>
                <a:schemeClr val="bg1">
                  <a:lumMod val="75000"/>
                </a:schemeClr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4212428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42B6F7D-B2E5-4750-97E7-85CC0770C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2636912"/>
            <a:ext cx="8064896" cy="3456384"/>
          </a:xfrm>
        </p:spPr>
        <p:txBody>
          <a:bodyPr>
            <a:normAutofit/>
          </a:bodyPr>
          <a:lstStyle/>
          <a:p>
            <a:r>
              <a:rPr lang="zh-CN" altLang="en-US" sz="7200" b="1" dirty="0"/>
              <a:t>那就是</a:t>
            </a:r>
            <a:endParaRPr lang="en-US" altLang="zh-CN" sz="7200" b="1" dirty="0"/>
          </a:p>
          <a:p>
            <a:r>
              <a:rPr lang="zh-CN" altLang="en-US" sz="7200" b="1" dirty="0">
                <a:solidFill>
                  <a:srgbClr val="7030A0"/>
                </a:solidFill>
                <a:latin typeface="微軟正黑體" pitchFamily="34" charset="-120"/>
                <a:ea typeface="微軟正黑體" pitchFamily="34" charset="-120"/>
              </a:rPr>
              <a:t>商業數據程式分析</a:t>
            </a:r>
            <a:endParaRPr lang="zh-TW" altLang="en-US" sz="7200" b="1" dirty="0">
              <a:solidFill>
                <a:srgbClr val="7030A0"/>
              </a:solidFill>
              <a:latin typeface="微軟正黑體" pitchFamily="34" charset="-120"/>
              <a:ea typeface="微軟正黑體" pitchFamily="34" charset="-120"/>
            </a:endParaRPr>
          </a:p>
          <a:p>
            <a:endParaRPr lang="zh-TW" altLang="en-US" sz="7200" b="1" dirty="0">
              <a:solidFill>
                <a:schemeClr val="bg1">
                  <a:lumMod val="75000"/>
                </a:schemeClr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8643916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42B6F7D-B2E5-4750-97E7-85CC0770C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412776"/>
            <a:ext cx="8686800" cy="5148808"/>
          </a:xfrm>
        </p:spPr>
        <p:txBody>
          <a:bodyPr>
            <a:noAutofit/>
          </a:bodyPr>
          <a:lstStyle/>
          <a:p>
            <a:r>
              <a:rPr lang="zh-TW" altLang="en-US" sz="3200" b="1" dirty="0">
                <a:effectLst/>
              </a:rPr>
              <a:t>在國內外這幾年的就業市場有個領域非常熱門，</a:t>
            </a:r>
            <a:endParaRPr lang="en-US" altLang="zh-TW" sz="3200" b="1" dirty="0">
              <a:effectLst/>
            </a:endParaRPr>
          </a:p>
          <a:p>
            <a:pPr lvl="1"/>
            <a:r>
              <a:rPr lang="zh-TW" altLang="en-US" sz="2800" b="1" dirty="0">
                <a:solidFill>
                  <a:srgbClr val="C00000"/>
                </a:solidFill>
                <a:effectLst/>
              </a:rPr>
              <a:t>數據分析師</a:t>
            </a:r>
            <a:r>
              <a:rPr lang="en-US" altLang="zh-TW" sz="2800" b="1" dirty="0">
                <a:effectLst/>
              </a:rPr>
              <a:t>/Data Analyst</a:t>
            </a:r>
            <a:r>
              <a:rPr lang="zh-TW" altLang="en-US" sz="2800" b="1" dirty="0">
                <a:effectLst/>
              </a:rPr>
              <a:t>，</a:t>
            </a:r>
            <a:endParaRPr lang="en-US" altLang="zh-TW" sz="2800" b="1" dirty="0">
              <a:effectLst/>
            </a:endParaRPr>
          </a:p>
          <a:p>
            <a:pPr lvl="1"/>
            <a:r>
              <a:rPr lang="zh-TW" altLang="en-US" sz="2800" b="1" dirty="0">
                <a:solidFill>
                  <a:srgbClr val="C00000"/>
                </a:solidFill>
                <a:effectLst/>
              </a:rPr>
              <a:t>商業分析師</a:t>
            </a:r>
            <a:r>
              <a:rPr lang="en-US" altLang="zh-TW" sz="2800" b="1" dirty="0">
                <a:effectLst/>
              </a:rPr>
              <a:t>/ Business analyst</a:t>
            </a:r>
            <a:r>
              <a:rPr lang="zh-TW" altLang="en-US" sz="2800" b="1" dirty="0">
                <a:effectLst/>
              </a:rPr>
              <a:t>，</a:t>
            </a:r>
            <a:endParaRPr lang="en-US" altLang="zh-TW" sz="2800" b="1" dirty="0">
              <a:effectLst/>
            </a:endParaRPr>
          </a:p>
          <a:p>
            <a:pPr lvl="1"/>
            <a:r>
              <a:rPr lang="en-US" altLang="zh-TW" sz="2800" b="1" dirty="0">
                <a:solidFill>
                  <a:srgbClr val="C00000"/>
                </a:solidFill>
                <a:effectLst/>
              </a:rPr>
              <a:t>Data Scientist</a:t>
            </a:r>
            <a:r>
              <a:rPr lang="zh-TW" altLang="en-US" sz="2800" b="1" dirty="0">
                <a:effectLst/>
              </a:rPr>
              <a:t>，</a:t>
            </a:r>
            <a:r>
              <a:rPr lang="en-US" altLang="zh-TW" sz="2800" b="1" dirty="0">
                <a:solidFill>
                  <a:srgbClr val="C00000"/>
                </a:solidFill>
                <a:effectLst/>
              </a:rPr>
              <a:t>data engineer</a:t>
            </a:r>
          </a:p>
          <a:p>
            <a:r>
              <a:rPr lang="zh-TW" altLang="en-US" sz="3200" b="1" dirty="0">
                <a:effectLst/>
              </a:rPr>
              <a:t>這方面的工作不但多，而且橫跨各種領域</a:t>
            </a:r>
            <a:endParaRPr lang="en-US" altLang="zh-TW" sz="3200" b="1" dirty="0">
              <a:effectLst/>
            </a:endParaRPr>
          </a:p>
          <a:p>
            <a:pPr lvl="1"/>
            <a:r>
              <a:rPr lang="zh-TW" altLang="en-US" sz="2800" b="1" dirty="0">
                <a:effectLst/>
              </a:rPr>
              <a:t>金融，百貨，汽車，零售</a:t>
            </a:r>
            <a:r>
              <a:rPr lang="en-US" altLang="zh-TW" sz="2800" b="1" dirty="0">
                <a:effectLst/>
              </a:rPr>
              <a:t>…</a:t>
            </a:r>
            <a:r>
              <a:rPr lang="zh-TW" altLang="en-US" sz="2800" b="1" dirty="0">
                <a:effectLst/>
              </a:rPr>
              <a:t>，</a:t>
            </a:r>
            <a:endParaRPr lang="en-US" altLang="zh-TW" sz="2800" b="1" dirty="0">
              <a:effectLst/>
            </a:endParaRPr>
          </a:p>
          <a:p>
            <a:pPr lvl="1"/>
            <a:r>
              <a:rPr lang="zh-TW" altLang="en-US" sz="2800" b="1" dirty="0">
                <a:effectLst/>
              </a:rPr>
              <a:t>而且</a:t>
            </a:r>
            <a:r>
              <a:rPr lang="zh-TW" altLang="en-US" sz="2800" b="1" dirty="0">
                <a:solidFill>
                  <a:srgbClr val="7030A0"/>
                </a:solidFill>
                <a:effectLst/>
              </a:rPr>
              <a:t>薪水高，在歐美的薪資市場，是僅次於軟體設計師的</a:t>
            </a:r>
            <a:r>
              <a:rPr lang="zh-TW" altLang="en-US" sz="2800" b="1" dirty="0">
                <a:effectLst/>
              </a:rPr>
              <a:t>，</a:t>
            </a:r>
            <a:endParaRPr lang="en-US" altLang="zh-TW" sz="2800" b="1" dirty="0">
              <a:effectLst/>
            </a:endParaRPr>
          </a:p>
          <a:p>
            <a:r>
              <a:rPr lang="zh-TW" altLang="en-US" sz="3200" b="1" dirty="0">
                <a:effectLst/>
              </a:rPr>
              <a:t>因此造成近年有不少</a:t>
            </a:r>
            <a:r>
              <a:rPr lang="zh-TW" altLang="en-US" sz="3200" b="1" dirty="0">
                <a:solidFill>
                  <a:srgbClr val="C00000"/>
                </a:solidFill>
                <a:effectLst/>
              </a:rPr>
              <a:t>非企管</a:t>
            </a:r>
            <a:r>
              <a:rPr lang="zh-TW" altLang="en-US" sz="3200" b="1" dirty="0">
                <a:effectLst/>
              </a:rPr>
              <a:t>領域的人，轉職到數據分析師。</a:t>
            </a:r>
            <a:endParaRPr lang="zh-TW" altLang="zh-TW" b="1" dirty="0">
              <a:effectLst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5F039D5-DDD1-4C24-9CBA-93DEDAE20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4045"/>
            <a:ext cx="8229600" cy="1265238"/>
          </a:xfrm>
        </p:spPr>
        <p:txBody>
          <a:bodyPr>
            <a:noAutofit/>
          </a:bodyPr>
          <a:lstStyle/>
          <a:p>
            <a:pPr algn="ctr"/>
            <a:r>
              <a:rPr lang="zh-CN" altLang="en-US" sz="48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近年來熱門的職業</a:t>
            </a:r>
            <a:endParaRPr lang="zh-TW" altLang="zh-TW" sz="48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0903222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42B6F7D-B2E5-4750-97E7-85CC0770C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916832"/>
            <a:ext cx="8807896" cy="4644752"/>
          </a:xfrm>
        </p:spPr>
        <p:txBody>
          <a:bodyPr>
            <a:noAutofit/>
          </a:bodyPr>
          <a:lstStyle/>
          <a:p>
            <a:r>
              <a:rPr lang="zh-TW" altLang="en-US" sz="4000" b="1" dirty="0">
                <a:effectLst/>
              </a:rPr>
              <a:t>數據分析師</a:t>
            </a:r>
            <a:r>
              <a:rPr lang="zh-CN" altLang="en-US" sz="4000" b="1" dirty="0">
                <a:effectLst/>
              </a:rPr>
              <a:t>熱門的原因：</a:t>
            </a:r>
            <a:endParaRPr lang="en-US" altLang="zh-TW" sz="4000" b="1" dirty="0">
              <a:effectLst/>
            </a:endParaRPr>
          </a:p>
          <a:p>
            <a:pPr lvl="1"/>
            <a:r>
              <a:rPr lang="en-US" altLang="zh-CN" sz="4400" b="1" dirty="0">
                <a:effectLst/>
              </a:rPr>
              <a:t>1.</a:t>
            </a:r>
            <a:r>
              <a:rPr lang="zh-CN" altLang="en-US" sz="4400" b="1" dirty="0">
                <a:effectLst/>
              </a:rPr>
              <a:t>資料量，以後只會越來越</a:t>
            </a:r>
            <a:r>
              <a:rPr lang="zh-CN" altLang="en-US" sz="4400" b="1" dirty="0">
                <a:solidFill>
                  <a:srgbClr val="C00000"/>
                </a:solidFill>
                <a:effectLst/>
              </a:rPr>
              <a:t>大量</a:t>
            </a:r>
            <a:endParaRPr lang="en-US" altLang="zh-TW" sz="4400" b="1" dirty="0">
              <a:solidFill>
                <a:srgbClr val="C00000"/>
              </a:solidFill>
              <a:effectLst/>
            </a:endParaRPr>
          </a:p>
          <a:p>
            <a:pPr lvl="1"/>
            <a:r>
              <a:rPr lang="en-US" altLang="zh-CN" sz="4400" b="1" dirty="0">
                <a:effectLst/>
              </a:rPr>
              <a:t>2.</a:t>
            </a:r>
            <a:r>
              <a:rPr lang="zh-TW" altLang="en-US" sz="4400" b="1" dirty="0">
                <a:effectLst/>
              </a:rPr>
              <a:t>現今企業如果想做數據蒐集的方法</a:t>
            </a:r>
            <a:r>
              <a:rPr lang="zh-CN" altLang="en-US" sz="4400" b="1" dirty="0">
                <a:effectLst/>
              </a:rPr>
              <a:t>，</a:t>
            </a:r>
            <a:r>
              <a:rPr lang="zh-TW" altLang="en-US" sz="4400" b="1" dirty="0">
                <a:effectLst/>
              </a:rPr>
              <a:t>變得</a:t>
            </a:r>
            <a:r>
              <a:rPr lang="zh-TW" altLang="en-US" sz="4400" b="1" dirty="0">
                <a:solidFill>
                  <a:srgbClr val="C00000"/>
                </a:solidFill>
                <a:effectLst/>
              </a:rPr>
              <a:t>非常多元</a:t>
            </a:r>
            <a:r>
              <a:rPr lang="zh-CN" altLang="en-US" sz="4400" b="1" dirty="0">
                <a:effectLst/>
              </a:rPr>
              <a:t> </a:t>
            </a:r>
            <a:endParaRPr lang="en-US" altLang="zh-CN" sz="4400" b="1" dirty="0">
              <a:effectLst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5F039D5-DDD1-4C24-9CBA-93DEDAE20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4045"/>
            <a:ext cx="8229600" cy="1265238"/>
          </a:xfrm>
        </p:spPr>
        <p:txBody>
          <a:bodyPr>
            <a:noAutofit/>
          </a:bodyPr>
          <a:lstStyle/>
          <a:p>
            <a:pPr algn="ctr"/>
            <a:r>
              <a:rPr lang="zh-CN" altLang="en-US" sz="6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熱門的原因</a:t>
            </a:r>
            <a:endParaRPr lang="zh-TW" altLang="zh-TW" sz="66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7411094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D2D70E8E-7BEB-42BA-837C-A0CBA37588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32D62DB3-266E-450B-98BA-EE0851FB5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2050" name="Picture 2" descr="https://acupun.site/lecture/python_data/example/chp01/p15.png">
            <a:extLst>
              <a:ext uri="{FF2B5EF4-FFF2-40B4-BE49-F238E27FC236}">
                <a16:creationId xmlns:a16="http://schemas.microsoft.com/office/drawing/2014/main" id="{5736CA80-BB6C-4BBD-B5E7-88DFC3D174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766988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7584" y="1268760"/>
            <a:ext cx="8316416" cy="3600400"/>
          </a:xfrm>
        </p:spPr>
        <p:txBody>
          <a:bodyPr vert="horz" rtlCol="0">
            <a:normAutofit/>
          </a:bodyPr>
          <a:lstStyle/>
          <a:p>
            <a:r>
              <a:rPr lang="en-US" altLang="zh-CN" sz="7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4</a:t>
            </a:r>
            <a:r>
              <a:rPr lang="zh-CN" altLang="en-US" sz="7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個案例，了解數據分析師的熱門與工作內容</a:t>
            </a:r>
            <a:endParaRPr lang="zh-TW" altLang="en-US" sz="7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6752295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9557D42-8C6D-4CE4-9231-6D47AB175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5105400"/>
          </a:xfrm>
        </p:spPr>
        <p:txBody>
          <a:bodyPr>
            <a:normAutofit lnSpcReduction="10000"/>
          </a:bodyPr>
          <a:lstStyle/>
          <a:p>
            <a:r>
              <a:rPr lang="en-US" altLang="zh-CN" b="1" dirty="0">
                <a:effectLst/>
              </a:rPr>
              <a:t>1.</a:t>
            </a:r>
            <a:r>
              <a:rPr lang="zh-CN" altLang="en-US" b="1" dirty="0">
                <a:effectLst/>
              </a:rPr>
              <a:t>案例</a:t>
            </a:r>
            <a:r>
              <a:rPr lang="en-US" altLang="zh-CN" b="1" dirty="0">
                <a:effectLst/>
              </a:rPr>
              <a:t>1</a:t>
            </a:r>
            <a:r>
              <a:rPr lang="zh-CN" altLang="en-US" b="1" dirty="0">
                <a:effectLst/>
              </a:rPr>
              <a:t>：零</a:t>
            </a:r>
            <a:r>
              <a:rPr lang="zh-TW" altLang="en-US" b="1" dirty="0">
                <a:effectLst/>
              </a:rPr>
              <a:t>背景</a:t>
            </a:r>
            <a:r>
              <a:rPr lang="zh-CN" altLang="en-US" b="1" dirty="0">
                <a:effectLst/>
              </a:rPr>
              <a:t>，</a:t>
            </a:r>
            <a:r>
              <a:rPr lang="en-US" altLang="zh-TW" b="1" dirty="0">
                <a:effectLst/>
              </a:rPr>
              <a:t>4</a:t>
            </a:r>
            <a:r>
              <a:rPr lang="zh-TW" altLang="en-US" b="1" dirty="0">
                <a:effectLst/>
              </a:rPr>
              <a:t>個月成功轉職成</a:t>
            </a:r>
            <a:r>
              <a:rPr lang="zh-CN" altLang="en-US" b="1" dirty="0">
                <a:effectLst/>
              </a:rPr>
              <a:t>：</a:t>
            </a:r>
            <a:r>
              <a:rPr lang="zh-TW" altLang="en-US" b="1" dirty="0">
                <a:effectLst/>
              </a:rPr>
              <a:t>數據分析師</a:t>
            </a:r>
            <a:r>
              <a:rPr lang="en-US" altLang="zh-TW" b="1" dirty="0">
                <a:effectLst/>
              </a:rPr>
              <a:t>Data Analyst </a:t>
            </a:r>
          </a:p>
          <a:p>
            <a:r>
              <a:rPr lang="en-US" altLang="zh-TW" b="1" dirty="0">
                <a:effectLst/>
                <a:hlinkClick r:id="rId2"/>
              </a:rPr>
              <a:t>https://www.youtube.com/watch?v=_HmWdlUYjS4</a:t>
            </a:r>
            <a:endParaRPr lang="en-US" altLang="zh-TW" b="1" dirty="0">
              <a:effectLst/>
            </a:endParaRPr>
          </a:p>
          <a:p>
            <a:pPr lvl="1"/>
            <a:r>
              <a:rPr lang="zh-CN" altLang="en-US" b="1" dirty="0">
                <a:effectLst/>
              </a:rPr>
              <a:t>台灣人，餐飲科，赴加拿大，公關工作</a:t>
            </a:r>
            <a:endParaRPr lang="en-US" altLang="zh-CN" b="1" dirty="0">
              <a:effectLst/>
            </a:endParaRPr>
          </a:p>
          <a:p>
            <a:pPr lvl="1"/>
            <a:r>
              <a:rPr lang="en-US" altLang="zh-CN" b="1" dirty="0">
                <a:effectLst/>
              </a:rPr>
              <a:t>4</a:t>
            </a:r>
            <a:r>
              <a:rPr lang="zh-CN" altLang="en-US" b="1" dirty="0">
                <a:effectLst/>
              </a:rPr>
              <a:t>個月轉行成：</a:t>
            </a:r>
            <a:r>
              <a:rPr lang="zh-TW" altLang="en-US" b="1" dirty="0">
                <a:effectLst/>
              </a:rPr>
              <a:t>數據分析師</a:t>
            </a:r>
            <a:r>
              <a:rPr lang="en-US" altLang="zh-TW" b="1" dirty="0">
                <a:effectLst/>
              </a:rPr>
              <a:t>Data Analyst</a:t>
            </a:r>
          </a:p>
          <a:p>
            <a:pPr lvl="1"/>
            <a:r>
              <a:rPr lang="zh-CN" altLang="en-US" b="1" dirty="0">
                <a:effectLst/>
              </a:rPr>
              <a:t>原因</a:t>
            </a:r>
            <a:r>
              <a:rPr lang="en-US" altLang="zh-CN" b="1" dirty="0">
                <a:effectLst/>
              </a:rPr>
              <a:t>1</a:t>
            </a:r>
            <a:r>
              <a:rPr lang="zh-CN" altLang="en-US" b="1" dirty="0">
                <a:effectLst/>
              </a:rPr>
              <a:t>：薪水高，職涯發展彈性大，未來薪資發展高</a:t>
            </a:r>
            <a:endParaRPr lang="en-US" altLang="zh-CN" b="1" dirty="0">
              <a:effectLst/>
            </a:endParaRPr>
          </a:p>
          <a:p>
            <a:pPr lvl="1"/>
            <a:r>
              <a:rPr lang="zh-CN" altLang="en-US" b="1" dirty="0">
                <a:effectLst/>
              </a:rPr>
              <a:t>原因</a:t>
            </a:r>
            <a:r>
              <a:rPr lang="en-US" altLang="zh-CN" b="1" dirty="0">
                <a:effectLst/>
              </a:rPr>
              <a:t>2</a:t>
            </a:r>
            <a:r>
              <a:rPr lang="zh-CN" altLang="en-US" b="1" dirty="0">
                <a:effectLst/>
              </a:rPr>
              <a:t>：有趣，有成就感</a:t>
            </a:r>
            <a:endParaRPr lang="en-US" altLang="zh-CN" b="1" dirty="0">
              <a:effectLst/>
            </a:endParaRPr>
          </a:p>
          <a:p>
            <a:r>
              <a:rPr lang="zh-CN" altLang="en-US" b="1" dirty="0">
                <a:effectLst/>
              </a:rPr>
              <a:t>案例主所學技術：</a:t>
            </a:r>
            <a:endParaRPr lang="en-US" altLang="zh-CN" b="1" dirty="0">
              <a:effectLst/>
            </a:endParaRPr>
          </a:p>
          <a:p>
            <a:pPr lvl="1"/>
            <a:r>
              <a:rPr lang="en-US" altLang="zh-CN" b="1" dirty="0">
                <a:effectLst/>
              </a:rPr>
              <a:t>SQL</a:t>
            </a:r>
          </a:p>
          <a:p>
            <a:pPr lvl="1"/>
            <a:r>
              <a:rPr lang="en-US" altLang="zh-TW" b="1" dirty="0">
                <a:effectLst/>
              </a:rPr>
              <a:t>python</a:t>
            </a:r>
            <a:endParaRPr lang="zh-TW" altLang="en-US" b="1" dirty="0">
              <a:effectLst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36E4AB5-005B-4169-80C7-45413895F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zh-TW" altLang="en-US" sz="5400" b="1" dirty="0">
                <a:effectLst/>
              </a:rPr>
              <a:t>數據分析師</a:t>
            </a:r>
            <a:r>
              <a:rPr lang="en-US" altLang="zh-TW" sz="5400" b="1" dirty="0">
                <a:effectLst/>
              </a:rPr>
              <a:t>Data Analyst </a:t>
            </a:r>
            <a:endParaRPr lang="zh-TW" altLang="en-US" sz="5400" dirty="0"/>
          </a:p>
        </p:txBody>
      </p:sp>
    </p:spTree>
    <p:extLst>
      <p:ext uri="{BB962C8B-B14F-4D97-AF65-F5344CB8AC3E}">
        <p14:creationId xmlns:p14="http://schemas.microsoft.com/office/powerpoint/2010/main" val="223508832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9557D42-8C6D-4CE4-9231-6D47AB175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600200"/>
            <a:ext cx="8784976" cy="5105400"/>
          </a:xfrm>
        </p:spPr>
        <p:txBody>
          <a:bodyPr>
            <a:normAutofit/>
          </a:bodyPr>
          <a:lstStyle/>
          <a:p>
            <a:r>
              <a:rPr lang="en-US" altLang="zh-CN" b="1" dirty="0">
                <a:effectLst/>
              </a:rPr>
              <a:t>2.</a:t>
            </a:r>
            <a:r>
              <a:rPr lang="zh-CN" altLang="en-US" b="1" dirty="0">
                <a:effectLst/>
              </a:rPr>
              <a:t>案例</a:t>
            </a:r>
            <a:r>
              <a:rPr lang="en-US" altLang="zh-CN" b="1" dirty="0">
                <a:effectLst/>
              </a:rPr>
              <a:t>2</a:t>
            </a:r>
            <a:r>
              <a:rPr lang="zh-CN" altLang="en-US" b="1" dirty="0">
                <a:effectLst/>
              </a:rPr>
              <a:t>：</a:t>
            </a:r>
            <a:r>
              <a:rPr lang="zh-TW" altLang="en-US" dirty="0"/>
              <a:t>我如何成為數據分析師 </a:t>
            </a:r>
            <a:r>
              <a:rPr lang="en-US" altLang="zh-TW" dirty="0"/>
              <a:t>// </a:t>
            </a:r>
            <a:r>
              <a:rPr lang="zh-TW" altLang="en-US" dirty="0"/>
              <a:t>無理工背景轉職</a:t>
            </a:r>
            <a:endParaRPr lang="en-US" altLang="zh-TW" dirty="0"/>
          </a:p>
          <a:p>
            <a:r>
              <a:rPr lang="en-US" altLang="zh-TW" dirty="0">
                <a:hlinkClick r:id="rId2"/>
              </a:rPr>
              <a:t>https://www.youtube.com/watch?v=aNaElUzxvPE</a:t>
            </a:r>
            <a:endParaRPr lang="en-US" altLang="zh-TW" dirty="0"/>
          </a:p>
          <a:p>
            <a:pPr lvl="1"/>
            <a:r>
              <a:rPr lang="zh-CN" altLang="en-US" b="1" dirty="0">
                <a:effectLst/>
              </a:rPr>
              <a:t>台灣人，英文系，赴澳洲，讀資料科學學程，找到資料分析工作</a:t>
            </a:r>
            <a:endParaRPr lang="en-US" altLang="zh-CN" b="1" dirty="0">
              <a:effectLst/>
            </a:endParaRPr>
          </a:p>
          <a:p>
            <a:pPr lvl="1"/>
            <a:r>
              <a:rPr lang="zh-CN" altLang="en-US" b="1" dirty="0">
                <a:effectLst/>
              </a:rPr>
              <a:t>原因</a:t>
            </a:r>
            <a:r>
              <a:rPr lang="en-US" altLang="zh-CN" b="1" dirty="0">
                <a:effectLst/>
              </a:rPr>
              <a:t>1</a:t>
            </a:r>
            <a:r>
              <a:rPr lang="zh-CN" altLang="en-US" b="1" dirty="0">
                <a:effectLst/>
              </a:rPr>
              <a:t>：薪水高</a:t>
            </a:r>
            <a:endParaRPr lang="en-US" altLang="zh-CN" b="1" dirty="0">
              <a:effectLst/>
            </a:endParaRPr>
          </a:p>
          <a:p>
            <a:pPr lvl="1"/>
            <a:r>
              <a:rPr lang="zh-CN" altLang="en-US" b="1" dirty="0">
                <a:effectLst/>
              </a:rPr>
              <a:t>原因</a:t>
            </a:r>
            <a:r>
              <a:rPr lang="en-US" altLang="zh-CN" b="1" dirty="0">
                <a:effectLst/>
              </a:rPr>
              <a:t>2</a:t>
            </a:r>
            <a:r>
              <a:rPr lang="zh-CN" altLang="en-US" b="1" dirty="0">
                <a:effectLst/>
              </a:rPr>
              <a:t>：</a:t>
            </a:r>
            <a:r>
              <a:rPr lang="en-US" altLang="zh-CN" b="1" dirty="0">
                <a:effectLst/>
              </a:rPr>
              <a:t>21</a:t>
            </a:r>
            <a:r>
              <a:rPr lang="zh-CN" altLang="en-US" b="1" dirty="0">
                <a:effectLst/>
              </a:rPr>
              <a:t>世紀，資料科學家，是最性感的職業</a:t>
            </a:r>
            <a:endParaRPr lang="en-US" altLang="zh-CN" b="1" dirty="0">
              <a:effectLst/>
            </a:endParaRPr>
          </a:p>
          <a:p>
            <a:pPr lvl="1"/>
            <a:r>
              <a:rPr lang="zh-CN" altLang="en-US" b="1" dirty="0">
                <a:effectLst/>
              </a:rPr>
              <a:t>原因</a:t>
            </a:r>
            <a:r>
              <a:rPr lang="en-US" altLang="zh-CN" b="1" dirty="0">
                <a:effectLst/>
              </a:rPr>
              <a:t>3</a:t>
            </a:r>
            <a:r>
              <a:rPr lang="zh-CN" altLang="en-US" b="1" dirty="0">
                <a:effectLst/>
              </a:rPr>
              <a:t>：每個產業都需要數據分析師，很好跳槽找高薪</a:t>
            </a:r>
            <a:endParaRPr lang="en-US" altLang="zh-TW" b="1" dirty="0">
              <a:effectLst/>
            </a:endParaRPr>
          </a:p>
          <a:p>
            <a:r>
              <a:rPr lang="zh-TW" altLang="en-US" b="1" dirty="0">
                <a:effectLst/>
              </a:rPr>
              <a:t>澳洲薪資</a:t>
            </a:r>
            <a:r>
              <a:rPr lang="en-US" altLang="zh-CN" b="1" dirty="0">
                <a:effectLst/>
              </a:rPr>
              <a:t>for</a:t>
            </a:r>
            <a:r>
              <a:rPr lang="zh-CN" altLang="en-US" b="1" dirty="0">
                <a:effectLst/>
              </a:rPr>
              <a:t>數據分析師</a:t>
            </a:r>
            <a:endParaRPr lang="zh-TW" altLang="en-US" b="1" dirty="0">
              <a:effectLst/>
            </a:endParaRPr>
          </a:p>
          <a:p>
            <a:pPr lvl="1"/>
            <a:r>
              <a:rPr lang="en-US" altLang="zh-CN" b="1" dirty="0">
                <a:effectLst/>
                <a:hlinkClick r:id="rId3"/>
              </a:rPr>
              <a:t>https://youtu.be/vs9KuuDPaIc?t=96</a:t>
            </a:r>
            <a:endParaRPr lang="en-US" altLang="zh-CN" b="1" dirty="0">
              <a:effectLst/>
            </a:endParaRPr>
          </a:p>
          <a:p>
            <a:pPr lvl="1"/>
            <a:r>
              <a:rPr lang="zh-CN" altLang="en-US" dirty="0"/>
              <a:t>一般大約年薪台幣</a:t>
            </a:r>
            <a:r>
              <a:rPr lang="en-US" altLang="zh-CN" dirty="0"/>
              <a:t>175</a:t>
            </a:r>
            <a:r>
              <a:rPr lang="zh-CN" altLang="en-US" dirty="0"/>
              <a:t>萬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36E4AB5-005B-4169-80C7-45413895F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數據分析師</a:t>
            </a:r>
            <a:r>
              <a:rPr lang="en-US" altLang="zh-TW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Data Analyst</a:t>
            </a:r>
            <a:r>
              <a:rPr lang="en-US" altLang="zh-TW" b="1" dirty="0">
                <a:effectLst/>
              </a:rPr>
              <a:t> 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1386108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9557D42-8C6D-4CE4-9231-6D47AB175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600200"/>
            <a:ext cx="8784976" cy="5105400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b="1" dirty="0">
                <a:effectLst/>
              </a:rPr>
              <a:t>3.</a:t>
            </a:r>
            <a:r>
              <a:rPr lang="zh-CN" altLang="en-US" b="1" dirty="0">
                <a:effectLst/>
              </a:rPr>
              <a:t>案例</a:t>
            </a:r>
            <a:r>
              <a:rPr lang="en-US" altLang="zh-CN" b="1" dirty="0">
                <a:effectLst/>
              </a:rPr>
              <a:t>3</a:t>
            </a:r>
            <a:r>
              <a:rPr lang="zh-CN" altLang="en-US" b="1" dirty="0">
                <a:effectLst/>
              </a:rPr>
              <a:t>：</a:t>
            </a:r>
            <a:r>
              <a:rPr lang="zh-TW" altLang="zh-TW" b="1" dirty="0">
                <a:effectLst/>
              </a:rPr>
              <a:t>零經驗</a:t>
            </a:r>
            <a:r>
              <a:rPr lang="en-US" altLang="zh-TW" b="1" dirty="0">
                <a:effectLst/>
              </a:rPr>
              <a:t>2</a:t>
            </a:r>
            <a:r>
              <a:rPr lang="zh-TW" altLang="zh-TW" b="1" dirty="0">
                <a:effectLst/>
              </a:rPr>
              <a:t>個月轉行資料分析師系列（</a:t>
            </a:r>
            <a:r>
              <a:rPr lang="en-US" altLang="zh-TW" b="1" dirty="0">
                <a:effectLst/>
              </a:rPr>
              <a:t>1</a:t>
            </a:r>
            <a:r>
              <a:rPr lang="zh-TW" altLang="zh-TW" b="1" dirty="0">
                <a:effectLst/>
              </a:rPr>
              <a:t>）如何自學資料分析</a:t>
            </a:r>
            <a:r>
              <a:rPr lang="en-US" altLang="zh-TW" b="1" dirty="0">
                <a:effectLst/>
                <a:hlinkClick r:id="rId2"/>
              </a:rPr>
              <a:t>https://www.youtube.com/watch?v=NZ6BMUVn5d4&amp;t=0s</a:t>
            </a:r>
            <a:endParaRPr lang="en-US" altLang="zh-TW" b="1" dirty="0">
              <a:effectLst/>
            </a:endParaRPr>
          </a:p>
          <a:p>
            <a:r>
              <a:rPr lang="en-US" altLang="zh-TW" b="1" dirty="0">
                <a:effectLst/>
                <a:hlinkClick r:id="rId3"/>
              </a:rPr>
              <a:t>https://www.youtube.com/watch?v=maM4ZljKdXY&amp;t=0s</a:t>
            </a:r>
            <a:endParaRPr lang="en-US" altLang="zh-TW" b="1" dirty="0">
              <a:effectLst/>
            </a:endParaRPr>
          </a:p>
          <a:p>
            <a:pPr lvl="1"/>
            <a:r>
              <a:rPr lang="zh-CN" altLang="en-US" b="1" dirty="0">
                <a:effectLst/>
              </a:rPr>
              <a:t>大陸人，生物專業，赴加拿大二縣城市，自學</a:t>
            </a:r>
            <a:r>
              <a:rPr lang="en-US" altLang="zh-CN" b="1" dirty="0">
                <a:effectLst/>
              </a:rPr>
              <a:t>2</a:t>
            </a:r>
            <a:r>
              <a:rPr lang="zh-CN" altLang="en-US" b="1" dirty="0">
                <a:effectLst/>
              </a:rPr>
              <a:t>個月，轉行</a:t>
            </a:r>
            <a:endParaRPr lang="en-US" altLang="zh-CN" b="1" dirty="0">
              <a:effectLst/>
            </a:endParaRPr>
          </a:p>
          <a:p>
            <a:pPr lvl="1"/>
            <a:r>
              <a:rPr lang="zh-CN" altLang="en-US" b="1" dirty="0">
                <a:effectLst/>
              </a:rPr>
              <a:t>關鍵：</a:t>
            </a:r>
            <a:r>
              <a:rPr lang="en-US" altLang="zh-CN" b="1" dirty="0">
                <a:effectLst/>
              </a:rPr>
              <a:t>CV</a:t>
            </a:r>
            <a:r>
              <a:rPr lang="zh-CN" altLang="en-US" b="1" dirty="0">
                <a:effectLst/>
              </a:rPr>
              <a:t>履歷寫好即可</a:t>
            </a:r>
            <a:endParaRPr lang="en-US" altLang="zh-CN" b="1" dirty="0">
              <a:effectLst/>
            </a:endParaRPr>
          </a:p>
          <a:p>
            <a:r>
              <a:rPr lang="zh-TW" altLang="en-US" b="1" dirty="0">
                <a:effectLst/>
              </a:rPr>
              <a:t>二線城市</a:t>
            </a:r>
            <a:r>
              <a:rPr lang="zh-CN" altLang="en-US" b="1" dirty="0">
                <a:effectLst/>
              </a:rPr>
              <a:t>薪資</a:t>
            </a:r>
            <a:endParaRPr lang="en-US" altLang="zh-CN" b="1" dirty="0">
              <a:effectLst/>
            </a:endParaRPr>
          </a:p>
          <a:p>
            <a:pPr lvl="1"/>
            <a:r>
              <a:rPr lang="zh-TW" altLang="en-US" b="1" dirty="0">
                <a:effectLst/>
              </a:rPr>
              <a:t>第一年薪水加拿大幣</a:t>
            </a:r>
            <a:r>
              <a:rPr lang="en-US" altLang="zh-TW" b="1" dirty="0">
                <a:effectLst/>
              </a:rPr>
              <a:t>6-7</a:t>
            </a:r>
            <a:r>
              <a:rPr lang="zh-TW" altLang="en-US" b="1" dirty="0">
                <a:effectLst/>
              </a:rPr>
              <a:t>萬（台幣</a:t>
            </a:r>
            <a:r>
              <a:rPr lang="en-US" altLang="zh-TW" b="1" dirty="0">
                <a:effectLst/>
              </a:rPr>
              <a:t>140</a:t>
            </a:r>
            <a:r>
              <a:rPr lang="zh-TW" altLang="en-US" b="1" dirty="0">
                <a:effectLst/>
              </a:rPr>
              <a:t>萬）</a:t>
            </a:r>
            <a:endParaRPr lang="en-US" altLang="zh-TW" b="1" dirty="0">
              <a:effectLst/>
            </a:endParaRPr>
          </a:p>
          <a:p>
            <a:pPr lvl="1"/>
            <a:r>
              <a:rPr lang="zh-TW" altLang="en-US" b="1" dirty="0">
                <a:effectLst/>
              </a:rPr>
              <a:t>第</a:t>
            </a:r>
            <a:r>
              <a:rPr lang="en-US" altLang="zh-TW" b="1" dirty="0">
                <a:effectLst/>
              </a:rPr>
              <a:t>2-3</a:t>
            </a:r>
            <a:r>
              <a:rPr lang="zh-TW" altLang="en-US" b="1" dirty="0">
                <a:effectLst/>
              </a:rPr>
              <a:t>年，</a:t>
            </a:r>
            <a:r>
              <a:rPr lang="en-US" altLang="zh-TW" b="1" dirty="0">
                <a:effectLst/>
              </a:rPr>
              <a:t>7-8</a:t>
            </a:r>
            <a:r>
              <a:rPr lang="zh-TW" altLang="en-US" b="1" dirty="0">
                <a:effectLst/>
              </a:rPr>
              <a:t>萬（台幣</a:t>
            </a:r>
            <a:r>
              <a:rPr lang="en-US" altLang="zh-TW" b="1" dirty="0">
                <a:effectLst/>
              </a:rPr>
              <a:t>180</a:t>
            </a:r>
            <a:r>
              <a:rPr lang="zh-TW" altLang="en-US" b="1" dirty="0">
                <a:effectLst/>
              </a:rPr>
              <a:t>萬）</a:t>
            </a:r>
            <a:endParaRPr lang="en-US" altLang="zh-TW" b="1" dirty="0">
              <a:effectLst/>
            </a:endParaRPr>
          </a:p>
          <a:p>
            <a:pPr lvl="1"/>
            <a:r>
              <a:rPr lang="zh-TW" altLang="en-US" b="1" dirty="0">
                <a:effectLst/>
              </a:rPr>
              <a:t>第</a:t>
            </a:r>
            <a:r>
              <a:rPr lang="en-US" altLang="zh-TW" b="1" dirty="0">
                <a:effectLst/>
              </a:rPr>
              <a:t>5</a:t>
            </a:r>
            <a:r>
              <a:rPr lang="zh-TW" altLang="en-US" b="1" dirty="0">
                <a:effectLst/>
              </a:rPr>
              <a:t>年，</a:t>
            </a:r>
            <a:r>
              <a:rPr lang="en-US" altLang="zh-TW" b="1" dirty="0">
                <a:effectLst/>
              </a:rPr>
              <a:t>9-10</a:t>
            </a:r>
            <a:r>
              <a:rPr lang="zh-TW" altLang="en-US" b="1" dirty="0">
                <a:effectLst/>
              </a:rPr>
              <a:t>萬（台幣</a:t>
            </a:r>
            <a:r>
              <a:rPr lang="en-US" altLang="zh-TW" b="1" dirty="0">
                <a:effectLst/>
              </a:rPr>
              <a:t>223</a:t>
            </a:r>
            <a:r>
              <a:rPr lang="zh-TW" altLang="en-US" b="1" dirty="0">
                <a:effectLst/>
              </a:rPr>
              <a:t>萬）</a:t>
            </a:r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36E4AB5-005B-4169-80C7-45413895F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數據分析師</a:t>
            </a:r>
            <a:r>
              <a:rPr lang="en-US" altLang="zh-TW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Data Analyst</a:t>
            </a:r>
            <a:r>
              <a:rPr lang="en-US" altLang="zh-TW" b="1" dirty="0">
                <a:effectLst/>
              </a:rPr>
              <a:t> 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625327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9557D42-8C6D-4CE4-9231-6D47AB175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600200"/>
            <a:ext cx="8784976" cy="5105400"/>
          </a:xfrm>
        </p:spPr>
        <p:txBody>
          <a:bodyPr>
            <a:normAutofit lnSpcReduction="10000"/>
          </a:bodyPr>
          <a:lstStyle/>
          <a:p>
            <a:r>
              <a:rPr lang="en-US" altLang="zh-CN" b="1" dirty="0">
                <a:effectLst/>
              </a:rPr>
              <a:t>4.</a:t>
            </a:r>
            <a:r>
              <a:rPr lang="zh-CN" altLang="en-US" b="1" dirty="0">
                <a:effectLst/>
              </a:rPr>
              <a:t>案例</a:t>
            </a:r>
            <a:r>
              <a:rPr lang="en-US" altLang="zh-CN" b="1" dirty="0">
                <a:effectLst/>
              </a:rPr>
              <a:t>4</a:t>
            </a:r>
            <a:r>
              <a:rPr lang="zh-CN" altLang="en-US" b="1" dirty="0">
                <a:effectLst/>
              </a:rPr>
              <a:t>：</a:t>
            </a:r>
            <a:r>
              <a:rPr lang="en-US" altLang="zh-TW" b="1" dirty="0">
                <a:effectLst/>
              </a:rPr>
              <a:t>21</a:t>
            </a:r>
            <a:r>
              <a:rPr lang="zh-TW" altLang="en-US" b="1" dirty="0">
                <a:effectLst/>
              </a:rPr>
              <a:t>世紀最性感的職業？資料分析師的修煉心法</a:t>
            </a:r>
          </a:p>
          <a:p>
            <a:r>
              <a:rPr lang="en-US" altLang="zh-TW" dirty="0">
                <a:hlinkClick r:id="rId2"/>
              </a:rPr>
              <a:t>https://www.youtube.com/watch?v=e32frJpvFhc</a:t>
            </a:r>
            <a:endParaRPr lang="en-US" altLang="zh-TW" dirty="0"/>
          </a:p>
          <a:p>
            <a:pPr lvl="1"/>
            <a:r>
              <a:rPr lang="zh-CN" altLang="en-US" b="1" dirty="0">
                <a:effectLst/>
              </a:rPr>
              <a:t>台灣人，公共衛生系，統計，轉行到資料分析工作</a:t>
            </a:r>
            <a:r>
              <a:rPr lang="en-US" altLang="zh-CN" b="1" dirty="0">
                <a:effectLst/>
              </a:rPr>
              <a:t>5</a:t>
            </a:r>
            <a:r>
              <a:rPr lang="zh-CN" altLang="en-US" b="1" dirty="0">
                <a:effectLst/>
              </a:rPr>
              <a:t>年</a:t>
            </a:r>
            <a:endParaRPr lang="en-US" altLang="zh-CN" b="1" dirty="0">
              <a:effectLst/>
            </a:endParaRPr>
          </a:p>
          <a:p>
            <a:pPr lvl="1"/>
            <a:r>
              <a:rPr lang="zh-CN" altLang="en-US" b="1" dirty="0">
                <a:effectLst/>
              </a:rPr>
              <a:t>工作：物聯網公司，電商公司，新創公司，數位廣告，傳產公司都要數位轉型</a:t>
            </a:r>
            <a:endParaRPr lang="en-US" altLang="zh-CN" b="1" dirty="0">
              <a:effectLst/>
            </a:endParaRPr>
          </a:p>
          <a:p>
            <a:pPr lvl="1"/>
            <a:r>
              <a:rPr lang="zh-TW" altLang="en-US" b="1" dirty="0">
                <a:effectLst/>
              </a:rPr>
              <a:t>資料分析師</a:t>
            </a:r>
            <a:r>
              <a:rPr lang="zh-CN" altLang="en-US" b="1" dirty="0">
                <a:effectLst/>
              </a:rPr>
              <a:t>主要</a:t>
            </a:r>
            <a:r>
              <a:rPr lang="en-US" altLang="zh-CN" b="1" dirty="0">
                <a:effectLst/>
              </a:rPr>
              <a:t>2</a:t>
            </a:r>
            <a:r>
              <a:rPr lang="zh-CN" altLang="en-US" b="1" dirty="0">
                <a:effectLst/>
              </a:rPr>
              <a:t>種類型：</a:t>
            </a:r>
            <a:endParaRPr lang="en-US" altLang="zh-CN" b="1" dirty="0">
              <a:effectLst/>
            </a:endParaRPr>
          </a:p>
          <a:p>
            <a:pPr lvl="2"/>
            <a:r>
              <a:rPr lang="zh-CN" altLang="en-US" b="1" dirty="0">
                <a:effectLst/>
              </a:rPr>
              <a:t>商業智慧分析師</a:t>
            </a:r>
            <a:endParaRPr lang="en-US" altLang="zh-CN" b="1" dirty="0">
              <a:effectLst/>
            </a:endParaRPr>
          </a:p>
          <a:p>
            <a:pPr lvl="2"/>
            <a:r>
              <a:rPr lang="zh-CN" altLang="en-US" b="1" dirty="0">
                <a:effectLst/>
              </a:rPr>
              <a:t>資料科學家</a:t>
            </a:r>
            <a:endParaRPr lang="en-US" altLang="zh-TW" b="1" dirty="0">
              <a:effectLst/>
            </a:endParaRPr>
          </a:p>
          <a:p>
            <a:pPr lvl="1"/>
            <a:r>
              <a:rPr lang="zh-CN" altLang="en-US" b="1" dirty="0">
                <a:effectLst/>
              </a:rPr>
              <a:t>工作迷人處：</a:t>
            </a:r>
            <a:endParaRPr lang="en-US" altLang="zh-CN" b="1" dirty="0">
              <a:effectLst/>
            </a:endParaRPr>
          </a:p>
          <a:p>
            <a:pPr lvl="2"/>
            <a:r>
              <a:rPr lang="zh-CN" altLang="en-US" b="1" dirty="0">
                <a:effectLst/>
              </a:rPr>
              <a:t>可以看到工作運作的全貌，接觸到公司高層，輔助高層的決策</a:t>
            </a:r>
            <a:endParaRPr lang="en-US" altLang="zh-CN" b="1" dirty="0">
              <a:effectLst/>
            </a:endParaRPr>
          </a:p>
          <a:p>
            <a:pPr lvl="2"/>
            <a:r>
              <a:rPr lang="zh-CN" altLang="en-US" b="1" dirty="0">
                <a:effectLst/>
              </a:rPr>
              <a:t>很有成就感，因為你的工作，很有影響力，是公司重要的顧問與智囊</a:t>
            </a:r>
            <a:endParaRPr lang="en-US" altLang="zh-CN" b="1" dirty="0">
              <a:effectLst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36E4AB5-005B-4169-80C7-45413895F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數據分析師</a:t>
            </a:r>
            <a:r>
              <a:rPr lang="en-US" altLang="zh-TW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Data Analyst</a:t>
            </a:r>
            <a:r>
              <a:rPr lang="en-US" altLang="zh-TW" b="1" dirty="0">
                <a:effectLst/>
              </a:rPr>
              <a:t> 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5986273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9557D42-8C6D-4CE4-9231-6D47AB175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600200"/>
            <a:ext cx="8784976" cy="5105400"/>
          </a:xfrm>
        </p:spPr>
        <p:txBody>
          <a:bodyPr>
            <a:normAutofit/>
          </a:bodyPr>
          <a:lstStyle/>
          <a:p>
            <a:r>
              <a:rPr lang="en-US" altLang="zh-CN" b="1" dirty="0">
                <a:effectLst/>
              </a:rPr>
              <a:t>5.</a:t>
            </a:r>
            <a:r>
              <a:rPr lang="zh-TW" altLang="en-US" b="1" dirty="0">
                <a:effectLst/>
              </a:rPr>
              <a:t>轉職數據分析的人</a:t>
            </a:r>
            <a:r>
              <a:rPr lang="zh-CN" altLang="en-US" b="1" dirty="0">
                <a:effectLst/>
              </a:rPr>
              <a:t>很多</a:t>
            </a:r>
            <a:r>
              <a:rPr lang="zh-TW" altLang="en-US" b="1" dirty="0">
                <a:effectLst/>
              </a:rPr>
              <a:t>都失敗了</a:t>
            </a:r>
            <a:r>
              <a:rPr lang="en-US" altLang="zh-TW" b="1" dirty="0">
                <a:effectLst/>
              </a:rPr>
              <a:t>? </a:t>
            </a:r>
            <a:r>
              <a:rPr lang="zh-TW" altLang="en-US" b="1" dirty="0">
                <a:effectLst/>
              </a:rPr>
              <a:t>大幅提升成功率的轉職方法</a:t>
            </a:r>
          </a:p>
          <a:p>
            <a:r>
              <a:rPr lang="en-US" altLang="zh-TW" dirty="0">
                <a:hlinkClick r:id="rId2"/>
              </a:rPr>
              <a:t>https://www.youtube.com/watch?v=9EcOu_GLsfA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CN" dirty="0"/>
              <a:t>6.</a:t>
            </a:r>
            <a:r>
              <a:rPr lang="zh-TW" altLang="en-US" b="1" dirty="0">
                <a:effectLst/>
              </a:rPr>
              <a:t>數據分析轉職 </a:t>
            </a:r>
            <a:r>
              <a:rPr lang="en-US" altLang="zh-TW" b="1" dirty="0">
                <a:effectLst/>
              </a:rPr>
              <a:t>| </a:t>
            </a:r>
            <a:r>
              <a:rPr lang="zh-TW" altLang="en-US" b="1" dirty="0">
                <a:effectLst/>
              </a:rPr>
              <a:t>超過</a:t>
            </a:r>
            <a:r>
              <a:rPr lang="en-US" altLang="zh-TW" b="1" dirty="0">
                <a:effectLst/>
              </a:rPr>
              <a:t>50%</a:t>
            </a:r>
            <a:r>
              <a:rPr lang="zh-TW" altLang="en-US" b="1" dirty="0">
                <a:effectLst/>
              </a:rPr>
              <a:t>的人選錯了轉職職位</a:t>
            </a:r>
            <a:r>
              <a:rPr lang="en-US" altLang="zh-TW" b="1" dirty="0">
                <a:effectLst/>
              </a:rPr>
              <a:t>?</a:t>
            </a:r>
          </a:p>
          <a:p>
            <a:r>
              <a:rPr lang="en-US" altLang="zh-TW" dirty="0">
                <a:hlinkClick r:id="rId3"/>
              </a:rPr>
              <a:t>https://www.youtube.com/watch?v=sUVX2NqOOEg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36E4AB5-005B-4169-80C7-45413895F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數據分析師</a:t>
            </a:r>
            <a:r>
              <a:rPr lang="en-US" altLang="zh-TW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Data Analyst</a:t>
            </a:r>
            <a:r>
              <a:rPr lang="en-US" altLang="zh-TW" b="1" dirty="0">
                <a:effectLst/>
              </a:rPr>
              <a:t> 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9346809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美國的職業評比排名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20" y="1600200"/>
            <a:ext cx="8435280" cy="4925144"/>
          </a:xfrm>
        </p:spPr>
        <p:txBody>
          <a:bodyPr>
            <a:normAutofit fontScale="92500" lnSpcReduction="10000"/>
          </a:bodyPr>
          <a:lstStyle/>
          <a:p>
            <a:r>
              <a:rPr lang="zh-TW" altLang="en-US" sz="3200" dirty="0"/>
              <a:t>前十名職業</a:t>
            </a:r>
            <a:r>
              <a:rPr lang="zh-CN" altLang="en-US" sz="3200" dirty="0"/>
              <a:t>（</a:t>
            </a:r>
            <a:r>
              <a:rPr lang="zh-CN" altLang="en-US" sz="3200" dirty="0">
                <a:solidFill>
                  <a:srgbClr val="C00000"/>
                </a:solidFill>
              </a:rPr>
              <a:t>與數學</a:t>
            </a:r>
            <a:r>
              <a:rPr lang="en-US" altLang="zh-CN" sz="3200" dirty="0">
                <a:solidFill>
                  <a:srgbClr val="C00000"/>
                </a:solidFill>
              </a:rPr>
              <a:t>/</a:t>
            </a:r>
            <a:r>
              <a:rPr lang="zh-CN" altLang="en-US" sz="3200" dirty="0">
                <a:solidFill>
                  <a:srgbClr val="C00000"/>
                </a:solidFill>
              </a:rPr>
              <a:t>數據處理有關的有</a:t>
            </a:r>
            <a:r>
              <a:rPr lang="en-US" altLang="zh-CN" sz="3200" dirty="0">
                <a:solidFill>
                  <a:srgbClr val="C00000"/>
                </a:solidFill>
              </a:rPr>
              <a:t>5</a:t>
            </a:r>
            <a:r>
              <a:rPr lang="zh-CN" altLang="en-US" sz="3200" dirty="0"/>
              <a:t>個）</a:t>
            </a:r>
            <a:endParaRPr lang="zh-TW" altLang="en-US" sz="3200" dirty="0"/>
          </a:p>
          <a:p>
            <a:pPr lvl="1"/>
            <a:r>
              <a:rPr lang="en-US" altLang="zh-TW" sz="2800" dirty="0"/>
              <a:t>1. </a:t>
            </a:r>
            <a:r>
              <a:rPr lang="zh-TW" altLang="en-US" sz="2800" dirty="0">
                <a:solidFill>
                  <a:srgbClr val="C00000"/>
                </a:solidFill>
              </a:rPr>
              <a:t>數學家</a:t>
            </a:r>
            <a:r>
              <a:rPr lang="zh-TW" altLang="en-US" sz="2800" dirty="0"/>
              <a:t> </a:t>
            </a:r>
            <a:r>
              <a:rPr lang="en-US" altLang="zh-TW" sz="2800" dirty="0"/>
              <a:t>(Mathematician)</a:t>
            </a:r>
          </a:p>
          <a:p>
            <a:pPr lvl="1"/>
            <a:r>
              <a:rPr lang="en-US" altLang="zh-TW" sz="2800" dirty="0"/>
              <a:t>2. </a:t>
            </a:r>
            <a:r>
              <a:rPr lang="zh-TW" altLang="en-US" sz="2800" dirty="0">
                <a:solidFill>
                  <a:srgbClr val="C00000"/>
                </a:solidFill>
              </a:rPr>
              <a:t>保險統計師 </a:t>
            </a:r>
            <a:r>
              <a:rPr lang="en-US" altLang="zh-TW" sz="2800" dirty="0"/>
              <a:t>(Actuary)</a:t>
            </a:r>
          </a:p>
          <a:p>
            <a:pPr lvl="1"/>
            <a:r>
              <a:rPr lang="en-US" altLang="zh-TW" sz="2800" dirty="0"/>
              <a:t>3. </a:t>
            </a:r>
            <a:r>
              <a:rPr lang="zh-TW" altLang="en-US" sz="2800" dirty="0">
                <a:solidFill>
                  <a:srgbClr val="C00000"/>
                </a:solidFill>
              </a:rPr>
              <a:t>統計學家 </a:t>
            </a:r>
            <a:r>
              <a:rPr lang="en-US" altLang="zh-TW" sz="2800" dirty="0"/>
              <a:t>(Statistician)</a:t>
            </a:r>
          </a:p>
          <a:p>
            <a:pPr lvl="1"/>
            <a:r>
              <a:rPr lang="en-US" altLang="zh-TW" sz="2800" dirty="0"/>
              <a:t>4. </a:t>
            </a:r>
            <a:r>
              <a:rPr lang="zh-TW" altLang="en-US" sz="2800" dirty="0"/>
              <a:t>生物學家 </a:t>
            </a:r>
            <a:r>
              <a:rPr lang="en-US" altLang="zh-TW" sz="2800" dirty="0"/>
              <a:t>(Biologist)</a:t>
            </a:r>
          </a:p>
          <a:p>
            <a:pPr lvl="1"/>
            <a:r>
              <a:rPr lang="en-US" altLang="zh-TW" sz="2800" dirty="0"/>
              <a:t>5. </a:t>
            </a:r>
            <a:r>
              <a:rPr lang="zh-TW" altLang="en-US" sz="2800" dirty="0">
                <a:solidFill>
                  <a:srgbClr val="C00000"/>
                </a:solidFill>
              </a:rPr>
              <a:t>軟體工程師 </a:t>
            </a:r>
            <a:r>
              <a:rPr lang="en-US" altLang="zh-TW" sz="2800" dirty="0"/>
              <a:t>(Software engineer)</a:t>
            </a:r>
          </a:p>
          <a:p>
            <a:pPr lvl="1"/>
            <a:r>
              <a:rPr lang="en-US" altLang="zh-TW" sz="2800" dirty="0"/>
              <a:t>6. </a:t>
            </a:r>
            <a:r>
              <a:rPr lang="zh-TW" altLang="en-US" sz="2800" dirty="0">
                <a:solidFill>
                  <a:srgbClr val="C00000"/>
                </a:solidFill>
              </a:rPr>
              <a:t>電腦</a:t>
            </a:r>
            <a:r>
              <a:rPr lang="zh-CN" altLang="en-US" sz="2800" dirty="0">
                <a:solidFill>
                  <a:srgbClr val="C00000"/>
                </a:solidFill>
              </a:rPr>
              <a:t>資訊相關</a:t>
            </a:r>
            <a:r>
              <a:rPr lang="zh-TW" altLang="en-US" sz="2800" dirty="0">
                <a:solidFill>
                  <a:srgbClr val="C00000"/>
                </a:solidFill>
              </a:rPr>
              <a:t>分析師 </a:t>
            </a:r>
            <a:r>
              <a:rPr lang="en-US" altLang="zh-TW" sz="2800" dirty="0"/>
              <a:t>(Computer systems analyst)</a:t>
            </a:r>
          </a:p>
          <a:p>
            <a:pPr lvl="1"/>
            <a:r>
              <a:rPr lang="en-US" altLang="zh-TW" sz="2800" dirty="0"/>
              <a:t>7. </a:t>
            </a:r>
            <a:r>
              <a:rPr lang="zh-TW" altLang="en-US" sz="2800" dirty="0"/>
              <a:t>歷史學家 </a:t>
            </a:r>
            <a:r>
              <a:rPr lang="en-US" altLang="zh-TW" sz="2800" dirty="0"/>
              <a:t>(Historian)</a:t>
            </a:r>
          </a:p>
          <a:p>
            <a:pPr lvl="1"/>
            <a:r>
              <a:rPr lang="en-US" altLang="zh-TW" sz="2800" dirty="0"/>
              <a:t>8. </a:t>
            </a:r>
            <a:r>
              <a:rPr lang="zh-TW" altLang="en-US" sz="2800" dirty="0"/>
              <a:t>社會學家 </a:t>
            </a:r>
            <a:r>
              <a:rPr lang="en-US" altLang="zh-TW" sz="2800" dirty="0"/>
              <a:t>(Sociologist)</a:t>
            </a:r>
          </a:p>
          <a:p>
            <a:pPr lvl="1"/>
            <a:r>
              <a:rPr lang="en-US" altLang="zh-TW" sz="2800" dirty="0"/>
              <a:t>9. </a:t>
            </a:r>
            <a:r>
              <a:rPr lang="zh-TW" altLang="en-US" sz="2800" dirty="0"/>
              <a:t>工業設計師 </a:t>
            </a:r>
            <a:r>
              <a:rPr lang="en-US" altLang="zh-TW" sz="2800" dirty="0"/>
              <a:t>(Industrial designer)</a:t>
            </a:r>
          </a:p>
          <a:p>
            <a:pPr lvl="1"/>
            <a:r>
              <a:rPr lang="en-US" altLang="zh-TW" sz="2800" dirty="0"/>
              <a:t>10. </a:t>
            </a:r>
            <a:r>
              <a:rPr lang="zh-TW" altLang="en-US" sz="2800" dirty="0"/>
              <a:t>會計師 </a:t>
            </a:r>
            <a:r>
              <a:rPr lang="en-US" altLang="zh-TW" sz="2800" dirty="0"/>
              <a:t>(Accountant)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43762106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美國的職業評比排名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5257800"/>
          </a:xfrm>
        </p:spPr>
        <p:txBody>
          <a:bodyPr>
            <a:normAutofit/>
          </a:bodyPr>
          <a:lstStyle/>
          <a:p>
            <a:r>
              <a:rPr lang="zh-TW" altLang="en-US" dirty="0"/>
              <a:t>後十名職業</a:t>
            </a:r>
          </a:p>
          <a:p>
            <a:pPr lvl="1"/>
            <a:r>
              <a:rPr lang="en-US" altLang="zh-TW" dirty="0"/>
              <a:t>200. </a:t>
            </a:r>
            <a:r>
              <a:rPr lang="zh-TW" altLang="en-US" dirty="0"/>
              <a:t>伐木工 </a:t>
            </a:r>
            <a:r>
              <a:rPr lang="en-US" altLang="zh-TW" dirty="0"/>
              <a:t>(Lumberjack)</a:t>
            </a:r>
          </a:p>
          <a:p>
            <a:pPr lvl="1"/>
            <a:r>
              <a:rPr lang="en-US" altLang="zh-TW" dirty="0"/>
              <a:t>199. </a:t>
            </a:r>
            <a:r>
              <a:rPr lang="zh-TW" altLang="en-US" dirty="0"/>
              <a:t>酪農 </a:t>
            </a:r>
            <a:r>
              <a:rPr lang="en-US" altLang="zh-TW" dirty="0"/>
              <a:t>(Dairy farmer)</a:t>
            </a:r>
          </a:p>
          <a:p>
            <a:pPr lvl="1"/>
            <a:r>
              <a:rPr lang="en-US" altLang="zh-TW" dirty="0"/>
              <a:t>198. </a:t>
            </a:r>
            <a:r>
              <a:rPr lang="zh-TW" altLang="en-US" dirty="0"/>
              <a:t>計程車司機 </a:t>
            </a:r>
            <a:r>
              <a:rPr lang="en-US" altLang="zh-TW" dirty="0"/>
              <a:t>(Taxi driver)</a:t>
            </a:r>
          </a:p>
          <a:p>
            <a:pPr lvl="1"/>
            <a:r>
              <a:rPr lang="en-US" altLang="zh-TW" dirty="0"/>
              <a:t>197. </a:t>
            </a:r>
            <a:r>
              <a:rPr lang="zh-TW" altLang="en-US" dirty="0"/>
              <a:t>船員 </a:t>
            </a:r>
            <a:r>
              <a:rPr lang="en-US" altLang="zh-TW" dirty="0"/>
              <a:t>(Seaman)</a:t>
            </a:r>
          </a:p>
          <a:p>
            <a:pPr lvl="1"/>
            <a:r>
              <a:rPr lang="en-US" altLang="zh-TW" dirty="0"/>
              <a:t>196. </a:t>
            </a:r>
            <a:r>
              <a:rPr lang="zh-TW" altLang="en-US" dirty="0"/>
              <a:t>屋頂工 </a:t>
            </a:r>
            <a:r>
              <a:rPr lang="en-US" altLang="zh-TW" dirty="0"/>
              <a:t>(Roofer)</a:t>
            </a:r>
          </a:p>
          <a:p>
            <a:pPr lvl="1"/>
            <a:r>
              <a:rPr lang="en-US" altLang="zh-TW" dirty="0"/>
              <a:t>195. </a:t>
            </a:r>
            <a:r>
              <a:rPr lang="zh-TW" altLang="en-US" dirty="0"/>
              <a:t>清潔隊員 </a:t>
            </a:r>
            <a:r>
              <a:rPr lang="en-US" altLang="zh-TW" dirty="0"/>
              <a:t>(Garbage collector)</a:t>
            </a:r>
          </a:p>
          <a:p>
            <a:pPr lvl="1"/>
            <a:r>
              <a:rPr lang="en-US" altLang="zh-TW" dirty="0"/>
              <a:t>194. </a:t>
            </a:r>
            <a:r>
              <a:rPr lang="zh-TW" altLang="en-US" dirty="0"/>
              <a:t>銲工 </a:t>
            </a:r>
            <a:r>
              <a:rPr lang="en-US" altLang="zh-TW" dirty="0"/>
              <a:t>(Welder)</a:t>
            </a:r>
          </a:p>
          <a:p>
            <a:pPr lvl="1"/>
            <a:r>
              <a:rPr lang="en-US" altLang="zh-TW" dirty="0"/>
              <a:t>193. </a:t>
            </a:r>
            <a:r>
              <a:rPr lang="zh-TW" altLang="en-US" dirty="0"/>
              <a:t>碼頭工 </a:t>
            </a:r>
            <a:r>
              <a:rPr lang="en-US" altLang="zh-TW" dirty="0"/>
              <a:t>(Roustabout)</a:t>
            </a:r>
          </a:p>
          <a:p>
            <a:pPr lvl="1"/>
            <a:r>
              <a:rPr lang="en-US" altLang="zh-TW" dirty="0"/>
              <a:t>192. </a:t>
            </a:r>
            <a:r>
              <a:rPr lang="zh-TW" altLang="en-US" dirty="0"/>
              <a:t>鋼架工 </a:t>
            </a:r>
            <a:r>
              <a:rPr lang="en-US" altLang="zh-TW" dirty="0"/>
              <a:t>(Ironworker)</a:t>
            </a:r>
          </a:p>
          <a:p>
            <a:pPr lvl="1"/>
            <a:r>
              <a:rPr lang="en-US" altLang="zh-TW" dirty="0"/>
              <a:t>191. </a:t>
            </a:r>
            <a:r>
              <a:rPr lang="zh-TW" altLang="en-US" dirty="0"/>
              <a:t>建築工 </a:t>
            </a:r>
            <a:r>
              <a:rPr lang="en-US" altLang="zh-TW" dirty="0"/>
              <a:t>(Construction worker)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0416586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552" y="1268760"/>
            <a:ext cx="8136904" cy="3600400"/>
          </a:xfrm>
        </p:spPr>
        <p:txBody>
          <a:bodyPr vert="horz" rtlCol="0">
            <a:normAutofit/>
          </a:bodyPr>
          <a:lstStyle/>
          <a:p>
            <a:pPr marL="0" indent="0" algn="ctr">
              <a:buNone/>
            </a:pPr>
            <a:r>
              <a:rPr lang="zh-CN" altLang="en-US" sz="7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商業數據分析</a:t>
            </a:r>
            <a:endParaRPr lang="en-US" altLang="zh-CN" sz="7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 algn="ctr">
              <a:buNone/>
            </a:pPr>
            <a:r>
              <a:rPr lang="zh-CN" altLang="en-US" sz="7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所使用的關鍵技術</a:t>
            </a:r>
            <a:endParaRPr lang="zh-TW" altLang="en-US" sz="7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7598315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A58D250-C1FB-4A5B-BD1C-2FCA52471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/>
          </a:bodyPr>
          <a:lstStyle/>
          <a:p>
            <a:r>
              <a:rPr lang="zh-TW" altLang="en-US" sz="4000" dirty="0"/>
              <a:t>（</a:t>
            </a:r>
            <a:r>
              <a:rPr lang="en-US" altLang="zh-CN" sz="4000" dirty="0"/>
              <a:t>1</a:t>
            </a:r>
            <a:r>
              <a:rPr lang="zh-TW" altLang="en-US" sz="4000" dirty="0"/>
              <a:t>）</a:t>
            </a:r>
            <a:r>
              <a:rPr lang="en-US" altLang="zh-TW" sz="4000" dirty="0"/>
              <a:t>SQL</a:t>
            </a:r>
            <a:r>
              <a:rPr lang="zh-CN" altLang="en-US" sz="4000" dirty="0"/>
              <a:t>資料庫，</a:t>
            </a:r>
            <a:r>
              <a:rPr lang="en-US" altLang="zh-CN" sz="4000" dirty="0"/>
              <a:t>SQL</a:t>
            </a:r>
            <a:r>
              <a:rPr lang="zh-TW" altLang="en-US" sz="4000" dirty="0"/>
              <a:t>語法</a:t>
            </a:r>
          </a:p>
          <a:p>
            <a:endParaRPr lang="zh-TW" altLang="en-US" sz="4000" dirty="0"/>
          </a:p>
          <a:p>
            <a:r>
              <a:rPr lang="zh-CN" altLang="en-US" sz="4000" dirty="0"/>
              <a:t>（</a:t>
            </a:r>
            <a:r>
              <a:rPr lang="en-US" altLang="zh-CN" sz="4000" dirty="0"/>
              <a:t>2</a:t>
            </a:r>
            <a:r>
              <a:rPr lang="zh-CN" altLang="en-US" sz="4000" dirty="0"/>
              <a:t>）</a:t>
            </a:r>
            <a:r>
              <a:rPr lang="en-US" altLang="zh-TW" sz="4000" dirty="0"/>
              <a:t>python</a:t>
            </a:r>
            <a:r>
              <a:rPr lang="zh-TW" altLang="en-US" sz="4000" dirty="0"/>
              <a:t>程式 </a:t>
            </a:r>
            <a:r>
              <a:rPr lang="en-US" altLang="zh-TW" sz="4000" dirty="0"/>
              <a:t>==》 pandas</a:t>
            </a:r>
            <a:endParaRPr lang="zh-TW" altLang="en-US" sz="4000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B0C77A1-4805-41EE-A19C-53B5F1AA4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sz="4800" b="1" dirty="0"/>
              <a:t>商業數據</a:t>
            </a:r>
            <a:r>
              <a:rPr lang="zh-CN" altLang="en-US" sz="4800" b="1" dirty="0"/>
              <a:t>分析</a:t>
            </a:r>
            <a:r>
              <a:rPr lang="zh-TW" altLang="en-US" sz="4800" b="1" dirty="0"/>
              <a:t>的</a:t>
            </a:r>
            <a:r>
              <a:rPr lang="en-US" altLang="zh-TW" sz="4800" b="1" dirty="0"/>
              <a:t>2</a:t>
            </a:r>
            <a:r>
              <a:rPr lang="zh-TW" altLang="en-US" sz="4800" b="1" dirty="0"/>
              <a:t>種主要技術：</a:t>
            </a:r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B7432972-23F2-4E94-905D-8864FFBC9E17}"/>
              </a:ext>
            </a:extLst>
          </p:cNvPr>
          <p:cNvGrpSpPr/>
          <p:nvPr/>
        </p:nvGrpSpPr>
        <p:grpSpPr>
          <a:xfrm>
            <a:off x="3203848" y="4816751"/>
            <a:ext cx="1080120" cy="882098"/>
            <a:chOff x="3131840" y="4725144"/>
            <a:chExt cx="1080120" cy="882098"/>
          </a:xfrm>
        </p:grpSpPr>
        <p:cxnSp>
          <p:nvCxnSpPr>
            <p:cNvPr id="6" name="直線接點 5">
              <a:extLst>
                <a:ext uri="{FF2B5EF4-FFF2-40B4-BE49-F238E27FC236}">
                  <a16:creationId xmlns:a16="http://schemas.microsoft.com/office/drawing/2014/main" id="{4E238B05-AD52-464A-B04B-3B243A07C632}"/>
                </a:ext>
              </a:extLst>
            </p:cNvPr>
            <p:cNvCxnSpPr/>
            <p:nvPr/>
          </p:nvCxnSpPr>
          <p:spPr>
            <a:xfrm flipH="1">
              <a:off x="3131840" y="4725144"/>
              <a:ext cx="1080120" cy="864096"/>
            </a:xfrm>
            <a:prstGeom prst="line">
              <a:avLst/>
            </a:prstGeom>
            <a:ln w="1746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接點 7">
              <a:extLst>
                <a:ext uri="{FF2B5EF4-FFF2-40B4-BE49-F238E27FC236}">
                  <a16:creationId xmlns:a16="http://schemas.microsoft.com/office/drawing/2014/main" id="{9814D458-E590-451D-8DB1-6B821F23F7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19264" y="4725144"/>
              <a:ext cx="992696" cy="882098"/>
            </a:xfrm>
            <a:prstGeom prst="line">
              <a:avLst/>
            </a:prstGeom>
            <a:ln w="1746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8291052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5536" y="1268760"/>
            <a:ext cx="8568952" cy="3888432"/>
          </a:xfrm>
        </p:spPr>
        <p:txBody>
          <a:bodyPr vert="horz" rtlCol="0">
            <a:normAutofit/>
          </a:bodyPr>
          <a:lstStyle/>
          <a:p>
            <a:pPr marL="0" indent="0" algn="ctr">
              <a:buNone/>
            </a:pPr>
            <a:r>
              <a:rPr lang="zh-CN" altLang="en-US" sz="7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如何學好商業數據分析？</a:t>
            </a:r>
            <a:endParaRPr lang="en-US" altLang="zh-CN" sz="7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 algn="ctr">
              <a:buNone/>
            </a:pPr>
            <a:r>
              <a:rPr lang="en-US" altLang="zh-CN" sz="7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2</a:t>
            </a:r>
            <a:r>
              <a:rPr lang="zh-CN" altLang="en-US" sz="7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種路徑</a:t>
            </a:r>
            <a:endParaRPr lang="en-US" altLang="zh-CN" sz="7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927123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A58D250-C1FB-4A5B-BD1C-2FCA52471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 fontScale="77500" lnSpcReduction="20000"/>
          </a:bodyPr>
          <a:lstStyle/>
          <a:p>
            <a:r>
              <a:rPr lang="zh-TW" altLang="en-US" sz="4000" b="1" dirty="0"/>
              <a:t>（</a:t>
            </a:r>
            <a:r>
              <a:rPr lang="en-US" altLang="zh-CN" sz="4000" b="1" dirty="0"/>
              <a:t>1</a:t>
            </a:r>
            <a:r>
              <a:rPr lang="zh-TW" altLang="en-US" sz="4000" b="1" dirty="0"/>
              <a:t>）</a:t>
            </a:r>
            <a:r>
              <a:rPr lang="zh-TW" altLang="en-US" sz="4000" b="1" dirty="0">
                <a:solidFill>
                  <a:srgbClr val="C00000"/>
                </a:solidFill>
              </a:rPr>
              <a:t>資訊科系</a:t>
            </a:r>
            <a:r>
              <a:rPr lang="zh-TW" altLang="en-US" sz="4000" b="1" dirty="0"/>
              <a:t>的方式：</a:t>
            </a:r>
            <a:endParaRPr lang="en-US" altLang="zh-TW" sz="4000" b="1" dirty="0"/>
          </a:p>
          <a:p>
            <a:pPr lvl="1"/>
            <a:r>
              <a:rPr lang="zh-TW" altLang="en-US" sz="3600" b="1" dirty="0"/>
              <a:t>學很多技術</a:t>
            </a:r>
            <a:r>
              <a:rPr lang="zh-CN" altLang="en-US" sz="3600" b="1" dirty="0"/>
              <a:t>模組</a:t>
            </a:r>
            <a:r>
              <a:rPr lang="zh-TW" altLang="en-US" sz="3600" b="1" dirty="0"/>
              <a:t>，</a:t>
            </a:r>
            <a:endParaRPr lang="en-US" altLang="zh-TW" sz="3600" b="1" dirty="0"/>
          </a:p>
          <a:p>
            <a:pPr lvl="1"/>
            <a:r>
              <a:rPr lang="zh-TW" altLang="en-US" sz="3600" b="1" dirty="0"/>
              <a:t>程式碼多，</a:t>
            </a:r>
            <a:endParaRPr lang="en-US" altLang="zh-TW" sz="3600" b="1" dirty="0"/>
          </a:p>
          <a:p>
            <a:pPr lvl="1"/>
            <a:r>
              <a:rPr lang="zh-TW" altLang="en-US" sz="3600" b="1" dirty="0"/>
              <a:t>學的多，</a:t>
            </a:r>
            <a:r>
              <a:rPr lang="zh-CN" altLang="en-US" sz="3600" b="1" dirty="0"/>
              <a:t>學的雜，</a:t>
            </a:r>
            <a:r>
              <a:rPr lang="zh-TW" altLang="en-US" sz="3600" b="1" dirty="0"/>
              <a:t>不專</a:t>
            </a:r>
            <a:r>
              <a:rPr lang="zh-CN" altLang="en-US" sz="3600" b="1" dirty="0"/>
              <a:t>一</a:t>
            </a:r>
            <a:endParaRPr lang="en-US" altLang="zh-CN" sz="3600" b="1" dirty="0"/>
          </a:p>
          <a:p>
            <a:endParaRPr lang="zh-TW" altLang="en-US" sz="4000" dirty="0"/>
          </a:p>
          <a:p>
            <a:r>
              <a:rPr lang="zh-TW" altLang="en-US" sz="4000" b="1" dirty="0"/>
              <a:t>（</a:t>
            </a:r>
            <a:r>
              <a:rPr lang="en-US" altLang="zh-CN" sz="4000" b="1" dirty="0"/>
              <a:t>2</a:t>
            </a:r>
            <a:r>
              <a:rPr lang="zh-TW" altLang="en-US" sz="4000" b="1" dirty="0"/>
              <a:t>）</a:t>
            </a:r>
            <a:r>
              <a:rPr lang="zh-TW" altLang="en-US" sz="4000" b="1" dirty="0">
                <a:solidFill>
                  <a:srgbClr val="C00000"/>
                </a:solidFill>
              </a:rPr>
              <a:t>精簡方式</a:t>
            </a:r>
            <a:r>
              <a:rPr lang="zh-TW" altLang="en-US" sz="4000" b="1" dirty="0"/>
              <a:t>：</a:t>
            </a:r>
            <a:endParaRPr lang="en-US" altLang="zh-TW" sz="4000" b="1" dirty="0"/>
          </a:p>
          <a:p>
            <a:pPr lvl="1"/>
            <a:r>
              <a:rPr lang="zh-TW" altLang="en-US" sz="3600" b="1" dirty="0">
                <a:solidFill>
                  <a:srgbClr val="7030A0"/>
                </a:solidFill>
              </a:rPr>
              <a:t>專精</a:t>
            </a:r>
            <a:r>
              <a:rPr lang="en-US" altLang="zh-TW" sz="3600" b="1" dirty="0">
                <a:solidFill>
                  <a:srgbClr val="7030A0"/>
                </a:solidFill>
              </a:rPr>
              <a:t>pandas</a:t>
            </a:r>
            <a:r>
              <a:rPr lang="zh-CN" altLang="en-US" sz="3600" b="1" dirty="0">
                <a:solidFill>
                  <a:srgbClr val="7030A0"/>
                </a:solidFill>
              </a:rPr>
              <a:t>模組</a:t>
            </a:r>
            <a:endParaRPr lang="en-US" altLang="zh-TW" sz="3600" b="1" dirty="0">
              <a:solidFill>
                <a:srgbClr val="7030A0"/>
              </a:solidFill>
            </a:endParaRPr>
          </a:p>
          <a:p>
            <a:pPr lvl="1"/>
            <a:r>
              <a:rPr lang="zh-CN" altLang="en-US" sz="3600" b="1" dirty="0"/>
              <a:t>特點：</a:t>
            </a:r>
            <a:r>
              <a:rPr lang="en-US" altLang="zh-CN" sz="3600" b="1" dirty="0"/>
              <a:t>1</a:t>
            </a:r>
            <a:r>
              <a:rPr lang="zh-CN" altLang="en-US" sz="3600" b="1" dirty="0"/>
              <a:t>～</a:t>
            </a:r>
            <a:r>
              <a:rPr lang="en-US" altLang="zh-CN" sz="3600" b="1" dirty="0"/>
              <a:t>2</a:t>
            </a:r>
            <a:r>
              <a:rPr lang="zh-TW" altLang="en-US" sz="3600" b="1" dirty="0"/>
              <a:t>行程式就分析完</a:t>
            </a:r>
            <a:r>
              <a:rPr lang="zh-CN" altLang="en-US" sz="3600" b="1" dirty="0"/>
              <a:t>（很像</a:t>
            </a:r>
            <a:r>
              <a:rPr lang="en-US" altLang="zh-CN" sz="3600" b="1" dirty="0"/>
              <a:t>SQL</a:t>
            </a:r>
            <a:r>
              <a:rPr lang="zh-CN" altLang="en-US" sz="3600" b="1" dirty="0"/>
              <a:t>語法）</a:t>
            </a:r>
            <a:endParaRPr lang="en-US" altLang="zh-TW" sz="3600" b="1" dirty="0"/>
          </a:p>
          <a:p>
            <a:pPr lvl="1"/>
            <a:r>
              <a:rPr lang="zh-TW" altLang="en-US" sz="3600" b="1" dirty="0"/>
              <a:t>程式碼少，</a:t>
            </a:r>
            <a:r>
              <a:rPr lang="zh-CN" altLang="en-US" sz="3600" b="1" dirty="0"/>
              <a:t>可以處理任何數據的分析</a:t>
            </a:r>
            <a:endParaRPr lang="en-US" altLang="zh-TW" sz="3600" b="1" dirty="0"/>
          </a:p>
          <a:p>
            <a:pPr lvl="1"/>
            <a:r>
              <a:rPr lang="zh-TW" altLang="en-US" sz="3600" b="1" dirty="0"/>
              <a:t>適合</a:t>
            </a:r>
            <a:r>
              <a:rPr lang="en-US" altLang="zh-CN" sz="3600" b="1" dirty="0"/>
              <a:t>『</a:t>
            </a:r>
            <a:r>
              <a:rPr lang="zh-TW" altLang="en-US" sz="3600" b="1" dirty="0"/>
              <a:t>非資訊科系</a:t>
            </a:r>
            <a:r>
              <a:rPr lang="en-US" altLang="zh-CN" sz="3600" b="1" dirty="0"/>
              <a:t>』</a:t>
            </a:r>
            <a:endParaRPr lang="zh-TW" altLang="en-US" sz="3600" b="1" dirty="0"/>
          </a:p>
          <a:p>
            <a:pPr lvl="1"/>
            <a:endParaRPr lang="en-US" altLang="zh-TW" sz="3600" b="1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B0C77A1-4805-41EE-A19C-53B5F1AA4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學習</a:t>
            </a:r>
            <a:r>
              <a:rPr lang="en-US" altLang="zh-CN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python</a:t>
            </a:r>
            <a:r>
              <a:rPr lang="zh-CN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分析數據</a:t>
            </a: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種方式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A9BC391-F77E-4D70-8A67-5C6252F66503}"/>
              </a:ext>
            </a:extLst>
          </p:cNvPr>
          <p:cNvSpPr/>
          <p:nvPr/>
        </p:nvSpPr>
        <p:spPr>
          <a:xfrm>
            <a:off x="23486" y="3455568"/>
            <a:ext cx="898975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6600" b="1" dirty="0">
                <a:solidFill>
                  <a:srgbClr val="FF0000"/>
                </a:solidFill>
                <a:latin typeface="arial" panose="020B0604020202020204" pitchFamily="34" charset="0"/>
              </a:rPr>
              <a:t>✓</a:t>
            </a:r>
            <a:endParaRPr lang="zh-TW" altLang="en-US" sz="6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653939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5536" y="1628800"/>
            <a:ext cx="8496944" cy="2952328"/>
          </a:xfrm>
        </p:spPr>
        <p:txBody>
          <a:bodyPr>
            <a:normAutofit/>
          </a:bodyPr>
          <a:lstStyle/>
          <a:p>
            <a:pPr algn="ctr"/>
            <a:r>
              <a:rPr lang="zh-CN" altLang="en-US" sz="6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資料分析</a:t>
            </a:r>
            <a:endParaRPr lang="en-US" altLang="zh-CN" sz="6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zh-CN" altLang="en-US" sz="6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到底是要分析什麼？</a:t>
            </a:r>
            <a:endParaRPr lang="zh-TW" altLang="en-US" sz="6000" dirty="0"/>
          </a:p>
        </p:txBody>
      </p:sp>
    </p:spTree>
    <p:extLst>
      <p:ext uri="{BB962C8B-B14F-4D97-AF65-F5344CB8AC3E}">
        <p14:creationId xmlns:p14="http://schemas.microsoft.com/office/powerpoint/2010/main" val="113922161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2701482"/>
            <a:ext cx="8867328" cy="4156517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sz="3600" b="1" dirty="0">
                <a:effectLst/>
              </a:rPr>
              <a:t>課程練習範例：</a:t>
            </a:r>
            <a:r>
              <a:rPr lang="en-US" altLang="zh-CN" sz="3600" b="1" dirty="0">
                <a:effectLst/>
              </a:rPr>
              <a:t>400</a:t>
            </a:r>
            <a:r>
              <a:rPr lang="zh-CN" altLang="en-US" sz="3600" b="1" dirty="0">
                <a:effectLst/>
              </a:rPr>
              <a:t>題</a:t>
            </a:r>
            <a:endParaRPr lang="en-US" altLang="zh-CN" sz="3600" b="1" dirty="0">
              <a:effectLst/>
            </a:endParaRPr>
          </a:p>
          <a:p>
            <a:r>
              <a:rPr lang="zh-CN" altLang="en-US" sz="3600" b="1" dirty="0">
                <a:effectLst/>
              </a:rPr>
              <a:t>課程產出：</a:t>
            </a:r>
            <a:endParaRPr lang="en-US" altLang="zh-CN" sz="3600" b="1" dirty="0">
              <a:effectLst/>
            </a:endParaRPr>
          </a:p>
          <a:p>
            <a:pPr lvl="1"/>
            <a:r>
              <a:rPr lang="en-US" altLang="zh-CN" sz="3200" b="1" dirty="0">
                <a:effectLst/>
              </a:rPr>
              <a:t>2</a:t>
            </a:r>
            <a:r>
              <a:rPr lang="zh-CN" altLang="en-US" sz="3200" b="1" dirty="0">
                <a:effectLst/>
              </a:rPr>
              <a:t>個</a:t>
            </a:r>
            <a:r>
              <a:rPr lang="en-US" altLang="zh-CN" sz="3200" b="1" dirty="0">
                <a:effectLst/>
              </a:rPr>
              <a:t>side project</a:t>
            </a:r>
            <a:r>
              <a:rPr lang="zh-CN" altLang="en-US" sz="3200" b="1" dirty="0">
                <a:effectLst/>
              </a:rPr>
              <a:t>，可以當作作品集，放到履歷，證明自己的能力</a:t>
            </a:r>
            <a:endParaRPr lang="en-US" altLang="zh-CN" sz="3200" b="1" dirty="0">
              <a:effectLst/>
            </a:endParaRPr>
          </a:p>
          <a:p>
            <a:r>
              <a:rPr lang="en-US" altLang="zh-CN" sz="3200" b="1" dirty="0">
                <a:effectLst/>
              </a:rPr>
              <a:t>Side project 1:</a:t>
            </a:r>
          </a:p>
          <a:p>
            <a:pPr lvl="1"/>
            <a:r>
              <a:rPr lang="en-US" altLang="zh-CN" sz="2000" dirty="0">
                <a:solidFill>
                  <a:srgbClr val="7030A0"/>
                </a:solidFill>
                <a:effectLst/>
              </a:rPr>
              <a:t>https://colab.research.google.com/drive/1P2xPp88pMrEBoqZK8EMLyW-62t1WeQTp?usp=sharing</a:t>
            </a:r>
            <a:endParaRPr lang="en-US" altLang="zh-TW" sz="2000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  <a:p>
            <a:r>
              <a:rPr lang="en-US" altLang="zh-CN" sz="3200" b="1" dirty="0">
                <a:effectLst/>
              </a:rPr>
              <a:t>Side project 2:</a:t>
            </a:r>
          </a:p>
          <a:p>
            <a:pPr lvl="1"/>
            <a:r>
              <a:rPr lang="en-US" altLang="zh-TW" sz="2200" dirty="0">
                <a:solidFill>
                  <a:srgbClr val="7030A0"/>
                </a:solidFill>
                <a:effectLst/>
              </a:rPr>
              <a:t>https://colab.research.google.com/drive/1UA-ztAg9e0AMOik3n6jDsW-9D-9Ff8qC?usp=sharing</a:t>
            </a:r>
            <a:endParaRPr lang="en-US" altLang="zh-TW" sz="2200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zh-CN" altLang="en-US" sz="5400" b="1" dirty="0">
                <a:latin typeface="+mn-lt"/>
                <a:ea typeface="+mn-ea"/>
                <a:cs typeface="+mn-cs"/>
              </a:rPr>
              <a:t>基礎資料分析</a:t>
            </a:r>
            <a:br>
              <a:rPr lang="en-US" altLang="zh-CN" sz="5400" b="1" dirty="0">
                <a:latin typeface="+mn-lt"/>
                <a:ea typeface="+mn-ea"/>
                <a:cs typeface="+mn-cs"/>
              </a:rPr>
            </a:br>
            <a:r>
              <a:rPr lang="zh-CN" altLang="en-US" sz="5400" b="1" dirty="0">
                <a:latin typeface="+mn-lt"/>
                <a:ea typeface="+mn-ea"/>
                <a:cs typeface="+mn-cs"/>
              </a:rPr>
              <a:t>課程的產出</a:t>
            </a:r>
            <a:endParaRPr lang="zh-TW" altLang="en-US" sz="5400" b="1" dirty="0">
              <a:latin typeface="+mn-lt"/>
              <a:ea typeface="+mn-ea"/>
              <a:cs typeface="+mn-cs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5D39EAA-769A-4284-ACC2-30CE7E41EEC7}"/>
              </a:ext>
            </a:extLst>
          </p:cNvPr>
          <p:cNvGraphicFramePr>
            <a:graphicFrameLocks noGrp="1"/>
          </p:cNvGraphicFramePr>
          <p:nvPr/>
        </p:nvGraphicFramePr>
        <p:xfrm>
          <a:off x="138336" y="1556792"/>
          <a:ext cx="9130644" cy="10055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8147">
                  <a:extLst>
                    <a:ext uri="{9D8B030D-6E8A-4147-A177-3AD203B41FA5}">
                      <a16:colId xmlns:a16="http://schemas.microsoft.com/office/drawing/2014/main" val="1814107564"/>
                    </a:ext>
                  </a:extLst>
                </a:gridCol>
                <a:gridCol w="4278949">
                  <a:extLst>
                    <a:ext uri="{9D8B030D-6E8A-4147-A177-3AD203B41FA5}">
                      <a16:colId xmlns:a16="http://schemas.microsoft.com/office/drawing/2014/main" val="217625730"/>
                    </a:ext>
                  </a:extLst>
                </a:gridCol>
                <a:gridCol w="3043548">
                  <a:extLst>
                    <a:ext uri="{9D8B030D-6E8A-4147-A177-3AD203B41FA5}">
                      <a16:colId xmlns:a16="http://schemas.microsoft.com/office/drawing/2014/main" val="3098561611"/>
                    </a:ext>
                  </a:extLst>
                </a:gridCol>
              </a:tblGrid>
              <a:tr h="100553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二下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人工智慧跨域</a:t>
                      </a:r>
                      <a:endParaRPr lang="en-US" altLang="zh-CN" sz="2800" b="1" kern="1200" dirty="0">
                        <a:solidFill>
                          <a:srgbClr val="7030A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algn="ctr"/>
                      <a:r>
                        <a:rPr lang="en-US" altLang="zh-CN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『</a:t>
                      </a:r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經營管理</a:t>
                      </a:r>
                      <a:r>
                        <a:rPr lang="en-US" altLang="zh-CN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』</a:t>
                      </a:r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之應用</a:t>
                      </a:r>
                      <a:endParaRPr lang="zh-TW" altLang="en-US" sz="2800" b="1" kern="1200" dirty="0">
                        <a:solidFill>
                          <a:srgbClr val="7030A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原：</a:t>
                      </a:r>
                      <a:r>
                        <a:rPr lang="en-US" altLang="zh-CN" sz="28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pandas</a:t>
                      </a:r>
                      <a:endParaRPr lang="zh-TW" altLang="en-US" sz="28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大數據分析</a:t>
                      </a:r>
                      <a:endParaRPr lang="zh-TW" altLang="en-US" sz="28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4377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637427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5536" y="1340768"/>
            <a:ext cx="8496944" cy="4248472"/>
          </a:xfrm>
        </p:spPr>
        <p:txBody>
          <a:bodyPr>
            <a:normAutofit/>
          </a:bodyPr>
          <a:lstStyle/>
          <a:p>
            <a:pPr algn="ctr"/>
            <a:r>
              <a:rPr lang="zh-CN" altLang="en-US" sz="6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上面是</a:t>
            </a:r>
            <a:r>
              <a:rPr lang="en-US" altLang="zh-CN" sz="6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『</a:t>
            </a:r>
            <a:r>
              <a:rPr lang="zh-CN" altLang="en-US" sz="6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基礎</a:t>
            </a:r>
            <a:r>
              <a:rPr lang="en-US" altLang="zh-CN" sz="6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』</a:t>
            </a:r>
            <a:r>
              <a:rPr lang="zh-CN" altLang="en-US" sz="6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資料分析的</a:t>
            </a:r>
            <a:r>
              <a:rPr lang="en-US" altLang="zh-CN" sz="6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2</a:t>
            </a:r>
            <a:r>
              <a:rPr lang="zh-CN" altLang="en-US" sz="6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個範例</a:t>
            </a:r>
            <a:endParaRPr lang="en-US" altLang="zh-CN" sz="6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zh-CN" altLang="en-US" sz="6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下面是</a:t>
            </a:r>
            <a:r>
              <a:rPr lang="en-US" altLang="zh-CN" sz="6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『</a:t>
            </a:r>
            <a:r>
              <a:rPr lang="zh-CN" altLang="en-US" sz="6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進階</a:t>
            </a:r>
            <a:r>
              <a:rPr lang="en-US" altLang="zh-CN" sz="6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』</a:t>
            </a:r>
            <a:r>
              <a:rPr lang="zh-CN" altLang="en-US" sz="6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資料分析的範例</a:t>
            </a:r>
            <a:endParaRPr lang="zh-TW" altLang="en-US" sz="6000" dirty="0"/>
          </a:p>
        </p:txBody>
      </p:sp>
    </p:spTree>
    <p:extLst>
      <p:ext uri="{BB962C8B-B14F-4D97-AF65-F5344CB8AC3E}">
        <p14:creationId xmlns:p14="http://schemas.microsoft.com/office/powerpoint/2010/main" val="255616979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2701482"/>
            <a:ext cx="8867328" cy="4156517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effectLst/>
              </a:rPr>
              <a:t>範例</a:t>
            </a:r>
            <a:r>
              <a:rPr lang="en-US" altLang="zh-CN" sz="3600" b="1" dirty="0">
                <a:effectLst/>
              </a:rPr>
              <a:t>1</a:t>
            </a:r>
            <a:r>
              <a:rPr lang="zh-CN" altLang="en-US" sz="3600" b="1" dirty="0">
                <a:effectLst/>
              </a:rPr>
              <a:t>：</a:t>
            </a:r>
            <a:r>
              <a:rPr lang="zh-CN" altLang="en-US" sz="3600" b="1" dirty="0">
                <a:solidFill>
                  <a:srgbClr val="7030A0"/>
                </a:solidFill>
                <a:effectLst/>
              </a:rPr>
              <a:t>客戶流失率預測分析</a:t>
            </a:r>
            <a:endParaRPr lang="en-US" altLang="zh-CN" sz="3600" b="1" dirty="0">
              <a:solidFill>
                <a:srgbClr val="7030A0"/>
              </a:solidFill>
              <a:effectLst/>
            </a:endParaRPr>
          </a:p>
          <a:p>
            <a:pPr lvl="1"/>
            <a:r>
              <a:rPr lang="zh-CN" altLang="en-US" sz="3200" b="1" dirty="0">
                <a:effectLst/>
              </a:rPr>
              <a:t>讀取業主：</a:t>
            </a:r>
            <a:r>
              <a:rPr lang="en-US" altLang="zh-CN" sz="3200" b="1" dirty="0">
                <a:effectLst/>
              </a:rPr>
              <a:t>IBM</a:t>
            </a:r>
            <a:r>
              <a:rPr lang="zh-CN" altLang="en-US" sz="3200" b="1" dirty="0">
                <a:effectLst/>
              </a:rPr>
              <a:t>電信公司的客戶資料表</a:t>
            </a:r>
            <a:endParaRPr lang="en-US" altLang="zh-CN" sz="3200" b="1" dirty="0">
              <a:effectLst/>
            </a:endParaRPr>
          </a:p>
          <a:p>
            <a:pPr lvl="1"/>
            <a:r>
              <a:rPr lang="en-US" altLang="zh-TW" dirty="0">
                <a:effectLst/>
                <a:hlinkClick r:id="rId2"/>
              </a:rPr>
              <a:t>https://acupun.site/lecture/predict/example/resource/IBM_Churn_chi_2.csv</a:t>
            </a:r>
            <a:endParaRPr lang="en-US" altLang="zh-TW" dirty="0">
              <a:effectLst/>
            </a:endParaRPr>
          </a:p>
          <a:p>
            <a:pPr lvl="1"/>
            <a:r>
              <a:rPr lang="zh-TW" altLang="en-US" b="1" dirty="0">
                <a:effectLst/>
              </a:rPr>
              <a:t>請做預測，</a:t>
            </a:r>
            <a:r>
              <a:rPr lang="en-US" altLang="zh-TW" b="1" dirty="0">
                <a:effectLst/>
              </a:rPr>
              <a:t>IBM</a:t>
            </a:r>
            <a:r>
              <a:rPr lang="zh-TW" altLang="en-US" b="1" dirty="0">
                <a:effectLst/>
              </a:rPr>
              <a:t>電信公司，當</a:t>
            </a:r>
            <a:r>
              <a:rPr lang="en-US" altLang="zh-TW" b="1" dirty="0">
                <a:effectLst/>
              </a:rPr>
              <a:t>A</a:t>
            </a:r>
            <a:r>
              <a:rPr lang="zh-TW" altLang="en-US" b="1" dirty="0">
                <a:effectLst/>
              </a:rPr>
              <a:t>客戶的</a:t>
            </a:r>
            <a:r>
              <a:rPr lang="en-US" altLang="zh-TW" b="1" dirty="0">
                <a:effectLst/>
              </a:rPr>
              <a:t>20</a:t>
            </a:r>
            <a:r>
              <a:rPr lang="zh-TW" altLang="en-US" b="1" dirty="0">
                <a:effectLst/>
              </a:rPr>
              <a:t>個特徵值是：</a:t>
            </a:r>
            <a:r>
              <a:rPr lang="en-US" altLang="zh-TW" b="1" dirty="0">
                <a:effectLst/>
              </a:rPr>
              <a:t>【</a:t>
            </a:r>
            <a:r>
              <a:rPr lang="zh-TW" altLang="en-US" b="1" dirty="0">
                <a:effectLst/>
              </a:rPr>
              <a:t>性別，是否為老人，是否有夥伴，是否依靠別人付費，已經使用幾個月</a:t>
            </a:r>
            <a:r>
              <a:rPr lang="en-US" altLang="zh-TW" b="1" dirty="0">
                <a:effectLst/>
              </a:rPr>
              <a:t>.....】=【 Female</a:t>
            </a:r>
            <a:r>
              <a:rPr lang="zh-TW" altLang="en-US" b="1" dirty="0">
                <a:effectLst/>
              </a:rPr>
              <a:t>，</a:t>
            </a:r>
            <a:r>
              <a:rPr lang="en-US" altLang="zh-TW" b="1" dirty="0">
                <a:effectLst/>
              </a:rPr>
              <a:t>0</a:t>
            </a:r>
            <a:r>
              <a:rPr lang="zh-TW" altLang="en-US" b="1" dirty="0">
                <a:effectLst/>
              </a:rPr>
              <a:t>，</a:t>
            </a:r>
            <a:r>
              <a:rPr lang="en-US" altLang="zh-TW" b="1" dirty="0">
                <a:effectLst/>
              </a:rPr>
              <a:t>Yes</a:t>
            </a:r>
            <a:r>
              <a:rPr lang="zh-TW" altLang="en-US" b="1" dirty="0">
                <a:effectLst/>
              </a:rPr>
              <a:t>，</a:t>
            </a:r>
            <a:r>
              <a:rPr lang="en-US" altLang="zh-TW" b="1" dirty="0">
                <a:effectLst/>
              </a:rPr>
              <a:t>No</a:t>
            </a:r>
            <a:r>
              <a:rPr lang="zh-TW" altLang="en-US" b="1" dirty="0">
                <a:effectLst/>
              </a:rPr>
              <a:t>，</a:t>
            </a:r>
            <a:r>
              <a:rPr lang="en-US" altLang="zh-TW" b="1" dirty="0">
                <a:effectLst/>
              </a:rPr>
              <a:t>1</a:t>
            </a:r>
            <a:r>
              <a:rPr lang="zh-TW" altLang="en-US" b="1" dirty="0">
                <a:effectLst/>
              </a:rPr>
              <a:t>， </a:t>
            </a:r>
            <a:r>
              <a:rPr lang="en-US" altLang="zh-TW" b="1" dirty="0">
                <a:effectLst/>
              </a:rPr>
              <a:t>No.....】</a:t>
            </a:r>
            <a:r>
              <a:rPr lang="zh-TW" altLang="en-US" b="1" dirty="0">
                <a:effectLst/>
              </a:rPr>
              <a:t>，</a:t>
            </a:r>
            <a:endParaRPr lang="en-US" altLang="zh-TW" b="1" dirty="0">
              <a:effectLst/>
            </a:endParaRPr>
          </a:p>
          <a:p>
            <a:pPr lvl="1"/>
            <a:r>
              <a:rPr lang="zh-TW" altLang="en-US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請問</a:t>
            </a:r>
            <a:r>
              <a:rPr lang="en-US" altLang="zh-TW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A</a:t>
            </a:r>
            <a:r>
              <a:rPr lang="zh-TW" altLang="en-US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客戶是否會流失？</a:t>
            </a:r>
          </a:p>
          <a:p>
            <a:pPr lvl="1"/>
            <a:endParaRPr lang="en-US" altLang="zh-CN" sz="3200" b="1" dirty="0">
              <a:effectLst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zh-CN" altLang="en-US" sz="5400" b="1" dirty="0">
                <a:latin typeface="+mn-lt"/>
                <a:ea typeface="+mn-ea"/>
                <a:cs typeface="+mn-cs"/>
              </a:rPr>
              <a:t>進階資料分析</a:t>
            </a:r>
            <a:br>
              <a:rPr lang="en-US" altLang="zh-CN" sz="5400" b="1" dirty="0">
                <a:latin typeface="+mn-lt"/>
                <a:ea typeface="+mn-ea"/>
                <a:cs typeface="+mn-cs"/>
              </a:rPr>
            </a:br>
            <a:r>
              <a:rPr lang="zh-CN" altLang="en-US" sz="5400" b="1" dirty="0">
                <a:latin typeface="+mn-lt"/>
                <a:ea typeface="+mn-ea"/>
                <a:cs typeface="+mn-cs"/>
              </a:rPr>
              <a:t>課程的產出</a:t>
            </a:r>
            <a:endParaRPr lang="zh-TW" altLang="en-US" sz="5400" b="1" dirty="0">
              <a:latin typeface="+mn-lt"/>
              <a:ea typeface="+mn-ea"/>
              <a:cs typeface="+mn-cs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7CC2817-5164-41CE-97DC-3A7BF7A0BEBA}"/>
              </a:ext>
            </a:extLst>
          </p:cNvPr>
          <p:cNvGraphicFramePr>
            <a:graphicFrameLocks noGrp="1"/>
          </p:cNvGraphicFramePr>
          <p:nvPr/>
        </p:nvGraphicFramePr>
        <p:xfrm>
          <a:off x="0" y="1422222"/>
          <a:ext cx="9130644" cy="10055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8147">
                  <a:extLst>
                    <a:ext uri="{9D8B030D-6E8A-4147-A177-3AD203B41FA5}">
                      <a16:colId xmlns:a16="http://schemas.microsoft.com/office/drawing/2014/main" val="4099667512"/>
                    </a:ext>
                  </a:extLst>
                </a:gridCol>
                <a:gridCol w="4278949">
                  <a:extLst>
                    <a:ext uri="{9D8B030D-6E8A-4147-A177-3AD203B41FA5}">
                      <a16:colId xmlns:a16="http://schemas.microsoft.com/office/drawing/2014/main" val="351453049"/>
                    </a:ext>
                  </a:extLst>
                </a:gridCol>
                <a:gridCol w="3043548">
                  <a:extLst>
                    <a:ext uri="{9D8B030D-6E8A-4147-A177-3AD203B41FA5}">
                      <a16:colId xmlns:a16="http://schemas.microsoft.com/office/drawing/2014/main" val="256073419"/>
                    </a:ext>
                  </a:extLst>
                </a:gridCol>
              </a:tblGrid>
              <a:tr h="100553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三上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人工智慧跨域</a:t>
                      </a:r>
                      <a:endParaRPr lang="en-US" altLang="zh-CN" sz="2800" b="1" kern="1200" dirty="0">
                        <a:solidFill>
                          <a:srgbClr val="7030A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algn="ctr"/>
                      <a:r>
                        <a:rPr lang="en-US" altLang="zh-CN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『</a:t>
                      </a:r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商情預測</a:t>
                      </a:r>
                      <a:r>
                        <a:rPr lang="en-US" altLang="zh-CN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』</a:t>
                      </a:r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之應用</a:t>
                      </a:r>
                      <a:endParaRPr lang="zh-TW" altLang="en-US" sz="2800" b="1" kern="1200" dirty="0">
                        <a:solidFill>
                          <a:srgbClr val="7030A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機器學習，</a:t>
                      </a:r>
                      <a:endParaRPr lang="en-US" altLang="zh-TW" sz="28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algn="ctr"/>
                      <a:r>
                        <a:rPr lang="zh-TW" altLang="en-US" sz="28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深度學習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6385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76081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1700808"/>
            <a:ext cx="8867328" cy="5157191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effectLst/>
              </a:rPr>
              <a:t>範例</a:t>
            </a:r>
            <a:r>
              <a:rPr lang="en-US" altLang="zh-CN" sz="3600" b="1" dirty="0">
                <a:effectLst/>
              </a:rPr>
              <a:t>1</a:t>
            </a:r>
            <a:r>
              <a:rPr lang="zh-CN" altLang="en-US" sz="3600" b="1" dirty="0">
                <a:effectLst/>
              </a:rPr>
              <a:t>：</a:t>
            </a:r>
            <a:r>
              <a:rPr lang="zh-CN" altLang="en-US" sz="3600" b="1" dirty="0">
                <a:solidFill>
                  <a:srgbClr val="7030A0"/>
                </a:solidFill>
                <a:effectLst/>
              </a:rPr>
              <a:t>客戶流失率預測分析</a:t>
            </a:r>
            <a:endParaRPr lang="en-US" altLang="zh-CN" sz="3600" b="1" dirty="0">
              <a:effectLst/>
            </a:endParaRPr>
          </a:p>
          <a:p>
            <a:pPr lvl="1"/>
            <a:r>
              <a:rPr lang="zh-TW" altLang="en-US" sz="3200" b="1" dirty="0">
                <a:effectLst/>
              </a:rPr>
              <a:t>根據哈佛商業評論：</a:t>
            </a:r>
            <a:r>
              <a:rPr lang="en-US" altLang="zh-TW" sz="3200" b="1" dirty="0">
                <a:effectLst/>
              </a:rPr>
              <a:t>『The Value of Keeping the Right Customers』</a:t>
            </a:r>
            <a:r>
              <a:rPr lang="zh-TW" altLang="en-US" sz="3200" b="1" dirty="0">
                <a:effectLst/>
              </a:rPr>
              <a:t>中所提到：「</a:t>
            </a:r>
            <a:r>
              <a:rPr lang="zh-TW" altLang="en-US" sz="3200" b="1" dirty="0">
                <a:effectLst/>
                <a:highlight>
                  <a:srgbClr val="FFFF00"/>
                </a:highlight>
              </a:rPr>
              <a:t>開發一個新顧客的成本是留住一個顧客的</a:t>
            </a:r>
            <a:r>
              <a:rPr lang="en-US" altLang="zh-TW" sz="3200" b="1" dirty="0">
                <a:effectLst/>
                <a:highlight>
                  <a:srgbClr val="FFFF00"/>
                </a:highlight>
              </a:rPr>
              <a:t>25</a:t>
            </a:r>
            <a:r>
              <a:rPr lang="zh-TW" altLang="en-US" sz="3200" b="1" dirty="0">
                <a:effectLst/>
                <a:highlight>
                  <a:srgbClr val="FFFF00"/>
                </a:highlight>
              </a:rPr>
              <a:t>倍</a:t>
            </a:r>
            <a:r>
              <a:rPr lang="zh-TW" altLang="en-US" sz="3200" b="1" dirty="0">
                <a:effectLst/>
              </a:rPr>
              <a:t>，而當顧客保留率上升</a:t>
            </a:r>
            <a:r>
              <a:rPr lang="en-US" altLang="zh-TW" sz="3200" b="1" dirty="0">
                <a:effectLst/>
              </a:rPr>
              <a:t>5%</a:t>
            </a:r>
            <a:r>
              <a:rPr lang="zh-TW" altLang="en-US" sz="3200" b="1" dirty="0">
                <a:effectLst/>
              </a:rPr>
              <a:t>，就可以提升</a:t>
            </a:r>
            <a:r>
              <a:rPr lang="en-US" altLang="zh-TW" sz="3200" b="1" dirty="0">
                <a:effectLst/>
              </a:rPr>
              <a:t>25%-95%</a:t>
            </a:r>
            <a:r>
              <a:rPr lang="zh-TW" altLang="en-US" sz="3200" b="1" dirty="0">
                <a:effectLst/>
              </a:rPr>
              <a:t>的利潤。」</a:t>
            </a:r>
          </a:p>
          <a:p>
            <a:pPr lvl="1"/>
            <a:r>
              <a:rPr lang="zh-TW" altLang="en-US" sz="3200" b="1" dirty="0">
                <a:effectLst/>
              </a:rPr>
              <a:t>☎所以</a:t>
            </a:r>
            <a:r>
              <a:rPr lang="en-US" altLang="zh-TW" sz="32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『</a:t>
            </a:r>
            <a:r>
              <a:rPr lang="zh-TW" altLang="en-US" sz="32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留住客戶</a:t>
            </a:r>
            <a:r>
              <a:rPr lang="en-US" altLang="zh-TW" sz="32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』</a:t>
            </a:r>
            <a:r>
              <a:rPr lang="zh-TW" altLang="en-US" sz="32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是提高利潤的關鍵</a:t>
            </a:r>
          </a:p>
          <a:p>
            <a:pPr lvl="1"/>
            <a:r>
              <a:rPr lang="zh-TW" altLang="en-US" sz="3200" b="1" dirty="0">
                <a:effectLst/>
              </a:rPr>
              <a:t>☎針對</a:t>
            </a:r>
            <a:r>
              <a:rPr lang="en-US" altLang="zh-TW" sz="3200" b="1" dirty="0">
                <a:effectLst/>
              </a:rPr>
              <a:t>『</a:t>
            </a:r>
            <a:r>
              <a:rPr lang="zh-TW" altLang="en-US" sz="3200" b="1" dirty="0">
                <a:effectLst/>
              </a:rPr>
              <a:t>潛在可能流失客戶群</a:t>
            </a:r>
            <a:r>
              <a:rPr lang="en-US" altLang="zh-TW" sz="3200" b="1" dirty="0">
                <a:effectLst/>
              </a:rPr>
              <a:t>』</a:t>
            </a:r>
            <a:r>
              <a:rPr lang="zh-TW" altLang="en-US" sz="3200" b="1" dirty="0">
                <a:effectLst/>
              </a:rPr>
              <a:t>重點提出因應對策，可以減緩客戶流失率</a:t>
            </a:r>
          </a:p>
          <a:p>
            <a:pPr lvl="1"/>
            <a:endParaRPr lang="en-US" altLang="zh-CN" sz="3200" b="1" dirty="0">
              <a:effectLst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zh-CN" altLang="en-US" sz="5400" b="1" dirty="0">
                <a:latin typeface="+mn-lt"/>
                <a:ea typeface="+mn-ea"/>
                <a:cs typeface="+mn-cs"/>
              </a:rPr>
              <a:t>進階資料分析</a:t>
            </a:r>
            <a:br>
              <a:rPr lang="en-US" altLang="zh-CN" sz="5400" b="1" dirty="0">
                <a:latin typeface="+mn-lt"/>
                <a:ea typeface="+mn-ea"/>
                <a:cs typeface="+mn-cs"/>
              </a:rPr>
            </a:br>
            <a:r>
              <a:rPr lang="zh-CN" altLang="en-US" sz="5400" b="1" dirty="0">
                <a:latin typeface="+mn-lt"/>
                <a:ea typeface="+mn-ea"/>
                <a:cs typeface="+mn-cs"/>
              </a:rPr>
              <a:t>課程的產出</a:t>
            </a:r>
            <a:endParaRPr lang="zh-TW" altLang="en-US" sz="5400" b="1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208795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1700808"/>
            <a:ext cx="8867328" cy="5157191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effectLst/>
              </a:rPr>
              <a:t>範例</a:t>
            </a:r>
            <a:r>
              <a:rPr lang="en-US" altLang="zh-CN" sz="3600" b="1" dirty="0">
                <a:effectLst/>
              </a:rPr>
              <a:t>1</a:t>
            </a:r>
            <a:r>
              <a:rPr lang="zh-CN" altLang="en-US" sz="3600" b="1" dirty="0">
                <a:effectLst/>
              </a:rPr>
              <a:t>：</a:t>
            </a:r>
            <a:r>
              <a:rPr lang="zh-CN" altLang="en-US" sz="3600" b="1" dirty="0">
                <a:solidFill>
                  <a:srgbClr val="7030A0"/>
                </a:solidFill>
                <a:effectLst/>
              </a:rPr>
              <a:t>客戶流失率預測分析</a:t>
            </a:r>
            <a:endParaRPr lang="en-US" altLang="zh-CN" sz="3600" b="1" dirty="0">
              <a:effectLst/>
            </a:endParaRPr>
          </a:p>
          <a:p>
            <a:pPr lvl="1"/>
            <a:r>
              <a:rPr lang="zh-CN" altLang="en-US" sz="3200" b="1" dirty="0">
                <a:effectLst/>
              </a:rPr>
              <a:t>分析報告：</a:t>
            </a:r>
            <a:endParaRPr lang="en-US" altLang="zh-CN" sz="3200" b="1" dirty="0">
              <a:effectLst/>
            </a:endParaRPr>
          </a:p>
          <a:p>
            <a:pPr lvl="1"/>
            <a:r>
              <a:rPr lang="en-US" altLang="zh-CN" sz="2000" b="1" dirty="0">
                <a:effectLst/>
                <a:hlinkClick r:id="rId2"/>
              </a:rPr>
              <a:t>https://colab.research.google.com/drive/1V3OMPkaccYJqmxXDD5Ys5KKRca4MwbOw?usp=sharing#scrollTo=Sd6DrzE7j05N</a:t>
            </a:r>
            <a:endParaRPr lang="en-US" altLang="zh-CN" sz="2000" b="1" dirty="0">
              <a:effectLst/>
            </a:endParaRPr>
          </a:p>
          <a:p>
            <a:pPr lvl="1"/>
            <a:r>
              <a:rPr lang="zh-CN" altLang="en-US" sz="3200" b="1" dirty="0">
                <a:effectLst/>
              </a:rPr>
              <a:t>預測結果：</a:t>
            </a:r>
            <a:endParaRPr lang="zh-TW" altLang="en-US" sz="3200" b="1" dirty="0">
              <a:effectLst/>
            </a:endParaRPr>
          </a:p>
          <a:p>
            <a:pPr lvl="1"/>
            <a:endParaRPr lang="en-US" altLang="zh-CN" sz="3200" b="1" dirty="0">
              <a:effectLst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zh-CN" altLang="en-US" sz="5400" b="1" dirty="0">
                <a:latin typeface="+mn-lt"/>
                <a:ea typeface="+mn-ea"/>
                <a:cs typeface="+mn-cs"/>
              </a:rPr>
              <a:t>進階資料分析</a:t>
            </a:r>
            <a:br>
              <a:rPr lang="en-US" altLang="zh-CN" sz="5400" b="1" dirty="0">
                <a:latin typeface="+mn-lt"/>
                <a:ea typeface="+mn-ea"/>
                <a:cs typeface="+mn-cs"/>
              </a:rPr>
            </a:br>
            <a:r>
              <a:rPr lang="zh-CN" altLang="en-US" sz="5400" b="1" dirty="0">
                <a:latin typeface="+mn-lt"/>
                <a:ea typeface="+mn-ea"/>
                <a:cs typeface="+mn-cs"/>
              </a:rPr>
              <a:t>課程的產出</a:t>
            </a:r>
            <a:endParaRPr lang="zh-TW" altLang="en-US" sz="5400" b="1" dirty="0">
              <a:latin typeface="+mn-lt"/>
              <a:ea typeface="+mn-ea"/>
              <a:cs typeface="+mn-cs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FFC14CB-1F39-4827-B106-D5BDC3FF0B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4653136"/>
            <a:ext cx="4228571" cy="1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12980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2701482"/>
            <a:ext cx="8867328" cy="4156517"/>
          </a:xfrm>
        </p:spPr>
        <p:txBody>
          <a:bodyPr>
            <a:normAutofit lnSpcReduction="10000"/>
          </a:bodyPr>
          <a:lstStyle/>
          <a:p>
            <a:r>
              <a:rPr lang="zh-CN" altLang="en-US" sz="3600" b="1" dirty="0">
                <a:effectLst/>
              </a:rPr>
              <a:t>範例</a:t>
            </a:r>
            <a:r>
              <a:rPr lang="en-US" altLang="zh-CN" sz="3600" b="1" dirty="0">
                <a:effectLst/>
              </a:rPr>
              <a:t>2</a:t>
            </a:r>
            <a:r>
              <a:rPr lang="zh-CN" altLang="en-US" sz="3600" b="1" dirty="0">
                <a:effectLst/>
              </a:rPr>
              <a:t>：</a:t>
            </a:r>
            <a:r>
              <a:rPr lang="zh-CN" altLang="en-US" sz="3600" b="1" dirty="0">
                <a:solidFill>
                  <a:srgbClr val="7030A0"/>
                </a:solidFill>
                <a:effectLst/>
              </a:rPr>
              <a:t>客戶</a:t>
            </a:r>
            <a:r>
              <a:rPr lang="zh-TW" altLang="en-US" sz="3600" b="1" dirty="0">
                <a:solidFill>
                  <a:srgbClr val="7030A0"/>
                </a:solidFill>
                <a:effectLst/>
              </a:rPr>
              <a:t>價值度的評鑑</a:t>
            </a:r>
            <a:r>
              <a:rPr lang="zh-CN" altLang="en-US" sz="3600" b="1" dirty="0">
                <a:solidFill>
                  <a:srgbClr val="7030A0"/>
                </a:solidFill>
                <a:effectLst/>
              </a:rPr>
              <a:t>預測分析</a:t>
            </a:r>
            <a:endParaRPr lang="en-US" altLang="zh-CN" sz="3600" b="1" dirty="0">
              <a:solidFill>
                <a:srgbClr val="7030A0"/>
              </a:solidFill>
              <a:effectLst/>
            </a:endParaRPr>
          </a:p>
          <a:p>
            <a:pPr lvl="1"/>
            <a:r>
              <a:rPr lang="zh-CN" altLang="en-US" sz="3200" b="1" dirty="0">
                <a:effectLst/>
              </a:rPr>
              <a:t>讀取業主：</a:t>
            </a:r>
            <a:r>
              <a:rPr lang="zh-TW" altLang="en-US" sz="3200" b="1" dirty="0">
                <a:effectLst/>
              </a:rPr>
              <a:t>客戶關係管理的重要檔案：</a:t>
            </a:r>
            <a:r>
              <a:rPr lang="en-US" altLang="zh-TW" sz="3200" b="1" dirty="0">
                <a:effectLst/>
              </a:rPr>
              <a:t>RFM</a:t>
            </a:r>
            <a:r>
              <a:rPr lang="zh-TW" altLang="en-US" sz="3200" b="1" dirty="0">
                <a:effectLst/>
              </a:rPr>
              <a:t>客戶價值度的評鑑資料表</a:t>
            </a:r>
          </a:p>
          <a:p>
            <a:pPr lvl="1"/>
            <a:r>
              <a:rPr lang="en-US" altLang="zh-TW" dirty="0">
                <a:effectLst/>
                <a:hlinkClick r:id="rId2"/>
              </a:rPr>
              <a:t>https://acupun.site/lecture/predict/example/resource/RFM-2-chi.xlsx</a:t>
            </a:r>
            <a:endParaRPr lang="en-US" altLang="zh-TW" dirty="0">
              <a:effectLst/>
            </a:endParaRPr>
          </a:p>
          <a:p>
            <a:pPr lvl="1"/>
            <a:r>
              <a:rPr lang="zh-TW" altLang="en-US" sz="3200" b="1" dirty="0">
                <a:effectLst/>
              </a:rPr>
              <a:t>最後請做預測，當</a:t>
            </a:r>
            <a:r>
              <a:rPr lang="en-US" altLang="zh-TW" sz="3200" b="1" dirty="0">
                <a:effectLst/>
              </a:rPr>
              <a:t>A</a:t>
            </a:r>
            <a:r>
              <a:rPr lang="zh-TW" altLang="en-US" sz="3200" b="1" dirty="0">
                <a:effectLst/>
              </a:rPr>
              <a:t>顧客的</a:t>
            </a:r>
            <a:r>
              <a:rPr lang="en-US" altLang="zh-TW" sz="3200" b="1" dirty="0">
                <a:effectLst/>
              </a:rPr>
              <a:t>【R,F,M】=5,2,2100</a:t>
            </a:r>
            <a:r>
              <a:rPr lang="zh-TW" altLang="en-US" sz="3200" b="1" dirty="0">
                <a:effectLst/>
              </a:rPr>
              <a:t>，</a:t>
            </a:r>
            <a:endParaRPr lang="en-US" altLang="zh-TW" sz="3200" b="1" dirty="0">
              <a:effectLst/>
            </a:endParaRPr>
          </a:p>
          <a:p>
            <a:pPr lvl="1"/>
            <a:r>
              <a:rPr lang="zh-TW" altLang="en-US" sz="32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請問</a:t>
            </a:r>
            <a:r>
              <a:rPr lang="en-US" altLang="zh-TW" sz="32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A</a:t>
            </a:r>
            <a:r>
              <a:rPr lang="zh-TW" altLang="en-US" sz="32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顧客是否為本公司的重要客戶</a:t>
            </a:r>
            <a:r>
              <a:rPr lang="en-US" altLang="zh-TW" sz="32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=</a:t>
            </a:r>
            <a:r>
              <a:rPr lang="zh-TW" altLang="en-US" sz="32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？</a:t>
            </a:r>
          </a:p>
          <a:p>
            <a:pPr lvl="1"/>
            <a:endParaRPr lang="en-US" altLang="zh-CN" sz="3200" b="1" dirty="0">
              <a:effectLst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zh-CN" altLang="en-US" sz="5400" b="1" dirty="0">
                <a:latin typeface="+mn-lt"/>
                <a:ea typeface="+mn-ea"/>
                <a:cs typeface="+mn-cs"/>
              </a:rPr>
              <a:t>進階資料分析</a:t>
            </a:r>
            <a:br>
              <a:rPr lang="en-US" altLang="zh-CN" sz="5400" b="1" dirty="0">
                <a:latin typeface="+mn-lt"/>
                <a:ea typeface="+mn-ea"/>
                <a:cs typeface="+mn-cs"/>
              </a:rPr>
            </a:br>
            <a:r>
              <a:rPr lang="zh-CN" altLang="en-US" sz="5400" b="1" dirty="0">
                <a:latin typeface="+mn-lt"/>
                <a:ea typeface="+mn-ea"/>
                <a:cs typeface="+mn-cs"/>
              </a:rPr>
              <a:t>課程的產出</a:t>
            </a:r>
            <a:endParaRPr lang="zh-TW" altLang="en-US" sz="5400" b="1" dirty="0">
              <a:latin typeface="+mn-lt"/>
              <a:ea typeface="+mn-ea"/>
              <a:cs typeface="+mn-cs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7CC2817-5164-41CE-97DC-3A7BF7A0BEBA}"/>
              </a:ext>
            </a:extLst>
          </p:cNvPr>
          <p:cNvGraphicFramePr>
            <a:graphicFrameLocks noGrp="1"/>
          </p:cNvGraphicFramePr>
          <p:nvPr/>
        </p:nvGraphicFramePr>
        <p:xfrm>
          <a:off x="0" y="1422222"/>
          <a:ext cx="9130644" cy="10055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8147">
                  <a:extLst>
                    <a:ext uri="{9D8B030D-6E8A-4147-A177-3AD203B41FA5}">
                      <a16:colId xmlns:a16="http://schemas.microsoft.com/office/drawing/2014/main" val="4099667512"/>
                    </a:ext>
                  </a:extLst>
                </a:gridCol>
                <a:gridCol w="4278949">
                  <a:extLst>
                    <a:ext uri="{9D8B030D-6E8A-4147-A177-3AD203B41FA5}">
                      <a16:colId xmlns:a16="http://schemas.microsoft.com/office/drawing/2014/main" val="351453049"/>
                    </a:ext>
                  </a:extLst>
                </a:gridCol>
                <a:gridCol w="3043548">
                  <a:extLst>
                    <a:ext uri="{9D8B030D-6E8A-4147-A177-3AD203B41FA5}">
                      <a16:colId xmlns:a16="http://schemas.microsoft.com/office/drawing/2014/main" val="256073419"/>
                    </a:ext>
                  </a:extLst>
                </a:gridCol>
              </a:tblGrid>
              <a:tr h="100553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三上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人工智慧跨域</a:t>
                      </a:r>
                      <a:endParaRPr lang="en-US" altLang="zh-CN" sz="2800" b="1" kern="1200" dirty="0">
                        <a:solidFill>
                          <a:srgbClr val="7030A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algn="ctr"/>
                      <a:r>
                        <a:rPr lang="en-US" altLang="zh-CN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『</a:t>
                      </a:r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商情預測</a:t>
                      </a:r>
                      <a:r>
                        <a:rPr lang="en-US" altLang="zh-CN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』</a:t>
                      </a:r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之應用</a:t>
                      </a:r>
                      <a:endParaRPr lang="zh-TW" altLang="en-US" sz="2800" b="1" kern="1200" dirty="0">
                        <a:solidFill>
                          <a:srgbClr val="7030A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機器學習，</a:t>
                      </a:r>
                      <a:endParaRPr lang="en-US" altLang="zh-TW" sz="28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algn="ctr"/>
                      <a:r>
                        <a:rPr lang="zh-TW" altLang="en-US" sz="28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深度學習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6385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31336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1556792"/>
            <a:ext cx="8867328" cy="5301207"/>
          </a:xfrm>
        </p:spPr>
        <p:txBody>
          <a:bodyPr>
            <a:normAutofit fontScale="92500"/>
          </a:bodyPr>
          <a:lstStyle/>
          <a:p>
            <a:r>
              <a:rPr lang="zh-CN" altLang="en-US" sz="3600" b="1" dirty="0">
                <a:effectLst/>
              </a:rPr>
              <a:t>範例</a:t>
            </a:r>
            <a:r>
              <a:rPr lang="en-US" altLang="zh-CN" sz="3600" b="1" dirty="0">
                <a:effectLst/>
              </a:rPr>
              <a:t>2</a:t>
            </a:r>
            <a:r>
              <a:rPr lang="zh-CN" altLang="en-US" sz="3600" b="1" dirty="0">
                <a:effectLst/>
              </a:rPr>
              <a:t>：</a:t>
            </a:r>
            <a:r>
              <a:rPr lang="zh-CN" altLang="en-US" sz="3600" b="1" dirty="0">
                <a:solidFill>
                  <a:srgbClr val="7030A0"/>
                </a:solidFill>
                <a:effectLst/>
              </a:rPr>
              <a:t>客戶</a:t>
            </a:r>
            <a:r>
              <a:rPr lang="zh-TW" altLang="en-US" sz="3600" b="1" dirty="0">
                <a:solidFill>
                  <a:srgbClr val="7030A0"/>
                </a:solidFill>
                <a:effectLst/>
              </a:rPr>
              <a:t>價值度的評鑑</a:t>
            </a:r>
            <a:r>
              <a:rPr lang="zh-CN" altLang="en-US" sz="3600" b="1" dirty="0">
                <a:solidFill>
                  <a:srgbClr val="7030A0"/>
                </a:solidFill>
                <a:effectLst/>
              </a:rPr>
              <a:t>預測分析</a:t>
            </a:r>
            <a:endParaRPr lang="en-US" altLang="zh-CN" sz="3600" b="1" dirty="0">
              <a:solidFill>
                <a:srgbClr val="7030A0"/>
              </a:solidFill>
              <a:effectLst/>
            </a:endParaRPr>
          </a:p>
          <a:p>
            <a:r>
              <a:rPr lang="zh-TW" altLang="en-US" b="1" dirty="0">
                <a:effectLst/>
              </a:rPr>
              <a:t>美國數據庫行銷研究所亞瑟</a:t>
            </a:r>
            <a:r>
              <a:rPr lang="en-US" altLang="zh-TW" b="1" dirty="0">
                <a:effectLst/>
              </a:rPr>
              <a:t>‧</a:t>
            </a:r>
            <a:r>
              <a:rPr lang="zh-TW" altLang="en-US" b="1" dirty="0">
                <a:effectLst/>
              </a:rPr>
              <a:t>修斯（</a:t>
            </a:r>
            <a:r>
              <a:rPr lang="en-US" altLang="zh-TW" b="1" dirty="0">
                <a:effectLst/>
              </a:rPr>
              <a:t>Arthur Hughes</a:t>
            </a:r>
            <a:r>
              <a:rPr lang="zh-TW" altLang="en-US" b="1" dirty="0">
                <a:effectLst/>
              </a:rPr>
              <a:t>）指出，顧客資料庫中有 </a:t>
            </a:r>
            <a:r>
              <a:rPr lang="en-US" altLang="zh-TW" b="1" dirty="0">
                <a:effectLst/>
                <a:highlight>
                  <a:srgbClr val="FFFF00"/>
                </a:highlight>
              </a:rPr>
              <a:t>3 </a:t>
            </a:r>
            <a:r>
              <a:rPr lang="zh-TW" altLang="en-US" b="1" dirty="0">
                <a:effectLst/>
                <a:highlight>
                  <a:srgbClr val="FFFF00"/>
                </a:highlight>
              </a:rPr>
              <a:t>項重要指標，可以分析顧客的價值</a:t>
            </a:r>
            <a:endParaRPr lang="zh-TW" altLang="en-US" b="1" dirty="0">
              <a:effectLst/>
            </a:endParaRPr>
          </a:p>
          <a:p>
            <a:r>
              <a:rPr lang="en-US" altLang="zh-TW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R</a:t>
            </a:r>
            <a:r>
              <a:rPr lang="zh-TW" altLang="en-US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：最近一次消費（</a:t>
            </a:r>
            <a:r>
              <a:rPr lang="en-US" altLang="zh-TW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recency</a:t>
            </a:r>
            <a:r>
              <a:rPr lang="zh-TW" altLang="en-US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）：</a:t>
            </a:r>
          </a:p>
          <a:p>
            <a:pPr lvl="1"/>
            <a:r>
              <a:rPr lang="zh-TW" altLang="en-US" b="1" dirty="0">
                <a:solidFill>
                  <a:srgbClr val="7030A0"/>
                </a:solidFill>
                <a:effectLst/>
              </a:rPr>
              <a:t>顧客上次消費時間愈近，價值愈大。</a:t>
            </a:r>
          </a:p>
          <a:p>
            <a:r>
              <a:rPr lang="en-US" altLang="zh-TW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F</a:t>
            </a:r>
            <a:r>
              <a:rPr lang="zh-TW" altLang="en-US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：消費頻率（</a:t>
            </a:r>
            <a:r>
              <a:rPr lang="en-US" altLang="zh-TW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frequency</a:t>
            </a:r>
            <a:r>
              <a:rPr lang="zh-TW" altLang="en-US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）。</a:t>
            </a:r>
            <a:r>
              <a:rPr lang="zh-TW" altLang="en-US" b="1" dirty="0">
                <a:effectLst/>
              </a:rPr>
              <a:t>顧客在一個月或一年中，買了多少次東西？</a:t>
            </a:r>
          </a:p>
          <a:p>
            <a:pPr lvl="1"/>
            <a:r>
              <a:rPr lang="zh-TW" altLang="en-US" b="1" dirty="0">
                <a:solidFill>
                  <a:srgbClr val="7030A0"/>
                </a:solidFill>
                <a:effectLst/>
              </a:rPr>
              <a:t>購買頻率愈高，用戶價值愈大。</a:t>
            </a:r>
          </a:p>
          <a:p>
            <a:r>
              <a:rPr lang="en-US" altLang="zh-TW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M</a:t>
            </a:r>
            <a:r>
              <a:rPr lang="zh-TW" altLang="en-US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：消費金額（</a:t>
            </a:r>
            <a:r>
              <a:rPr lang="en-US" altLang="zh-TW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monetary</a:t>
            </a:r>
            <a:r>
              <a:rPr lang="zh-TW" altLang="en-US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）。</a:t>
            </a:r>
            <a:r>
              <a:rPr lang="zh-TW" altLang="en-US" b="1" dirty="0">
                <a:effectLst/>
              </a:rPr>
              <a:t>顧客一共在產品上花了多少錢？創造了多少利潤？</a:t>
            </a:r>
          </a:p>
          <a:p>
            <a:pPr lvl="1"/>
            <a:r>
              <a:rPr lang="zh-TW" altLang="en-US" b="1" dirty="0">
                <a:solidFill>
                  <a:srgbClr val="7030A0"/>
                </a:solidFill>
                <a:effectLst/>
              </a:rPr>
              <a:t>消費金額愈高，用戶價值愈大。</a:t>
            </a:r>
          </a:p>
          <a:p>
            <a:pPr lvl="1"/>
            <a:endParaRPr lang="en-US" altLang="zh-CN" sz="3200" b="1" dirty="0">
              <a:effectLst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zh-CN" altLang="en-US" sz="5400" b="1" dirty="0">
                <a:latin typeface="+mn-lt"/>
                <a:ea typeface="+mn-ea"/>
                <a:cs typeface="+mn-cs"/>
              </a:rPr>
              <a:t>進階資料分析</a:t>
            </a:r>
            <a:br>
              <a:rPr lang="en-US" altLang="zh-CN" sz="5400" b="1" dirty="0">
                <a:latin typeface="+mn-lt"/>
                <a:ea typeface="+mn-ea"/>
                <a:cs typeface="+mn-cs"/>
              </a:rPr>
            </a:br>
            <a:r>
              <a:rPr lang="zh-CN" altLang="en-US" sz="5400" b="1" dirty="0">
                <a:latin typeface="+mn-lt"/>
                <a:ea typeface="+mn-ea"/>
                <a:cs typeface="+mn-cs"/>
              </a:rPr>
              <a:t>課程的產出</a:t>
            </a:r>
            <a:endParaRPr lang="zh-TW" altLang="en-US" sz="5400" b="1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045028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CB9BAE8-0F54-46F4-8BC1-51CC6CB0C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85336FBF-3A08-440C-9120-1353C8659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7170" name="Picture 2" descr="5-4-1.PNG">
            <a:extLst>
              <a:ext uri="{FF2B5EF4-FFF2-40B4-BE49-F238E27FC236}">
                <a16:creationId xmlns:a16="http://schemas.microsoft.com/office/drawing/2014/main" id="{32215407-D2FF-43F1-A627-29075BD160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973" y="170834"/>
            <a:ext cx="9023027" cy="630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733177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1556792"/>
            <a:ext cx="8867328" cy="5301207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effectLst/>
              </a:rPr>
              <a:t>範例</a:t>
            </a:r>
            <a:r>
              <a:rPr lang="en-US" altLang="zh-CN" sz="3600" b="1" dirty="0">
                <a:effectLst/>
              </a:rPr>
              <a:t>2</a:t>
            </a:r>
            <a:r>
              <a:rPr lang="zh-CN" altLang="en-US" sz="3600" b="1" dirty="0">
                <a:effectLst/>
              </a:rPr>
              <a:t>：</a:t>
            </a:r>
            <a:r>
              <a:rPr lang="zh-CN" altLang="en-US" sz="3600" b="1" dirty="0">
                <a:solidFill>
                  <a:srgbClr val="7030A0"/>
                </a:solidFill>
                <a:effectLst/>
              </a:rPr>
              <a:t>客戶</a:t>
            </a:r>
            <a:r>
              <a:rPr lang="zh-TW" altLang="en-US" sz="3600" b="1" dirty="0">
                <a:solidFill>
                  <a:srgbClr val="7030A0"/>
                </a:solidFill>
                <a:effectLst/>
              </a:rPr>
              <a:t>價值度的評鑑</a:t>
            </a:r>
            <a:r>
              <a:rPr lang="zh-CN" altLang="en-US" sz="3600" b="1" dirty="0">
                <a:solidFill>
                  <a:srgbClr val="7030A0"/>
                </a:solidFill>
                <a:effectLst/>
              </a:rPr>
              <a:t>預測分析</a:t>
            </a:r>
            <a:endParaRPr lang="en-US" altLang="zh-CN" sz="3600" b="1" dirty="0">
              <a:solidFill>
                <a:srgbClr val="7030A0"/>
              </a:solidFill>
              <a:effectLst/>
            </a:endParaRPr>
          </a:p>
          <a:p>
            <a:pPr lvl="1"/>
            <a:r>
              <a:rPr lang="zh-CN" altLang="en-US" sz="4400" b="1" dirty="0">
                <a:effectLst/>
              </a:rPr>
              <a:t>分析報告：</a:t>
            </a:r>
            <a:endParaRPr lang="en-US" altLang="zh-CN" sz="4400" b="1" dirty="0">
              <a:effectLst/>
            </a:endParaRPr>
          </a:p>
          <a:p>
            <a:pPr lvl="1"/>
            <a:r>
              <a:rPr lang="en-US" altLang="zh-CN" sz="1800" b="1" dirty="0">
                <a:effectLst/>
                <a:hlinkClick r:id="rId2"/>
              </a:rPr>
              <a:t>https://colab.research.google.com/drive/1mqvr_AEj409bk41_uB7lRi-d2GhNgNaB?usp=sharing#scrollTo=j9QzfMdSODOy</a:t>
            </a:r>
            <a:endParaRPr lang="en-US" altLang="zh-CN" sz="1800" b="1" dirty="0">
              <a:effectLst/>
            </a:endParaRPr>
          </a:p>
          <a:p>
            <a:pPr lvl="1"/>
            <a:r>
              <a:rPr lang="zh-CN" altLang="en-US" sz="4400" b="1" dirty="0">
                <a:effectLst/>
              </a:rPr>
              <a:t>預測結果：</a:t>
            </a:r>
            <a:endParaRPr lang="zh-TW" altLang="en-US" sz="4400" b="1" dirty="0">
              <a:effectLst/>
            </a:endParaRPr>
          </a:p>
          <a:p>
            <a:pPr lvl="1"/>
            <a:endParaRPr lang="en-US" altLang="zh-CN" sz="3200" b="1" dirty="0">
              <a:effectLst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zh-CN" altLang="en-US" sz="5400" b="1" dirty="0">
                <a:latin typeface="+mn-lt"/>
                <a:ea typeface="+mn-ea"/>
                <a:cs typeface="+mn-cs"/>
              </a:rPr>
              <a:t>進階資料分析</a:t>
            </a:r>
            <a:br>
              <a:rPr lang="en-US" altLang="zh-CN" sz="5400" b="1" dirty="0">
                <a:latin typeface="+mn-lt"/>
                <a:ea typeface="+mn-ea"/>
                <a:cs typeface="+mn-cs"/>
              </a:rPr>
            </a:br>
            <a:r>
              <a:rPr lang="zh-CN" altLang="en-US" sz="5400" b="1" dirty="0">
                <a:latin typeface="+mn-lt"/>
                <a:ea typeface="+mn-ea"/>
                <a:cs typeface="+mn-cs"/>
              </a:rPr>
              <a:t>課程的產出</a:t>
            </a:r>
            <a:endParaRPr lang="zh-TW" altLang="en-US" sz="5400" b="1" dirty="0">
              <a:latin typeface="+mn-lt"/>
              <a:ea typeface="+mn-ea"/>
              <a:cs typeface="+mn-cs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AACA4A4-47CF-421F-86FD-8EE4C5E61D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731" y="5013176"/>
            <a:ext cx="8542857" cy="9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30412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2701482"/>
            <a:ext cx="8867328" cy="4156517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sz="3600" b="1" dirty="0">
                <a:effectLst/>
              </a:rPr>
              <a:t>範例</a:t>
            </a:r>
            <a:r>
              <a:rPr lang="en-US" altLang="zh-CN" sz="3600" b="1" dirty="0">
                <a:effectLst/>
              </a:rPr>
              <a:t>3</a:t>
            </a:r>
            <a:r>
              <a:rPr lang="zh-CN" altLang="en-US" sz="3600" b="1" dirty="0">
                <a:effectLst/>
              </a:rPr>
              <a:t>：</a:t>
            </a:r>
            <a:r>
              <a:rPr lang="zh-CN" altLang="en-US" sz="3600" b="1" dirty="0">
                <a:solidFill>
                  <a:srgbClr val="7030A0"/>
                </a:solidFill>
                <a:effectLst/>
              </a:rPr>
              <a:t>房價預測分析</a:t>
            </a:r>
            <a:endParaRPr lang="en-US" altLang="zh-CN" sz="3600" b="1" dirty="0">
              <a:solidFill>
                <a:srgbClr val="7030A0"/>
              </a:solidFill>
              <a:effectLst/>
            </a:endParaRPr>
          </a:p>
          <a:p>
            <a:pPr lvl="1"/>
            <a:r>
              <a:rPr lang="zh-CN" altLang="en-US" sz="3200" b="1" dirty="0">
                <a:effectLst/>
              </a:rPr>
              <a:t>讀取業主：影響房價的</a:t>
            </a:r>
            <a:r>
              <a:rPr lang="en-US" altLang="zh-CN" sz="3200" b="1" dirty="0">
                <a:effectLst/>
              </a:rPr>
              <a:t>13</a:t>
            </a:r>
            <a:r>
              <a:rPr lang="zh-CN" altLang="en-US" sz="3200" b="1" dirty="0">
                <a:effectLst/>
              </a:rPr>
              <a:t>個特徵參數</a:t>
            </a:r>
            <a:r>
              <a:rPr lang="zh-TW" altLang="en-US" sz="3200" b="1" dirty="0">
                <a:effectLst/>
              </a:rPr>
              <a:t>資料表</a:t>
            </a:r>
          </a:p>
          <a:p>
            <a:pPr lvl="1"/>
            <a:r>
              <a:rPr lang="en-US" altLang="zh-TW" dirty="0">
                <a:effectLst/>
                <a:hlinkClick r:id="rId2"/>
              </a:rPr>
              <a:t>https://acupun.site/lecture/predict/example/resource/boston-chi.csv</a:t>
            </a:r>
            <a:endParaRPr lang="en-US" altLang="zh-TW" dirty="0">
              <a:effectLst/>
            </a:endParaRPr>
          </a:p>
          <a:p>
            <a:pPr lvl="1"/>
            <a:r>
              <a:rPr lang="zh-TW" altLang="en-US" b="1" dirty="0">
                <a:effectLst/>
                <a:highlight>
                  <a:srgbClr val="FFFF00"/>
                </a:highlight>
              </a:rPr>
              <a:t>請預測</a:t>
            </a:r>
            <a:r>
              <a:rPr lang="zh-TW" altLang="en-US" b="1" dirty="0">
                <a:effectLst/>
              </a:rPr>
              <a:t>：當特徵變數</a:t>
            </a:r>
            <a:r>
              <a:rPr lang="en-US" altLang="zh-TW" b="1" dirty="0">
                <a:effectLst/>
              </a:rPr>
              <a:t>【</a:t>
            </a:r>
            <a:r>
              <a:rPr lang="zh-TW" altLang="en-US" b="1" dirty="0">
                <a:effectLst/>
              </a:rPr>
              <a:t>犯罪率，當地</a:t>
            </a:r>
            <a:r>
              <a:rPr lang="en-US" altLang="zh-TW" b="1" dirty="0">
                <a:effectLst/>
              </a:rPr>
              <a:t>2.5</a:t>
            </a:r>
            <a:r>
              <a:rPr lang="zh-TW" altLang="en-US" b="1" dirty="0">
                <a:effectLst/>
              </a:rPr>
              <a:t>萬平方英尺以上房子比例，非零售業的營業面積比例，是否靠近河邊，一氧化氮濃度，平均房間數，當地</a:t>
            </a:r>
            <a:r>
              <a:rPr lang="en-US" altLang="zh-TW" b="1" dirty="0">
                <a:effectLst/>
              </a:rPr>
              <a:t>1940</a:t>
            </a:r>
            <a:r>
              <a:rPr lang="zh-TW" altLang="en-US" b="1" dirty="0">
                <a:effectLst/>
              </a:rPr>
              <a:t>年前老房子比率，與波士頓工業區的距離，徑向公路的通達指數，每</a:t>
            </a:r>
            <a:r>
              <a:rPr lang="en-US" altLang="zh-TW" b="1" dirty="0">
                <a:effectLst/>
              </a:rPr>
              <a:t>1</a:t>
            </a:r>
            <a:r>
              <a:rPr lang="zh-TW" altLang="en-US" b="1" dirty="0">
                <a:effectLst/>
              </a:rPr>
              <a:t>萬美元的所需繳的財產稅，當地的老師比例，當地黑人比例，中下階級的比率，房價</a:t>
            </a:r>
            <a:r>
              <a:rPr lang="en-US" altLang="zh-TW" b="1" dirty="0">
                <a:effectLst/>
              </a:rPr>
              <a:t>】</a:t>
            </a:r>
          </a:p>
          <a:p>
            <a:pPr lvl="1"/>
            <a:r>
              <a:rPr lang="en-US" altLang="zh-TW" b="1" dirty="0">
                <a:effectLst/>
              </a:rPr>
              <a:t>=[[0.00632, 18.0, 2.31, 0, 0.538, 6.575, 65.2, 4.0900, 1, 296, 15.3, 396.90, 4.98]]</a:t>
            </a:r>
            <a:r>
              <a:rPr lang="zh-TW" altLang="en-US" b="1" dirty="0">
                <a:effectLst/>
              </a:rPr>
              <a:t>時，</a:t>
            </a:r>
            <a:r>
              <a:rPr lang="zh-TW" altLang="en-US" b="1" dirty="0">
                <a:effectLst/>
                <a:highlight>
                  <a:srgbClr val="FFFF00"/>
                </a:highlight>
              </a:rPr>
              <a:t>房價</a:t>
            </a:r>
            <a:r>
              <a:rPr lang="en-US" altLang="zh-TW" b="1" dirty="0">
                <a:effectLst/>
                <a:highlight>
                  <a:srgbClr val="FFFF00"/>
                </a:highlight>
              </a:rPr>
              <a:t>=?</a:t>
            </a:r>
          </a:p>
          <a:p>
            <a:pPr lvl="1"/>
            <a:endParaRPr lang="en-US" altLang="zh-CN" sz="3200" b="1" dirty="0">
              <a:effectLst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65238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sz="5400" b="1" dirty="0">
                <a:latin typeface="+mn-lt"/>
                <a:ea typeface="+mn-ea"/>
                <a:cs typeface="+mn-cs"/>
              </a:rPr>
              <a:t>進階資料分析</a:t>
            </a:r>
            <a:br>
              <a:rPr lang="en-US" altLang="zh-CN" sz="5400" b="1" dirty="0">
                <a:latin typeface="+mn-lt"/>
                <a:ea typeface="+mn-ea"/>
                <a:cs typeface="+mn-cs"/>
              </a:rPr>
            </a:br>
            <a:r>
              <a:rPr lang="zh-CN" altLang="en-US" sz="5400" b="1" dirty="0">
                <a:latin typeface="+mn-lt"/>
                <a:ea typeface="+mn-ea"/>
                <a:cs typeface="+mn-cs"/>
              </a:rPr>
              <a:t>課程的產出</a:t>
            </a:r>
            <a:endParaRPr lang="zh-TW" altLang="en-US" sz="5400" b="1" dirty="0">
              <a:latin typeface="+mn-lt"/>
              <a:ea typeface="+mn-ea"/>
              <a:cs typeface="+mn-cs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7CC2817-5164-41CE-97DC-3A7BF7A0BEBA}"/>
              </a:ext>
            </a:extLst>
          </p:cNvPr>
          <p:cNvGraphicFramePr>
            <a:graphicFrameLocks noGrp="1"/>
          </p:cNvGraphicFramePr>
          <p:nvPr/>
        </p:nvGraphicFramePr>
        <p:xfrm>
          <a:off x="0" y="1422222"/>
          <a:ext cx="9130644" cy="10055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8147">
                  <a:extLst>
                    <a:ext uri="{9D8B030D-6E8A-4147-A177-3AD203B41FA5}">
                      <a16:colId xmlns:a16="http://schemas.microsoft.com/office/drawing/2014/main" val="4099667512"/>
                    </a:ext>
                  </a:extLst>
                </a:gridCol>
                <a:gridCol w="4278949">
                  <a:extLst>
                    <a:ext uri="{9D8B030D-6E8A-4147-A177-3AD203B41FA5}">
                      <a16:colId xmlns:a16="http://schemas.microsoft.com/office/drawing/2014/main" val="351453049"/>
                    </a:ext>
                  </a:extLst>
                </a:gridCol>
                <a:gridCol w="3043548">
                  <a:extLst>
                    <a:ext uri="{9D8B030D-6E8A-4147-A177-3AD203B41FA5}">
                      <a16:colId xmlns:a16="http://schemas.microsoft.com/office/drawing/2014/main" val="256073419"/>
                    </a:ext>
                  </a:extLst>
                </a:gridCol>
              </a:tblGrid>
              <a:tr h="100553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三上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人工智慧跨域</a:t>
                      </a:r>
                      <a:endParaRPr lang="en-US" altLang="zh-CN" sz="2800" b="1" kern="1200" dirty="0">
                        <a:solidFill>
                          <a:srgbClr val="7030A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algn="ctr"/>
                      <a:r>
                        <a:rPr lang="en-US" altLang="zh-CN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『</a:t>
                      </a:r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商情預測</a:t>
                      </a:r>
                      <a:r>
                        <a:rPr lang="en-US" altLang="zh-CN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』</a:t>
                      </a:r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之應用</a:t>
                      </a:r>
                      <a:endParaRPr lang="zh-TW" altLang="en-US" sz="2800" b="1" kern="1200" dirty="0">
                        <a:solidFill>
                          <a:srgbClr val="7030A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機器學習，</a:t>
                      </a:r>
                      <a:endParaRPr lang="en-US" altLang="zh-TW" sz="28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algn="ctr"/>
                      <a:r>
                        <a:rPr lang="zh-TW" altLang="en-US" sz="28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深度學習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6385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526939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1412776"/>
            <a:ext cx="8867328" cy="5301207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effectLst/>
              </a:rPr>
              <a:t>範例</a:t>
            </a:r>
            <a:r>
              <a:rPr lang="en-US" altLang="zh-CN" sz="3600" b="1" dirty="0">
                <a:effectLst/>
              </a:rPr>
              <a:t>3</a:t>
            </a:r>
            <a:r>
              <a:rPr lang="zh-CN" altLang="en-US" sz="3600" b="1" dirty="0">
                <a:effectLst/>
              </a:rPr>
              <a:t>：</a:t>
            </a:r>
            <a:r>
              <a:rPr lang="zh-CN" altLang="en-US" sz="3600" b="1" dirty="0">
                <a:solidFill>
                  <a:srgbClr val="7030A0"/>
                </a:solidFill>
                <a:effectLst/>
              </a:rPr>
              <a:t>房價預測分析</a:t>
            </a:r>
            <a:endParaRPr lang="en-US" altLang="zh-CN" sz="3600" b="1" dirty="0">
              <a:solidFill>
                <a:srgbClr val="7030A0"/>
              </a:solidFill>
              <a:effectLst/>
            </a:endParaRPr>
          </a:p>
          <a:p>
            <a:pPr lvl="1"/>
            <a:r>
              <a:rPr lang="zh-CN" altLang="en-US" sz="4000" b="1" dirty="0">
                <a:effectLst/>
              </a:rPr>
              <a:t>分析報告：</a:t>
            </a:r>
            <a:endParaRPr lang="en-US" altLang="zh-CN" sz="4000" b="1" dirty="0">
              <a:effectLst/>
            </a:endParaRPr>
          </a:p>
          <a:p>
            <a:pPr lvl="1"/>
            <a:r>
              <a:rPr lang="en-US" altLang="zh-CN" sz="1800" b="1" dirty="0">
                <a:effectLst/>
                <a:hlinkClick r:id="rId2"/>
              </a:rPr>
              <a:t>https://colab.research.google.com/drive/1WhvTGxZmIJoMZlZWe1xiAvtX7-CVjbp5?usp=sharing#scrollTo=PBVhChI38SMu</a:t>
            </a:r>
            <a:endParaRPr lang="en-US" altLang="zh-CN" sz="1800" b="1" dirty="0">
              <a:effectLst/>
            </a:endParaRPr>
          </a:p>
          <a:p>
            <a:pPr lvl="1"/>
            <a:r>
              <a:rPr lang="zh-CN" altLang="en-US" sz="4000" b="1" dirty="0">
                <a:effectLst/>
              </a:rPr>
              <a:t>預測結果：</a:t>
            </a:r>
            <a:endParaRPr lang="zh-TW" altLang="en-US" sz="4000" b="1" dirty="0">
              <a:effectLst/>
            </a:endParaRPr>
          </a:p>
          <a:p>
            <a:pPr lvl="1"/>
            <a:endParaRPr lang="en-US" altLang="zh-CN" sz="3200" b="1" dirty="0">
              <a:effectLst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zh-CN" altLang="en-US" sz="5400" b="1" dirty="0">
                <a:latin typeface="+mn-lt"/>
                <a:ea typeface="+mn-ea"/>
                <a:cs typeface="+mn-cs"/>
              </a:rPr>
              <a:t>進階資料分析</a:t>
            </a:r>
            <a:br>
              <a:rPr lang="en-US" altLang="zh-CN" sz="5400" b="1" dirty="0">
                <a:latin typeface="+mn-lt"/>
                <a:ea typeface="+mn-ea"/>
                <a:cs typeface="+mn-cs"/>
              </a:rPr>
            </a:br>
            <a:r>
              <a:rPr lang="zh-CN" altLang="en-US" sz="5400" b="1" dirty="0">
                <a:latin typeface="+mn-lt"/>
                <a:ea typeface="+mn-ea"/>
                <a:cs typeface="+mn-cs"/>
              </a:rPr>
              <a:t>課程的產出</a:t>
            </a:r>
            <a:endParaRPr lang="zh-TW" altLang="en-US" sz="5400" b="1" dirty="0">
              <a:latin typeface="+mn-lt"/>
              <a:ea typeface="+mn-ea"/>
              <a:cs typeface="+mn-cs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D0F564D-A30C-45AA-9D5A-B3EA0D1A6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571" y="4191727"/>
            <a:ext cx="8542857" cy="26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77344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2701482"/>
            <a:ext cx="8867328" cy="4156517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effectLst/>
              </a:rPr>
              <a:t>範例</a:t>
            </a:r>
            <a:r>
              <a:rPr lang="en-US" altLang="zh-CN" sz="3600" b="1" dirty="0">
                <a:effectLst/>
              </a:rPr>
              <a:t>4</a:t>
            </a:r>
            <a:r>
              <a:rPr lang="zh-CN" altLang="en-US" sz="3600" b="1" dirty="0">
                <a:effectLst/>
              </a:rPr>
              <a:t>：</a:t>
            </a:r>
            <a:r>
              <a:rPr lang="zh-CN" altLang="en-US" sz="3600" b="1" dirty="0">
                <a:solidFill>
                  <a:srgbClr val="7030A0"/>
                </a:solidFill>
                <a:effectLst/>
              </a:rPr>
              <a:t>信用卡盜刷詐欺預測分析</a:t>
            </a:r>
            <a:endParaRPr lang="en-US" altLang="zh-CN" sz="3600" b="1" dirty="0">
              <a:solidFill>
                <a:srgbClr val="7030A0"/>
              </a:solidFill>
              <a:effectLst/>
            </a:endParaRPr>
          </a:p>
          <a:p>
            <a:pPr lvl="1"/>
            <a:r>
              <a:rPr lang="zh-CN" altLang="en-US" sz="3200" b="1" dirty="0">
                <a:effectLst/>
              </a:rPr>
              <a:t>讀取業主：歐盟某公司</a:t>
            </a:r>
            <a:r>
              <a:rPr lang="en-US" altLang="zh-CN" sz="3200" b="1" dirty="0">
                <a:effectLst/>
              </a:rPr>
              <a:t>28</a:t>
            </a:r>
            <a:r>
              <a:rPr lang="zh-CN" altLang="en-US" sz="3200" b="1" dirty="0">
                <a:effectLst/>
              </a:rPr>
              <a:t>萬筆信用卡</a:t>
            </a:r>
            <a:r>
              <a:rPr lang="zh-TW" altLang="en-US" sz="3200" b="1" dirty="0">
                <a:effectLst/>
              </a:rPr>
              <a:t>資料表</a:t>
            </a:r>
          </a:p>
          <a:p>
            <a:pPr lvl="1"/>
            <a:r>
              <a:rPr lang="en-US" altLang="zh-TW" dirty="0">
                <a:effectLst/>
                <a:hlinkClick r:id="rId2"/>
              </a:rPr>
              <a:t>https://acupun.site/lecture/predict/example/resource/creditcard-chi.csv</a:t>
            </a:r>
            <a:endParaRPr lang="en-US" altLang="zh-TW" b="1" dirty="0">
              <a:effectLst/>
            </a:endParaRPr>
          </a:p>
          <a:p>
            <a:pPr lvl="1"/>
            <a:r>
              <a:rPr lang="zh-TW" altLang="en-US" b="1" dirty="0">
                <a:effectLst/>
                <a:highlight>
                  <a:srgbClr val="FFFF00"/>
                </a:highlight>
              </a:rPr>
              <a:t>請做預測</a:t>
            </a:r>
            <a:r>
              <a:rPr lang="zh-TW" altLang="en-US" b="1" dirty="0">
                <a:effectLst/>
              </a:rPr>
              <a:t>，歐洲信用卡公司，當</a:t>
            </a:r>
            <a:r>
              <a:rPr lang="en-US" altLang="zh-TW" b="1" dirty="0">
                <a:effectLst/>
              </a:rPr>
              <a:t>A</a:t>
            </a:r>
            <a:r>
              <a:rPr lang="zh-TW" altLang="en-US" b="1" dirty="0">
                <a:effectLst/>
              </a:rPr>
              <a:t>客戶的</a:t>
            </a:r>
            <a:r>
              <a:rPr lang="en-US" altLang="zh-TW" b="1" dirty="0">
                <a:effectLst/>
              </a:rPr>
              <a:t>29</a:t>
            </a:r>
            <a:r>
              <a:rPr lang="zh-TW" altLang="en-US" b="1" dirty="0">
                <a:effectLst/>
              </a:rPr>
              <a:t>個特徵值是：</a:t>
            </a:r>
            <a:r>
              <a:rPr lang="en-US" altLang="zh-TW" b="1" dirty="0">
                <a:effectLst/>
              </a:rPr>
              <a:t>【v1,v2,v3,v4,v5.....】=【 Female</a:t>
            </a:r>
            <a:r>
              <a:rPr lang="zh-TW" altLang="en-US" b="1" dirty="0">
                <a:effectLst/>
              </a:rPr>
              <a:t>，</a:t>
            </a:r>
            <a:r>
              <a:rPr lang="en-US" altLang="zh-TW" b="1" dirty="0">
                <a:effectLst/>
              </a:rPr>
              <a:t>0</a:t>
            </a:r>
            <a:r>
              <a:rPr lang="zh-TW" altLang="en-US" b="1" dirty="0">
                <a:effectLst/>
              </a:rPr>
              <a:t>，</a:t>
            </a:r>
            <a:r>
              <a:rPr lang="en-US" altLang="zh-TW" b="1" dirty="0">
                <a:effectLst/>
              </a:rPr>
              <a:t>Yes</a:t>
            </a:r>
            <a:r>
              <a:rPr lang="zh-TW" altLang="en-US" b="1" dirty="0">
                <a:effectLst/>
              </a:rPr>
              <a:t>，</a:t>
            </a:r>
            <a:r>
              <a:rPr lang="en-US" altLang="zh-TW" b="1" dirty="0">
                <a:effectLst/>
              </a:rPr>
              <a:t>No</a:t>
            </a:r>
            <a:r>
              <a:rPr lang="zh-TW" altLang="en-US" b="1" dirty="0">
                <a:effectLst/>
              </a:rPr>
              <a:t>，</a:t>
            </a:r>
            <a:r>
              <a:rPr lang="en-US" altLang="zh-TW" b="1" dirty="0">
                <a:effectLst/>
              </a:rPr>
              <a:t>1</a:t>
            </a:r>
            <a:r>
              <a:rPr lang="zh-TW" altLang="en-US" b="1" dirty="0">
                <a:effectLst/>
              </a:rPr>
              <a:t>， </a:t>
            </a:r>
            <a:r>
              <a:rPr lang="en-US" altLang="zh-TW" b="1" dirty="0">
                <a:effectLst/>
              </a:rPr>
              <a:t>No.....】</a:t>
            </a:r>
            <a:r>
              <a:rPr lang="zh-TW" altLang="en-US" b="1" dirty="0">
                <a:effectLst/>
              </a:rPr>
              <a:t>，</a:t>
            </a:r>
          </a:p>
          <a:p>
            <a:pPr lvl="1"/>
            <a:r>
              <a:rPr lang="zh-TW" altLang="en-US" b="1" dirty="0">
                <a:effectLst/>
                <a:highlight>
                  <a:srgbClr val="FFFF00"/>
                </a:highlight>
              </a:rPr>
              <a:t>請問</a:t>
            </a:r>
            <a:r>
              <a:rPr lang="en-US" altLang="zh-TW" b="1" dirty="0">
                <a:effectLst/>
                <a:highlight>
                  <a:srgbClr val="FFFF00"/>
                </a:highlight>
              </a:rPr>
              <a:t>A</a:t>
            </a:r>
            <a:r>
              <a:rPr lang="zh-TW" altLang="en-US" b="1" dirty="0">
                <a:effectLst/>
                <a:highlight>
                  <a:srgbClr val="FFFF00"/>
                </a:highlight>
              </a:rPr>
              <a:t>客戶是否會盜刷詐欺信用卡？</a:t>
            </a:r>
          </a:p>
          <a:p>
            <a:pPr lvl="1"/>
            <a:endParaRPr lang="en-US" altLang="zh-CN" sz="3200" b="1" dirty="0">
              <a:effectLst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zh-CN" altLang="en-US" sz="5400" b="1" dirty="0">
                <a:latin typeface="+mn-lt"/>
                <a:ea typeface="+mn-ea"/>
                <a:cs typeface="+mn-cs"/>
              </a:rPr>
              <a:t>進階資料分析</a:t>
            </a:r>
            <a:br>
              <a:rPr lang="en-US" altLang="zh-CN" sz="5400" b="1" dirty="0">
                <a:latin typeface="+mn-lt"/>
                <a:ea typeface="+mn-ea"/>
                <a:cs typeface="+mn-cs"/>
              </a:rPr>
            </a:br>
            <a:r>
              <a:rPr lang="zh-CN" altLang="en-US" sz="5400" b="1" dirty="0">
                <a:latin typeface="+mn-lt"/>
                <a:ea typeface="+mn-ea"/>
                <a:cs typeface="+mn-cs"/>
              </a:rPr>
              <a:t>課程的產出</a:t>
            </a:r>
            <a:endParaRPr lang="zh-TW" altLang="en-US" sz="5400" b="1" dirty="0">
              <a:latin typeface="+mn-lt"/>
              <a:ea typeface="+mn-ea"/>
              <a:cs typeface="+mn-cs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7CC2817-5164-41CE-97DC-3A7BF7A0BEBA}"/>
              </a:ext>
            </a:extLst>
          </p:cNvPr>
          <p:cNvGraphicFramePr>
            <a:graphicFrameLocks noGrp="1"/>
          </p:cNvGraphicFramePr>
          <p:nvPr/>
        </p:nvGraphicFramePr>
        <p:xfrm>
          <a:off x="0" y="1422222"/>
          <a:ext cx="9130644" cy="10055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8147">
                  <a:extLst>
                    <a:ext uri="{9D8B030D-6E8A-4147-A177-3AD203B41FA5}">
                      <a16:colId xmlns:a16="http://schemas.microsoft.com/office/drawing/2014/main" val="4099667512"/>
                    </a:ext>
                  </a:extLst>
                </a:gridCol>
                <a:gridCol w="4278949">
                  <a:extLst>
                    <a:ext uri="{9D8B030D-6E8A-4147-A177-3AD203B41FA5}">
                      <a16:colId xmlns:a16="http://schemas.microsoft.com/office/drawing/2014/main" val="351453049"/>
                    </a:ext>
                  </a:extLst>
                </a:gridCol>
                <a:gridCol w="3043548">
                  <a:extLst>
                    <a:ext uri="{9D8B030D-6E8A-4147-A177-3AD203B41FA5}">
                      <a16:colId xmlns:a16="http://schemas.microsoft.com/office/drawing/2014/main" val="256073419"/>
                    </a:ext>
                  </a:extLst>
                </a:gridCol>
              </a:tblGrid>
              <a:tr h="100553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三上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人工智慧跨域</a:t>
                      </a:r>
                      <a:endParaRPr lang="en-US" altLang="zh-CN" sz="2800" b="1" kern="1200" dirty="0">
                        <a:solidFill>
                          <a:srgbClr val="7030A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algn="ctr"/>
                      <a:r>
                        <a:rPr lang="en-US" altLang="zh-CN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『</a:t>
                      </a:r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商情預測</a:t>
                      </a:r>
                      <a:r>
                        <a:rPr lang="en-US" altLang="zh-CN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』</a:t>
                      </a:r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之應用</a:t>
                      </a:r>
                      <a:endParaRPr lang="zh-TW" altLang="en-US" sz="2800" b="1" kern="1200" dirty="0">
                        <a:solidFill>
                          <a:srgbClr val="7030A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機器學習，</a:t>
                      </a:r>
                      <a:endParaRPr lang="en-US" altLang="zh-TW" sz="28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algn="ctr"/>
                      <a:r>
                        <a:rPr lang="zh-TW" altLang="en-US" sz="28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深度學習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6385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855957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1556792"/>
            <a:ext cx="8867328" cy="5301207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effectLst/>
              </a:rPr>
              <a:t>範例</a:t>
            </a:r>
            <a:r>
              <a:rPr lang="en-US" altLang="zh-CN" sz="3600" b="1" dirty="0">
                <a:effectLst/>
              </a:rPr>
              <a:t>4</a:t>
            </a:r>
            <a:r>
              <a:rPr lang="zh-CN" altLang="en-US" sz="3600" b="1" dirty="0">
                <a:effectLst/>
              </a:rPr>
              <a:t>：</a:t>
            </a:r>
            <a:r>
              <a:rPr lang="zh-CN" altLang="en-US" sz="3600" b="1" dirty="0">
                <a:solidFill>
                  <a:srgbClr val="7030A0"/>
                </a:solidFill>
                <a:effectLst/>
              </a:rPr>
              <a:t>信用卡盜刷詐欺預測分析</a:t>
            </a:r>
            <a:endParaRPr lang="en-US" altLang="zh-CN" sz="3600" b="1" dirty="0">
              <a:solidFill>
                <a:srgbClr val="7030A0"/>
              </a:solidFill>
              <a:effectLst/>
            </a:endParaRPr>
          </a:p>
          <a:p>
            <a:pPr lvl="1"/>
            <a:r>
              <a:rPr lang="zh-CN" altLang="en-US" sz="3600" b="1" dirty="0">
                <a:effectLst/>
              </a:rPr>
              <a:t>分析報告：</a:t>
            </a:r>
            <a:endParaRPr lang="en-US" altLang="zh-CN" sz="3600" b="1" dirty="0">
              <a:effectLst/>
            </a:endParaRPr>
          </a:p>
          <a:p>
            <a:pPr lvl="1"/>
            <a:r>
              <a:rPr lang="en-US" altLang="zh-CN" sz="2000" b="1" dirty="0">
                <a:effectLst/>
                <a:hlinkClick r:id="rId2"/>
              </a:rPr>
              <a:t>https://colab.research.google.com/drive/1a0ik0XQDONem_kfd_OhMktlXHlIJlZVf?usp=sharing#scrollTo=PBVhChI38SMu</a:t>
            </a:r>
            <a:endParaRPr lang="en-US" altLang="zh-CN" sz="2000" b="1" dirty="0">
              <a:effectLst/>
            </a:endParaRPr>
          </a:p>
          <a:p>
            <a:pPr lvl="1"/>
            <a:r>
              <a:rPr lang="zh-CN" altLang="en-US" sz="3600" b="1" dirty="0">
                <a:effectLst/>
              </a:rPr>
              <a:t>預測結果：</a:t>
            </a:r>
            <a:endParaRPr lang="zh-TW" altLang="en-US" sz="3600" b="1" dirty="0">
              <a:effectLst/>
            </a:endParaRPr>
          </a:p>
          <a:p>
            <a:pPr lvl="1"/>
            <a:endParaRPr lang="en-US" altLang="zh-CN" sz="3200" b="1" dirty="0">
              <a:effectLst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zh-CN" altLang="en-US" sz="5400" b="1" dirty="0">
                <a:latin typeface="+mn-lt"/>
                <a:ea typeface="+mn-ea"/>
                <a:cs typeface="+mn-cs"/>
              </a:rPr>
              <a:t>進階資料分析</a:t>
            </a:r>
            <a:br>
              <a:rPr lang="en-US" altLang="zh-CN" sz="5400" b="1" dirty="0">
                <a:latin typeface="+mn-lt"/>
                <a:ea typeface="+mn-ea"/>
                <a:cs typeface="+mn-cs"/>
              </a:rPr>
            </a:br>
            <a:r>
              <a:rPr lang="zh-CN" altLang="en-US" sz="5400" b="1" dirty="0">
                <a:latin typeface="+mn-lt"/>
                <a:ea typeface="+mn-ea"/>
                <a:cs typeface="+mn-cs"/>
              </a:rPr>
              <a:t>課程的產出</a:t>
            </a:r>
            <a:endParaRPr lang="zh-TW" altLang="en-US" sz="5400" b="1" dirty="0">
              <a:latin typeface="+mn-lt"/>
              <a:ea typeface="+mn-ea"/>
              <a:cs typeface="+mn-cs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6F49B75-6741-44AE-917A-35AB38F637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952" y="2915124"/>
            <a:ext cx="4114286" cy="37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14443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1556792"/>
            <a:ext cx="8867328" cy="5301207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effectLst/>
              </a:rPr>
              <a:t>範例</a:t>
            </a:r>
            <a:r>
              <a:rPr lang="en-US" altLang="zh-CN" sz="3600" b="1" dirty="0">
                <a:effectLst/>
              </a:rPr>
              <a:t>4</a:t>
            </a:r>
            <a:r>
              <a:rPr lang="zh-CN" altLang="en-US" sz="3600" b="1" dirty="0">
                <a:effectLst/>
              </a:rPr>
              <a:t>：</a:t>
            </a:r>
            <a:r>
              <a:rPr lang="zh-CN" altLang="en-US" sz="3600" b="1" dirty="0">
                <a:solidFill>
                  <a:srgbClr val="7030A0"/>
                </a:solidFill>
                <a:effectLst/>
              </a:rPr>
              <a:t>信用卡盜刷詐欺預測分析</a:t>
            </a:r>
            <a:endParaRPr lang="en-US" altLang="zh-CN" sz="3600" b="1" dirty="0">
              <a:solidFill>
                <a:srgbClr val="7030A0"/>
              </a:solidFill>
              <a:effectLst/>
            </a:endParaRPr>
          </a:p>
          <a:p>
            <a:pPr lvl="1"/>
            <a:r>
              <a:rPr lang="zh-CN" altLang="en-US" sz="3600" b="1" dirty="0">
                <a:effectLst/>
                <a:highlight>
                  <a:srgbClr val="FFFF00"/>
                </a:highlight>
              </a:rPr>
              <a:t>你預測的準不準確呢？</a:t>
            </a:r>
            <a:endParaRPr lang="en-US" altLang="zh-CN" sz="3600" b="1" dirty="0">
              <a:effectLst/>
              <a:highlight>
                <a:srgbClr val="FFFF00"/>
              </a:highlight>
            </a:endParaRPr>
          </a:p>
          <a:p>
            <a:pPr lvl="1"/>
            <a:r>
              <a:rPr lang="zh-CN" altLang="en-US" sz="3600" b="1" dirty="0">
                <a:effectLst/>
              </a:rPr>
              <a:t>計算所建立的</a:t>
            </a:r>
            <a:r>
              <a:rPr lang="en-US" altLang="zh-CN" sz="3600" b="1" dirty="0">
                <a:effectLst/>
              </a:rPr>
              <a:t>AI</a:t>
            </a:r>
            <a:r>
              <a:rPr lang="zh-CN" altLang="en-US" sz="3600" b="1" dirty="0">
                <a:effectLst/>
              </a:rPr>
              <a:t>模型整體準確率：</a:t>
            </a:r>
            <a:endParaRPr lang="zh-TW" altLang="en-US" sz="3600" b="1" dirty="0">
              <a:effectLst/>
            </a:endParaRPr>
          </a:p>
          <a:p>
            <a:pPr lvl="1"/>
            <a:endParaRPr lang="en-US" altLang="zh-CN" sz="3200" b="1" dirty="0">
              <a:effectLst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zh-CN" altLang="en-US" sz="5400" b="1" dirty="0">
                <a:latin typeface="+mn-lt"/>
                <a:ea typeface="+mn-ea"/>
                <a:cs typeface="+mn-cs"/>
              </a:rPr>
              <a:t>進階資料分析</a:t>
            </a:r>
            <a:br>
              <a:rPr lang="en-US" altLang="zh-CN" sz="5400" b="1" dirty="0">
                <a:latin typeface="+mn-lt"/>
                <a:ea typeface="+mn-ea"/>
                <a:cs typeface="+mn-cs"/>
              </a:rPr>
            </a:br>
            <a:r>
              <a:rPr lang="zh-CN" altLang="en-US" sz="5400" b="1" dirty="0">
                <a:latin typeface="+mn-lt"/>
                <a:ea typeface="+mn-ea"/>
                <a:cs typeface="+mn-cs"/>
              </a:rPr>
              <a:t>課程的產出</a:t>
            </a:r>
            <a:endParaRPr lang="zh-TW" altLang="en-US" sz="5400" b="1" dirty="0">
              <a:latin typeface="+mn-lt"/>
              <a:ea typeface="+mn-ea"/>
              <a:cs typeface="+mn-cs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3CEFF5-896F-43C7-891A-7B764E6A8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386" y="4005064"/>
            <a:ext cx="8238095" cy="21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73046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5536" y="548680"/>
            <a:ext cx="8496944" cy="5544616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lang="zh-CN" altLang="en-US" sz="6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你有沒有辦法？</a:t>
            </a:r>
            <a:endParaRPr lang="en-US" altLang="zh-CN" sz="6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zh-CN" altLang="en-US" sz="6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當拿到任何的商業資料集</a:t>
            </a:r>
            <a:endParaRPr lang="en-US" altLang="zh-CN" sz="6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CN" altLang="en-US" sz="6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都有能力做出</a:t>
            </a:r>
            <a:endParaRPr lang="en-US" altLang="zh-CN" sz="6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CN" sz="6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CN" sz="6000" b="1" dirty="0">
                <a:solidFill>
                  <a:srgbClr val="7030A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1.</a:t>
            </a:r>
            <a:r>
              <a:rPr lang="zh-CN" altLang="en-US" sz="6000" b="1" dirty="0">
                <a:solidFill>
                  <a:srgbClr val="7030A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基礎數據分析報告</a:t>
            </a:r>
            <a:endParaRPr lang="en-US" altLang="zh-CN" sz="6000" b="1" dirty="0">
              <a:solidFill>
                <a:srgbClr val="7030A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CN" sz="6000" b="1" dirty="0">
                <a:solidFill>
                  <a:srgbClr val="7030A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2.</a:t>
            </a:r>
            <a:r>
              <a:rPr lang="zh-CN" altLang="en-US" sz="6000" b="1" dirty="0">
                <a:solidFill>
                  <a:srgbClr val="7030A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進階預測分析報告</a:t>
            </a:r>
            <a:endParaRPr lang="en-US" altLang="zh-CN" sz="6000" b="1" dirty="0">
              <a:solidFill>
                <a:srgbClr val="7030A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3047647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5088" y="2132856"/>
            <a:ext cx="8208912" cy="2592288"/>
          </a:xfrm>
        </p:spPr>
        <p:txBody>
          <a:bodyPr vert="horz" rtlCol="0">
            <a:normAutofit/>
          </a:bodyPr>
          <a:lstStyle/>
          <a:p>
            <a:pPr marL="0" indent="0" algn="ctr">
              <a:buNone/>
            </a:pPr>
            <a:r>
              <a:rPr lang="zh-CN" altLang="en-US" sz="5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如何學好商業數據分析？</a:t>
            </a:r>
            <a:endParaRPr lang="en-US" altLang="zh-CN" sz="5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 algn="ctr">
              <a:buNone/>
            </a:pPr>
            <a:r>
              <a:rPr lang="zh-CN" altLang="en-US" sz="5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教科書</a:t>
            </a:r>
            <a:r>
              <a:rPr lang="en-US" altLang="zh-CN" sz="5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75914234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A58D250-C1FB-4A5B-BD1C-2FCA52471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 fontScale="70000" lnSpcReduction="20000"/>
          </a:bodyPr>
          <a:lstStyle/>
          <a:p>
            <a:r>
              <a:rPr lang="zh-TW" altLang="en-US" sz="4000" b="1" dirty="0"/>
              <a:t>（</a:t>
            </a:r>
            <a:r>
              <a:rPr lang="en-US" altLang="zh-CN" sz="4000" b="1" dirty="0"/>
              <a:t>1</a:t>
            </a:r>
            <a:r>
              <a:rPr lang="zh-TW" altLang="en-US" sz="4000" b="1" dirty="0"/>
              <a:t>）</a:t>
            </a:r>
            <a:r>
              <a:rPr lang="zh-TW" altLang="en-US" sz="4000" b="1" dirty="0">
                <a:solidFill>
                  <a:srgbClr val="C00000"/>
                </a:solidFill>
              </a:rPr>
              <a:t>資訊科系</a:t>
            </a:r>
            <a:r>
              <a:rPr lang="zh-TW" altLang="en-US" sz="4000" b="1" dirty="0"/>
              <a:t>的方式：</a:t>
            </a:r>
            <a:endParaRPr lang="en-US" altLang="zh-TW" sz="4000" b="1" dirty="0"/>
          </a:p>
          <a:p>
            <a:pPr lvl="1"/>
            <a:r>
              <a:rPr lang="zh-CN" altLang="en-US" sz="3600" b="1" dirty="0"/>
              <a:t>教科書：</a:t>
            </a:r>
            <a:r>
              <a:rPr lang="en-US" altLang="zh-TW" sz="3600" b="1" dirty="0"/>
              <a:t>Python</a:t>
            </a:r>
            <a:r>
              <a:rPr lang="zh-TW" altLang="en-US" sz="3600" b="1" dirty="0"/>
              <a:t>大數據特訓班：資料自動化收集、整理、清洗、儲存、分析與應用實戰</a:t>
            </a:r>
          </a:p>
          <a:p>
            <a:pPr lvl="1"/>
            <a:r>
              <a:rPr lang="en-US" altLang="zh-CN" sz="3600" b="1" dirty="0">
                <a:hlinkClick r:id="rId2"/>
              </a:rPr>
              <a:t>https://www.books.com.tw/products/0010859289?sloc=main</a:t>
            </a:r>
            <a:endParaRPr lang="en-US" altLang="zh-CN" sz="3600" b="1" dirty="0"/>
          </a:p>
          <a:p>
            <a:pPr marL="0" indent="0">
              <a:buNone/>
            </a:pPr>
            <a:endParaRPr lang="zh-TW" altLang="en-US" sz="4000" dirty="0"/>
          </a:p>
          <a:p>
            <a:r>
              <a:rPr lang="zh-TW" altLang="en-US" sz="4000" b="1" dirty="0"/>
              <a:t>（</a:t>
            </a:r>
            <a:r>
              <a:rPr lang="en-US" altLang="zh-CN" sz="4000" b="1" dirty="0"/>
              <a:t>2</a:t>
            </a:r>
            <a:r>
              <a:rPr lang="zh-TW" altLang="en-US" sz="4000" b="1" dirty="0"/>
              <a:t>）</a:t>
            </a:r>
            <a:r>
              <a:rPr lang="zh-CN" altLang="en-US" sz="4000" b="1" dirty="0">
                <a:solidFill>
                  <a:srgbClr val="C00000"/>
                </a:solidFill>
              </a:rPr>
              <a:t>專精</a:t>
            </a:r>
            <a:r>
              <a:rPr lang="en-US" altLang="zh-CN" sz="4000" b="1" dirty="0">
                <a:solidFill>
                  <a:srgbClr val="C00000"/>
                </a:solidFill>
              </a:rPr>
              <a:t>pandas</a:t>
            </a:r>
            <a:r>
              <a:rPr lang="zh-TW" altLang="en-US" sz="4000" b="1" dirty="0">
                <a:solidFill>
                  <a:srgbClr val="C00000"/>
                </a:solidFill>
              </a:rPr>
              <a:t>方式</a:t>
            </a:r>
            <a:r>
              <a:rPr lang="zh-TW" altLang="en-US" sz="4000" b="1" dirty="0"/>
              <a:t>：</a:t>
            </a:r>
            <a:endParaRPr lang="en-US" altLang="zh-TW" sz="4000" b="1" dirty="0"/>
          </a:p>
          <a:p>
            <a:pPr lvl="1"/>
            <a:r>
              <a:rPr lang="zh-CN" altLang="en-US" sz="3600" b="1" dirty="0"/>
              <a:t>教科書：</a:t>
            </a:r>
            <a:r>
              <a:rPr lang="zh-TW" altLang="en-US" sz="3600" b="1" dirty="0"/>
              <a:t>一行指令學</a:t>
            </a:r>
            <a:r>
              <a:rPr lang="en-US" altLang="zh-TW" sz="3600" b="1" dirty="0"/>
              <a:t>Python</a:t>
            </a:r>
            <a:r>
              <a:rPr lang="zh-TW" altLang="en-US" sz="3600" b="1" dirty="0"/>
              <a:t>－用</a:t>
            </a:r>
            <a:r>
              <a:rPr lang="en-US" altLang="zh-TW" sz="3600" b="1" dirty="0"/>
              <a:t>Pandas</a:t>
            </a:r>
            <a:r>
              <a:rPr lang="zh-TW" altLang="en-US" sz="3600" b="1" dirty="0"/>
              <a:t>掌握商務大數據分析</a:t>
            </a:r>
          </a:p>
          <a:p>
            <a:pPr lvl="1"/>
            <a:r>
              <a:rPr lang="en-US" altLang="zh-TW" sz="3600" b="1" dirty="0">
                <a:hlinkClick r:id="rId3"/>
              </a:rPr>
              <a:t>https://www.books.com.tw/products/0010921275?loc=M_br_r0vq68ygz_D_2aabd0_B_1</a:t>
            </a:r>
            <a:endParaRPr lang="en-US" altLang="zh-TW" sz="3600" b="1" dirty="0"/>
          </a:p>
          <a:p>
            <a:pPr lvl="1"/>
            <a:endParaRPr lang="zh-TW" altLang="en-US" sz="3600" b="1" dirty="0"/>
          </a:p>
          <a:p>
            <a:pPr lvl="1"/>
            <a:endParaRPr lang="en-US" altLang="zh-TW" sz="3600" b="1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B0C77A1-4805-41EE-A19C-53B5F1AA4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CN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python</a:t>
            </a:r>
            <a:r>
              <a:rPr lang="zh-CN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分析數據</a:t>
            </a: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種方式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7AA1F4B-3BA1-4BAC-AE67-951290CD3A11}"/>
              </a:ext>
            </a:extLst>
          </p:cNvPr>
          <p:cNvSpPr/>
          <p:nvPr/>
        </p:nvSpPr>
        <p:spPr>
          <a:xfrm>
            <a:off x="23486" y="3455568"/>
            <a:ext cx="898975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6600" b="1" dirty="0">
                <a:solidFill>
                  <a:srgbClr val="FF0000"/>
                </a:solidFill>
                <a:latin typeface="arial" panose="020B0604020202020204" pitchFamily="34" charset="0"/>
              </a:rPr>
              <a:t>✓</a:t>
            </a:r>
            <a:endParaRPr lang="zh-TW" altLang="en-US" sz="6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364876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A58D250-C1FB-4A5B-BD1C-2FCA52471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/>
          </a:bodyPr>
          <a:lstStyle/>
          <a:p>
            <a:r>
              <a:rPr lang="zh-TW" altLang="en-US" sz="4000" b="1" dirty="0"/>
              <a:t>（</a:t>
            </a:r>
            <a:r>
              <a:rPr lang="en-US" altLang="zh-CN" sz="4000" b="1" dirty="0"/>
              <a:t>1</a:t>
            </a:r>
            <a:r>
              <a:rPr lang="zh-TW" altLang="en-US" sz="4000" b="1" dirty="0"/>
              <a:t>）</a:t>
            </a:r>
            <a:r>
              <a:rPr lang="zh-CN" altLang="en-US" sz="4000" b="1" dirty="0"/>
              <a:t>進階書籍</a:t>
            </a:r>
            <a:r>
              <a:rPr lang="en-US" altLang="zh-CN" sz="4000" b="1" dirty="0"/>
              <a:t>1</a:t>
            </a:r>
            <a:r>
              <a:rPr lang="zh-TW" altLang="en-US" sz="4000" b="1" dirty="0"/>
              <a:t>：</a:t>
            </a:r>
            <a:endParaRPr lang="en-US" altLang="zh-TW" sz="4000" b="1" dirty="0"/>
          </a:p>
          <a:p>
            <a:pPr lvl="1"/>
            <a:r>
              <a:rPr lang="zh-CN" altLang="en-US" sz="3600" b="1" dirty="0"/>
              <a:t>參考書：</a:t>
            </a:r>
            <a:r>
              <a:rPr lang="zh-TW" altLang="en-US" sz="3600" b="1" dirty="0"/>
              <a:t> </a:t>
            </a:r>
            <a:r>
              <a:rPr lang="en-US" altLang="zh-TW" sz="3600" b="1" dirty="0"/>
              <a:t>Python</a:t>
            </a:r>
            <a:r>
              <a:rPr lang="zh-TW" altLang="en-US" sz="3600" b="1" dirty="0"/>
              <a:t>商業數據分析：零售和電子商務案例</a:t>
            </a:r>
          </a:p>
          <a:p>
            <a:pPr lvl="1"/>
            <a:r>
              <a:rPr lang="en-US" altLang="zh-TW" sz="3600" b="1" dirty="0">
                <a:hlinkClick r:id="rId2"/>
              </a:rPr>
              <a:t>https://www.books.com.tw/products/CN11723157</a:t>
            </a:r>
            <a:endParaRPr lang="en-US" altLang="zh-TW" sz="3600" b="1" dirty="0"/>
          </a:p>
          <a:p>
            <a:pPr lvl="1"/>
            <a:endParaRPr lang="en-US" altLang="zh-TW" sz="3600" b="1" dirty="0"/>
          </a:p>
          <a:p>
            <a:pPr lvl="1"/>
            <a:endParaRPr lang="zh-TW" altLang="en-US" sz="3600" b="1" dirty="0"/>
          </a:p>
          <a:p>
            <a:pPr lvl="1"/>
            <a:endParaRPr lang="en-US" altLang="zh-TW" sz="3600" b="1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B0C77A1-4805-41EE-A19C-53B5F1AA4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數據分析</a:t>
            </a: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zh-CN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進階參考書</a:t>
            </a:r>
            <a:endParaRPr lang="zh-TW" altLang="en-US" sz="4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9967157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1640" y="2069604"/>
            <a:ext cx="7448872" cy="2718792"/>
          </a:xfrm>
        </p:spPr>
        <p:txBody>
          <a:bodyPr vert="horz" rtlCol="0">
            <a:normAutofit/>
          </a:bodyPr>
          <a:lstStyle/>
          <a:p>
            <a:r>
              <a:rPr lang="zh-CN" altLang="en-US" sz="5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本課程所要教學的章節</a:t>
            </a:r>
            <a:endParaRPr lang="en-US" altLang="zh-CN" sz="5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CN" altLang="en-US" sz="5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與進階參考章節</a:t>
            </a:r>
            <a:endParaRPr lang="en-US" altLang="zh-CN" sz="5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4126266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A58D250-C1FB-4A5B-BD1C-2FCA52471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5257800"/>
          </a:xfrm>
        </p:spPr>
        <p:txBody>
          <a:bodyPr>
            <a:normAutofit lnSpcReduction="10000"/>
          </a:bodyPr>
          <a:lstStyle/>
          <a:p>
            <a:r>
              <a:rPr lang="zh-CN" altLang="en-US" sz="2000" b="1" dirty="0"/>
              <a:t>章節</a:t>
            </a:r>
            <a:endParaRPr lang="en-US" altLang="zh-CN" sz="2000" b="1" dirty="0"/>
          </a:p>
          <a:p>
            <a:r>
              <a:rPr lang="zh-TW" altLang="en-US" sz="1800" b="1" dirty="0">
                <a:solidFill>
                  <a:srgbClr val="7030A0"/>
                </a:solidFill>
              </a:rPr>
              <a:t>第</a:t>
            </a:r>
            <a:r>
              <a:rPr lang="en-US" altLang="zh-TW" sz="1800" b="1" dirty="0">
                <a:solidFill>
                  <a:srgbClr val="7030A0"/>
                </a:solidFill>
              </a:rPr>
              <a:t>1</a:t>
            </a:r>
            <a:r>
              <a:rPr lang="zh-TW" altLang="en-US" sz="1800" b="1" dirty="0">
                <a:solidFill>
                  <a:srgbClr val="7030A0"/>
                </a:solidFill>
              </a:rPr>
              <a:t>章 數字與變數</a:t>
            </a:r>
          </a:p>
          <a:p>
            <a:r>
              <a:rPr lang="zh-TW" altLang="en-US" sz="1800" b="1" dirty="0">
                <a:solidFill>
                  <a:srgbClr val="7030A0"/>
                </a:solidFill>
              </a:rPr>
              <a:t>第</a:t>
            </a:r>
            <a:r>
              <a:rPr lang="en-US" altLang="zh-TW" sz="1800" b="1" dirty="0">
                <a:solidFill>
                  <a:srgbClr val="7030A0"/>
                </a:solidFill>
              </a:rPr>
              <a:t>2</a:t>
            </a:r>
            <a:r>
              <a:rPr lang="zh-TW" altLang="en-US" sz="1800" b="1" dirty="0">
                <a:solidFill>
                  <a:srgbClr val="7030A0"/>
                </a:solidFill>
              </a:rPr>
              <a:t>章 字串</a:t>
            </a:r>
          </a:p>
          <a:p>
            <a:r>
              <a:rPr lang="zh-TW" altLang="en-US" sz="1800" b="1" dirty="0">
                <a:solidFill>
                  <a:srgbClr val="7030A0"/>
                </a:solidFill>
              </a:rPr>
              <a:t>第</a:t>
            </a:r>
            <a:r>
              <a:rPr lang="en-US" altLang="zh-TW" sz="1800" b="1" dirty="0">
                <a:solidFill>
                  <a:srgbClr val="7030A0"/>
                </a:solidFill>
              </a:rPr>
              <a:t>3</a:t>
            </a:r>
            <a:r>
              <a:rPr lang="zh-TW" altLang="en-US" sz="1800" b="1" dirty="0">
                <a:solidFill>
                  <a:srgbClr val="7030A0"/>
                </a:solidFill>
              </a:rPr>
              <a:t>章 串列</a:t>
            </a:r>
          </a:p>
          <a:p>
            <a:r>
              <a:rPr lang="zh-TW" altLang="en-US" sz="1800" b="1" dirty="0">
                <a:solidFill>
                  <a:srgbClr val="7030A0"/>
                </a:solidFill>
              </a:rPr>
              <a:t>第</a:t>
            </a:r>
            <a:r>
              <a:rPr lang="en-US" altLang="zh-TW" sz="1800" b="1" dirty="0">
                <a:solidFill>
                  <a:srgbClr val="7030A0"/>
                </a:solidFill>
              </a:rPr>
              <a:t>4</a:t>
            </a:r>
            <a:r>
              <a:rPr lang="zh-TW" altLang="en-US" sz="1800" b="1" dirty="0">
                <a:solidFill>
                  <a:srgbClr val="7030A0"/>
                </a:solidFill>
              </a:rPr>
              <a:t>章 迴圈</a:t>
            </a:r>
          </a:p>
          <a:p>
            <a:r>
              <a:rPr lang="zh-TW" altLang="en-US" sz="1800" b="1" dirty="0">
                <a:solidFill>
                  <a:srgbClr val="7030A0"/>
                </a:solidFill>
              </a:rPr>
              <a:t>第</a:t>
            </a:r>
            <a:r>
              <a:rPr lang="en-US" altLang="zh-TW" sz="1800" b="1" dirty="0">
                <a:solidFill>
                  <a:srgbClr val="7030A0"/>
                </a:solidFill>
              </a:rPr>
              <a:t>5</a:t>
            </a:r>
            <a:r>
              <a:rPr lang="zh-TW" altLang="en-US" sz="1800" b="1" dirty="0">
                <a:solidFill>
                  <a:srgbClr val="7030A0"/>
                </a:solidFill>
              </a:rPr>
              <a:t>章 字典</a:t>
            </a:r>
          </a:p>
          <a:p>
            <a:r>
              <a:rPr lang="zh-TW" altLang="en-US" sz="1800" b="1" dirty="0">
                <a:solidFill>
                  <a:srgbClr val="7030A0"/>
                </a:solidFill>
              </a:rPr>
              <a:t>第</a:t>
            </a:r>
            <a:r>
              <a:rPr lang="en-US" altLang="zh-TW" sz="1800" b="1" dirty="0">
                <a:solidFill>
                  <a:srgbClr val="7030A0"/>
                </a:solidFill>
              </a:rPr>
              <a:t>6</a:t>
            </a:r>
            <a:r>
              <a:rPr lang="zh-TW" altLang="en-US" sz="1800" b="1" dirty="0">
                <a:solidFill>
                  <a:srgbClr val="7030A0"/>
                </a:solidFill>
              </a:rPr>
              <a:t>章 邏輯判斷</a:t>
            </a:r>
          </a:p>
          <a:p>
            <a:r>
              <a:rPr lang="zh-TW" altLang="en-US" sz="1800" b="1" dirty="0">
                <a:solidFill>
                  <a:srgbClr val="7030A0"/>
                </a:solidFill>
              </a:rPr>
              <a:t>第</a:t>
            </a:r>
            <a:r>
              <a:rPr lang="en-US" altLang="zh-TW" sz="1800" b="1" dirty="0">
                <a:solidFill>
                  <a:srgbClr val="7030A0"/>
                </a:solidFill>
              </a:rPr>
              <a:t>7</a:t>
            </a:r>
            <a:r>
              <a:rPr lang="zh-TW" altLang="en-US" sz="1800" b="1" dirty="0">
                <a:solidFill>
                  <a:srgbClr val="7030A0"/>
                </a:solidFill>
              </a:rPr>
              <a:t>章 </a:t>
            </a:r>
            <a:r>
              <a:rPr lang="en-US" altLang="zh-TW" sz="1800" b="1" dirty="0">
                <a:solidFill>
                  <a:srgbClr val="7030A0"/>
                </a:solidFill>
              </a:rPr>
              <a:t>Python</a:t>
            </a:r>
            <a:r>
              <a:rPr lang="zh-TW" altLang="en-US" sz="1800" b="1" dirty="0">
                <a:solidFill>
                  <a:srgbClr val="7030A0"/>
                </a:solidFill>
              </a:rPr>
              <a:t>的套件與模組</a:t>
            </a:r>
          </a:p>
          <a:p>
            <a:endParaRPr lang="zh-TW" altLang="en-US" sz="1800" b="1" dirty="0"/>
          </a:p>
          <a:p>
            <a:r>
              <a:rPr lang="zh-TW" altLang="en-US" sz="1800" b="1" dirty="0">
                <a:solidFill>
                  <a:srgbClr val="C00000"/>
                </a:solidFill>
              </a:rPr>
              <a:t>第</a:t>
            </a:r>
            <a:r>
              <a:rPr lang="en-US" altLang="zh-TW" sz="1800" b="1" dirty="0">
                <a:solidFill>
                  <a:srgbClr val="C00000"/>
                </a:solidFill>
              </a:rPr>
              <a:t>8</a:t>
            </a:r>
            <a:r>
              <a:rPr lang="zh-TW" altLang="en-US" sz="1800" b="1" dirty="0">
                <a:solidFill>
                  <a:srgbClr val="C00000"/>
                </a:solidFill>
              </a:rPr>
              <a:t>章 </a:t>
            </a:r>
            <a:r>
              <a:rPr lang="en-US" altLang="zh-TW" sz="1800" b="1" dirty="0">
                <a:solidFill>
                  <a:srgbClr val="C00000"/>
                </a:solidFill>
              </a:rPr>
              <a:t>pandas</a:t>
            </a:r>
            <a:r>
              <a:rPr lang="zh-TW" altLang="en-US" sz="1800" b="1" dirty="0">
                <a:solidFill>
                  <a:srgbClr val="C00000"/>
                </a:solidFill>
              </a:rPr>
              <a:t>套件</a:t>
            </a:r>
          </a:p>
          <a:p>
            <a:r>
              <a:rPr lang="zh-TW" altLang="en-US" sz="1800" b="1" dirty="0">
                <a:solidFill>
                  <a:srgbClr val="C00000"/>
                </a:solidFill>
              </a:rPr>
              <a:t>第</a:t>
            </a:r>
            <a:r>
              <a:rPr lang="en-US" altLang="zh-TW" sz="1800" b="1" dirty="0">
                <a:solidFill>
                  <a:srgbClr val="C00000"/>
                </a:solidFill>
              </a:rPr>
              <a:t>9</a:t>
            </a:r>
            <a:r>
              <a:rPr lang="zh-TW" altLang="en-US" sz="1800" b="1" dirty="0">
                <a:solidFill>
                  <a:srgbClr val="C00000"/>
                </a:solidFill>
              </a:rPr>
              <a:t>章 </a:t>
            </a:r>
            <a:r>
              <a:rPr lang="en-US" altLang="zh-TW" sz="1800" b="1" dirty="0">
                <a:solidFill>
                  <a:srgbClr val="C00000"/>
                </a:solidFill>
              </a:rPr>
              <a:t>pandas </a:t>
            </a:r>
            <a:r>
              <a:rPr lang="en-US" altLang="zh-TW" sz="1800" b="1" dirty="0" err="1">
                <a:solidFill>
                  <a:srgbClr val="C00000"/>
                </a:solidFill>
              </a:rPr>
              <a:t>DataFrame</a:t>
            </a:r>
            <a:r>
              <a:rPr lang="zh-TW" altLang="en-US" sz="1800" b="1" dirty="0">
                <a:solidFill>
                  <a:srgbClr val="C00000"/>
                </a:solidFill>
              </a:rPr>
              <a:t>介紹</a:t>
            </a:r>
          </a:p>
          <a:p>
            <a:r>
              <a:rPr lang="zh-TW" altLang="en-US" sz="1800" b="1" dirty="0">
                <a:solidFill>
                  <a:srgbClr val="C00000"/>
                </a:solidFill>
              </a:rPr>
              <a:t>第</a:t>
            </a:r>
            <a:r>
              <a:rPr lang="en-US" altLang="zh-TW" sz="1800" b="1" dirty="0">
                <a:solidFill>
                  <a:srgbClr val="C00000"/>
                </a:solidFill>
              </a:rPr>
              <a:t>10</a:t>
            </a:r>
            <a:r>
              <a:rPr lang="zh-TW" altLang="en-US" sz="1800" b="1" dirty="0">
                <a:solidFill>
                  <a:srgbClr val="C00000"/>
                </a:solidFill>
              </a:rPr>
              <a:t>章 </a:t>
            </a:r>
            <a:r>
              <a:rPr lang="en-US" altLang="zh-TW" sz="1800" b="1" dirty="0">
                <a:solidFill>
                  <a:srgbClr val="C00000"/>
                </a:solidFill>
              </a:rPr>
              <a:t>pandas── </a:t>
            </a:r>
            <a:r>
              <a:rPr lang="zh-TW" altLang="en-US" sz="1800" b="1" dirty="0">
                <a:solidFill>
                  <a:srgbClr val="C00000"/>
                </a:solidFill>
              </a:rPr>
              <a:t>繪圖</a:t>
            </a:r>
          </a:p>
          <a:p>
            <a:r>
              <a:rPr lang="zh-TW" altLang="en-US" sz="1800" b="1" dirty="0">
                <a:solidFill>
                  <a:srgbClr val="C00000"/>
                </a:solidFill>
              </a:rPr>
              <a:t>第</a:t>
            </a:r>
            <a:r>
              <a:rPr lang="en-US" altLang="zh-TW" sz="1800" b="1" dirty="0">
                <a:solidFill>
                  <a:srgbClr val="C00000"/>
                </a:solidFill>
              </a:rPr>
              <a:t>11</a:t>
            </a:r>
            <a:r>
              <a:rPr lang="zh-TW" altLang="en-US" sz="1800" b="1" dirty="0">
                <a:solidFill>
                  <a:srgbClr val="C00000"/>
                </a:solidFill>
              </a:rPr>
              <a:t>章 多層級索引鍵</a:t>
            </a:r>
          </a:p>
          <a:p>
            <a:r>
              <a:rPr lang="zh-TW" altLang="en-US" sz="1800" b="1" dirty="0">
                <a:solidFill>
                  <a:srgbClr val="C00000"/>
                </a:solidFill>
              </a:rPr>
              <a:t>第</a:t>
            </a:r>
            <a:r>
              <a:rPr lang="en-US" altLang="zh-TW" sz="1800" b="1" dirty="0">
                <a:solidFill>
                  <a:srgbClr val="C00000"/>
                </a:solidFill>
              </a:rPr>
              <a:t>17</a:t>
            </a:r>
            <a:r>
              <a:rPr lang="zh-TW" altLang="en-US" sz="1800" b="1" dirty="0">
                <a:solidFill>
                  <a:srgbClr val="C00000"/>
                </a:solidFill>
              </a:rPr>
              <a:t>章 </a:t>
            </a:r>
            <a:r>
              <a:rPr lang="en-US" altLang="zh-TW" sz="1800" b="1" dirty="0">
                <a:solidFill>
                  <a:srgbClr val="C00000"/>
                </a:solidFill>
              </a:rPr>
              <a:t>pandas──</a:t>
            </a:r>
            <a:r>
              <a:rPr lang="zh-TW" altLang="en-US" sz="1800" b="1" dirty="0">
                <a:solidFill>
                  <a:srgbClr val="C00000"/>
                </a:solidFill>
              </a:rPr>
              <a:t>字串處理</a:t>
            </a:r>
          </a:p>
          <a:p>
            <a:endParaRPr lang="en-US" altLang="zh-TW" sz="1800" b="1" dirty="0"/>
          </a:p>
          <a:p>
            <a:pPr lvl="1"/>
            <a:endParaRPr lang="zh-TW" altLang="en-US" sz="1800" b="1" dirty="0"/>
          </a:p>
          <a:p>
            <a:pPr lvl="1"/>
            <a:endParaRPr lang="en-US" altLang="zh-TW" sz="1800" b="1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B0C77A1-4805-41EE-A19C-53B5F1AA4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/>
            <a:r>
              <a:rPr lang="zh-CN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教科書：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一行指令學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Python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－用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Pandas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掌握商務大數據分析</a:t>
            </a:r>
          </a:p>
        </p:txBody>
      </p:sp>
      <p:sp>
        <p:nvSpPr>
          <p:cNvPr id="4" name="內容版面配置區 1">
            <a:extLst>
              <a:ext uri="{FF2B5EF4-FFF2-40B4-BE49-F238E27FC236}">
                <a16:creationId xmlns:a16="http://schemas.microsoft.com/office/drawing/2014/main" id="{D5F54572-A457-431D-BF93-73F77773F7DA}"/>
              </a:ext>
            </a:extLst>
          </p:cNvPr>
          <p:cNvSpPr txBox="1">
            <a:spLocks/>
          </p:cNvSpPr>
          <p:nvPr/>
        </p:nvSpPr>
        <p:spPr>
          <a:xfrm>
            <a:off x="4860032" y="1700808"/>
            <a:ext cx="4104456" cy="5257800"/>
          </a:xfrm>
          <a:prstGeom prst="rect">
            <a:avLst/>
          </a:prstGeom>
        </p:spPr>
        <p:txBody>
          <a:bodyPr vert="horz" rtlCol="0">
            <a:normAutofit/>
          </a:bodyPr>
          <a:lstStyle>
            <a:lvl1pPr marL="342900" indent="-342900" algn="l" rtl="0" eaLnBrk="1" latinLnBrk="0" hangingPunct="1">
              <a:spcBef>
                <a:spcPct val="20000"/>
              </a:spcBef>
              <a:spcAft>
                <a:spcPts val="400"/>
              </a:spcAft>
              <a:buFont typeface="Arial"/>
              <a:buChar char="•"/>
              <a:defRPr lang="zh-TW" sz="28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Font typeface="Arial"/>
              <a:buChar char="–"/>
              <a:defRPr lang="zh-TW" sz="24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Font typeface="Arial"/>
              <a:buChar char="–"/>
              <a:defRPr lang="zh-TW" sz="18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Font typeface="Arial"/>
              <a:buChar char="»"/>
              <a:defRPr lang="zh-TW" sz="18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1" dirty="0"/>
              <a:t>第</a:t>
            </a:r>
            <a:r>
              <a:rPr lang="en-US" altLang="zh-CN" sz="1800" b="1" dirty="0"/>
              <a:t>12</a:t>
            </a:r>
            <a:r>
              <a:rPr lang="zh-CN" altLang="en-US" sz="1800" b="1" dirty="0"/>
              <a:t>章 鐵達尼號</a:t>
            </a:r>
          </a:p>
          <a:p>
            <a:r>
              <a:rPr lang="zh-CN" altLang="en-US" sz="1800" b="1" dirty="0"/>
              <a:t>第</a:t>
            </a:r>
            <a:r>
              <a:rPr lang="en-US" altLang="zh-CN" sz="1800" b="1" dirty="0"/>
              <a:t>13</a:t>
            </a:r>
            <a:r>
              <a:rPr lang="zh-CN" altLang="en-US" sz="1800" b="1" dirty="0"/>
              <a:t>章 </a:t>
            </a:r>
            <a:r>
              <a:rPr lang="en-US" altLang="zh-TW" sz="1800" b="1" dirty="0"/>
              <a:t>pandas──</a:t>
            </a:r>
            <a:r>
              <a:rPr lang="zh-CN" altLang="en-US" sz="1800" b="1" dirty="0"/>
              <a:t>系所生源分析</a:t>
            </a:r>
          </a:p>
          <a:p>
            <a:r>
              <a:rPr lang="zh-CN" altLang="en-US" sz="1800" b="1" dirty="0"/>
              <a:t>第</a:t>
            </a:r>
            <a:r>
              <a:rPr lang="en-US" altLang="zh-CN" sz="1800" b="1" dirty="0"/>
              <a:t>14</a:t>
            </a:r>
            <a:r>
              <a:rPr lang="zh-CN" altLang="en-US" sz="1800" b="1" dirty="0"/>
              <a:t>章 </a:t>
            </a:r>
            <a:r>
              <a:rPr lang="en-US" altLang="zh-TW" sz="1800" b="1" dirty="0"/>
              <a:t>pandas──</a:t>
            </a:r>
            <a:r>
              <a:rPr lang="zh-CN" altLang="en-US" sz="1800" b="1" dirty="0"/>
              <a:t>業務銷售分析</a:t>
            </a:r>
          </a:p>
          <a:p>
            <a:r>
              <a:rPr lang="zh-CN" altLang="en-US" sz="1800" b="1" dirty="0"/>
              <a:t>第</a:t>
            </a:r>
            <a:r>
              <a:rPr lang="en-US" altLang="zh-CN" sz="1800" b="1" dirty="0"/>
              <a:t>15</a:t>
            </a:r>
            <a:r>
              <a:rPr lang="zh-CN" altLang="en-US" sz="1800" b="1" dirty="0"/>
              <a:t>章 </a:t>
            </a:r>
            <a:r>
              <a:rPr lang="en-US" altLang="zh-TW" sz="1800" b="1" dirty="0"/>
              <a:t>pandas──</a:t>
            </a:r>
            <a:r>
              <a:rPr lang="zh-CN" altLang="en-US" sz="1800" b="1" dirty="0"/>
              <a:t>股市分析</a:t>
            </a:r>
          </a:p>
          <a:p>
            <a:r>
              <a:rPr lang="zh-CN" altLang="en-US" sz="1800" b="1" dirty="0"/>
              <a:t>第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章 </a:t>
            </a:r>
            <a:r>
              <a:rPr lang="en-US" altLang="zh-TW" sz="1800" b="1" dirty="0"/>
              <a:t>pandas──</a:t>
            </a:r>
            <a:r>
              <a:rPr lang="zh-CN" altLang="en-US" sz="1800" b="1" dirty="0"/>
              <a:t>問卷資料分析</a:t>
            </a:r>
          </a:p>
          <a:p>
            <a:r>
              <a:rPr lang="zh-CN" altLang="en-US" sz="1800" b="1" dirty="0"/>
              <a:t>第</a:t>
            </a:r>
            <a:r>
              <a:rPr lang="en-US" altLang="zh-CN" sz="1800" b="1" dirty="0"/>
              <a:t>18</a:t>
            </a:r>
            <a:r>
              <a:rPr lang="zh-CN" altLang="en-US" sz="1800" b="1" dirty="0"/>
              <a:t>章　</a:t>
            </a:r>
            <a:r>
              <a:rPr lang="en-US" altLang="zh-TW" sz="1800" b="1" dirty="0"/>
              <a:t>pandas</a:t>
            </a:r>
            <a:r>
              <a:rPr lang="zh-CN" altLang="en-US" sz="1800" b="1" dirty="0"/>
              <a:t>禪</a:t>
            </a:r>
          </a:p>
          <a:p>
            <a:endParaRPr lang="zh-CN" altLang="en-US" sz="1800" b="1" dirty="0"/>
          </a:p>
          <a:p>
            <a:pPr lvl="1"/>
            <a:endParaRPr lang="zh-CN" altLang="en-US" sz="1800" b="1" dirty="0"/>
          </a:p>
          <a:p>
            <a:pPr lvl="1"/>
            <a:endParaRPr lang="zh-CN" altLang="en-US" sz="1800" b="1" dirty="0"/>
          </a:p>
        </p:txBody>
      </p:sp>
      <p:sp>
        <p:nvSpPr>
          <p:cNvPr id="5" name="想法泡泡: 雲朵 4">
            <a:extLst>
              <a:ext uri="{FF2B5EF4-FFF2-40B4-BE49-F238E27FC236}">
                <a16:creationId xmlns:a16="http://schemas.microsoft.com/office/drawing/2014/main" id="{3AFA3563-A45F-47A3-AEE4-548A548AB166}"/>
              </a:ext>
            </a:extLst>
          </p:cNvPr>
          <p:cNvSpPr/>
          <p:nvPr/>
        </p:nvSpPr>
        <p:spPr>
          <a:xfrm>
            <a:off x="2915816" y="2636912"/>
            <a:ext cx="1584176" cy="1008112"/>
          </a:xfrm>
          <a:prstGeom prst="cloudCallout">
            <a:avLst>
              <a:gd name="adj1" fmla="val -121951"/>
              <a:gd name="adj2" fmla="val -19386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需要時再重點提醒</a:t>
            </a:r>
            <a:endParaRPr lang="zh-TW" altLang="en-US" dirty="0"/>
          </a:p>
        </p:txBody>
      </p:sp>
      <p:sp>
        <p:nvSpPr>
          <p:cNvPr id="6" name="想法泡泡: 雲朵 5">
            <a:extLst>
              <a:ext uri="{FF2B5EF4-FFF2-40B4-BE49-F238E27FC236}">
                <a16:creationId xmlns:a16="http://schemas.microsoft.com/office/drawing/2014/main" id="{2EF988ED-F79F-452A-ABF6-0E4060D5A28D}"/>
              </a:ext>
            </a:extLst>
          </p:cNvPr>
          <p:cNvSpPr/>
          <p:nvPr/>
        </p:nvSpPr>
        <p:spPr>
          <a:xfrm>
            <a:off x="3995936" y="5289004"/>
            <a:ext cx="1584176" cy="1008112"/>
          </a:xfrm>
          <a:prstGeom prst="cloudCallout">
            <a:avLst>
              <a:gd name="adj1" fmla="val -171334"/>
              <a:gd name="adj2" fmla="val 10849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上課主要核心</a:t>
            </a:r>
            <a:endParaRPr lang="zh-TW" altLang="en-US" dirty="0"/>
          </a:p>
        </p:txBody>
      </p:sp>
      <p:sp>
        <p:nvSpPr>
          <p:cNvPr id="7" name="想法泡泡: 雲朵 6">
            <a:extLst>
              <a:ext uri="{FF2B5EF4-FFF2-40B4-BE49-F238E27FC236}">
                <a16:creationId xmlns:a16="http://schemas.microsoft.com/office/drawing/2014/main" id="{C4489DE4-1E0C-4511-A271-4DEF387F7633}"/>
              </a:ext>
            </a:extLst>
          </p:cNvPr>
          <p:cNvSpPr/>
          <p:nvPr/>
        </p:nvSpPr>
        <p:spPr>
          <a:xfrm>
            <a:off x="7308304" y="4653136"/>
            <a:ext cx="1378496" cy="1008112"/>
          </a:xfrm>
          <a:prstGeom prst="cloudCallout">
            <a:avLst>
              <a:gd name="adj1" fmla="val -59634"/>
              <a:gd name="adj2" fmla="val -152923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作業，考試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7902220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A58D250-C1FB-4A5B-BD1C-2FCA52471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600200"/>
            <a:ext cx="4392488" cy="5257800"/>
          </a:xfrm>
        </p:spPr>
        <p:txBody>
          <a:bodyPr>
            <a:normAutofit/>
          </a:bodyPr>
          <a:lstStyle/>
          <a:p>
            <a:r>
              <a:rPr lang="zh-CN" altLang="en-US" sz="2000" b="1" dirty="0"/>
              <a:t>章節</a:t>
            </a:r>
            <a:endParaRPr lang="en-US" altLang="zh-CN" sz="2000" b="1" dirty="0"/>
          </a:p>
          <a:p>
            <a:r>
              <a:rPr lang="en-US" altLang="zh-TW" sz="1800" b="1" dirty="0">
                <a:solidFill>
                  <a:srgbClr val="C00000"/>
                </a:solidFill>
              </a:rPr>
              <a:t>chp11.</a:t>
            </a:r>
            <a:r>
              <a:rPr lang="zh-TW" altLang="en-US" sz="1800" b="1" dirty="0">
                <a:solidFill>
                  <a:srgbClr val="C00000"/>
                </a:solidFill>
              </a:rPr>
              <a:t>讀取各種資料庫檔案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chp11-1.noSQL</a:t>
            </a:r>
            <a:r>
              <a:rPr lang="zh-TW" altLang="en-US" sz="1800" b="1" dirty="0">
                <a:solidFill>
                  <a:srgbClr val="7030A0"/>
                </a:solidFill>
              </a:rPr>
              <a:t>：</a:t>
            </a:r>
            <a:r>
              <a:rPr lang="en-US" altLang="zh-TW" sz="1800" b="1" dirty="0">
                <a:solidFill>
                  <a:srgbClr val="7030A0"/>
                </a:solidFill>
              </a:rPr>
              <a:t>csv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chp11-2.noSQL</a:t>
            </a:r>
            <a:r>
              <a:rPr lang="zh-TW" altLang="en-US" sz="1800" b="1" dirty="0">
                <a:solidFill>
                  <a:srgbClr val="7030A0"/>
                </a:solidFill>
              </a:rPr>
              <a:t>：</a:t>
            </a:r>
            <a:r>
              <a:rPr lang="en-US" altLang="zh-TW" sz="1800" b="1" dirty="0">
                <a:solidFill>
                  <a:srgbClr val="7030A0"/>
                </a:solidFill>
              </a:rPr>
              <a:t>json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chp11-3.noSQL</a:t>
            </a:r>
            <a:r>
              <a:rPr lang="zh-TW" altLang="en-US" sz="1800" b="1" dirty="0">
                <a:solidFill>
                  <a:srgbClr val="7030A0"/>
                </a:solidFill>
              </a:rPr>
              <a:t>：</a:t>
            </a:r>
            <a:r>
              <a:rPr lang="en-US" altLang="zh-TW" sz="1800" b="1" dirty="0">
                <a:solidFill>
                  <a:srgbClr val="7030A0"/>
                </a:solidFill>
              </a:rPr>
              <a:t>xml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chp11-4.noSQL</a:t>
            </a:r>
            <a:r>
              <a:rPr lang="zh-TW" altLang="en-US" sz="1800" b="1" dirty="0">
                <a:solidFill>
                  <a:srgbClr val="7030A0"/>
                </a:solidFill>
              </a:rPr>
              <a:t>：字典</a:t>
            </a:r>
            <a:r>
              <a:rPr lang="en-US" altLang="zh-TW" sz="1800" b="1" dirty="0" err="1">
                <a:solidFill>
                  <a:srgbClr val="7030A0"/>
                </a:solidFill>
              </a:rPr>
              <a:t>dict</a:t>
            </a:r>
            <a:r>
              <a:rPr lang="en-US" altLang="zh-TW" sz="1800" b="1" dirty="0">
                <a:solidFill>
                  <a:srgbClr val="7030A0"/>
                </a:solidFill>
              </a:rPr>
              <a:t>,</a:t>
            </a:r>
            <a:r>
              <a:rPr lang="zh-TW" altLang="en-US" sz="1800" b="1" dirty="0">
                <a:solidFill>
                  <a:srgbClr val="7030A0"/>
                </a:solidFill>
              </a:rPr>
              <a:t>串列</a:t>
            </a:r>
            <a:r>
              <a:rPr lang="en-US" altLang="zh-TW" sz="1800" b="1" dirty="0">
                <a:solidFill>
                  <a:srgbClr val="7030A0"/>
                </a:solidFill>
              </a:rPr>
              <a:t>list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chp11-5.noSQL</a:t>
            </a:r>
            <a:r>
              <a:rPr lang="zh-TW" altLang="en-US" sz="1800" b="1" dirty="0">
                <a:solidFill>
                  <a:srgbClr val="7030A0"/>
                </a:solidFill>
              </a:rPr>
              <a:t>：資料集</a:t>
            </a:r>
            <a:r>
              <a:rPr lang="en-US" altLang="zh-TW" sz="1800" b="1" dirty="0">
                <a:solidFill>
                  <a:srgbClr val="7030A0"/>
                </a:solidFill>
              </a:rPr>
              <a:t>dataset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chp11-6.noSQL</a:t>
            </a:r>
            <a:r>
              <a:rPr lang="zh-TW" altLang="en-US" sz="1800" b="1" dirty="0">
                <a:solidFill>
                  <a:srgbClr val="7030A0"/>
                </a:solidFill>
              </a:rPr>
              <a:t>：</a:t>
            </a:r>
            <a:r>
              <a:rPr lang="en-US" altLang="zh-TW" sz="1800" b="1" dirty="0">
                <a:solidFill>
                  <a:srgbClr val="7030A0"/>
                </a:solidFill>
              </a:rPr>
              <a:t>SQLite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chp11-7.SQL</a:t>
            </a:r>
            <a:r>
              <a:rPr lang="zh-TW" altLang="en-US" sz="1800" b="1" dirty="0">
                <a:solidFill>
                  <a:srgbClr val="7030A0"/>
                </a:solidFill>
              </a:rPr>
              <a:t>：</a:t>
            </a:r>
            <a:r>
              <a:rPr lang="en-US" altLang="zh-TW" sz="1800" b="1" dirty="0" err="1">
                <a:solidFill>
                  <a:srgbClr val="7030A0"/>
                </a:solidFill>
              </a:rPr>
              <a:t>mySQL</a:t>
            </a:r>
            <a:endParaRPr lang="en-US" altLang="zh-TW" sz="1800" b="1" dirty="0">
              <a:solidFill>
                <a:srgbClr val="7030A0"/>
              </a:solidFill>
            </a:endParaRP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chp11-8.noSQL</a:t>
            </a:r>
            <a:r>
              <a:rPr lang="zh-TW" altLang="en-US" sz="1800" b="1" dirty="0">
                <a:solidFill>
                  <a:srgbClr val="7030A0"/>
                </a:solidFill>
              </a:rPr>
              <a:t>：</a:t>
            </a:r>
            <a:r>
              <a:rPr lang="en-US" altLang="zh-TW" sz="1800" b="1" dirty="0" err="1">
                <a:solidFill>
                  <a:srgbClr val="7030A0"/>
                </a:solidFill>
              </a:rPr>
              <a:t>MongoDb</a:t>
            </a:r>
            <a:endParaRPr lang="en-US" altLang="zh-TW" sz="1800" b="1" dirty="0">
              <a:solidFill>
                <a:srgbClr val="7030A0"/>
              </a:solidFill>
            </a:endParaRP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chp11-9.noSQL</a:t>
            </a:r>
            <a:r>
              <a:rPr lang="zh-TW" altLang="en-US" sz="1800" b="1" dirty="0">
                <a:solidFill>
                  <a:srgbClr val="7030A0"/>
                </a:solidFill>
              </a:rPr>
              <a:t>：網頁</a:t>
            </a:r>
          </a:p>
          <a:p>
            <a:pPr lvl="1"/>
            <a:endParaRPr lang="en-US" altLang="zh-TW" sz="1800" b="1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B0C77A1-4805-41EE-A19C-53B5F1AA4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/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老師補充資料</a:t>
            </a:r>
            <a:endParaRPr lang="zh-TW" altLang="en-US" sz="5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內容版面配置區 1">
            <a:extLst>
              <a:ext uri="{FF2B5EF4-FFF2-40B4-BE49-F238E27FC236}">
                <a16:creationId xmlns:a16="http://schemas.microsoft.com/office/drawing/2014/main" id="{D5F54572-A457-431D-BF93-73F77773F7DA}"/>
              </a:ext>
            </a:extLst>
          </p:cNvPr>
          <p:cNvSpPr txBox="1">
            <a:spLocks/>
          </p:cNvSpPr>
          <p:nvPr/>
        </p:nvSpPr>
        <p:spPr>
          <a:xfrm>
            <a:off x="4860032" y="1700808"/>
            <a:ext cx="4536504" cy="5257800"/>
          </a:xfrm>
          <a:prstGeom prst="rect">
            <a:avLst/>
          </a:prstGeom>
        </p:spPr>
        <p:txBody>
          <a:bodyPr vert="horz" rtlCol="0">
            <a:normAutofit/>
          </a:bodyPr>
          <a:lstStyle>
            <a:lvl1pPr marL="342900" indent="-342900" algn="l" rtl="0" eaLnBrk="1" latinLnBrk="0" hangingPunct="1">
              <a:spcBef>
                <a:spcPct val="20000"/>
              </a:spcBef>
              <a:spcAft>
                <a:spcPts val="400"/>
              </a:spcAft>
              <a:buFont typeface="Arial"/>
              <a:buChar char="•"/>
              <a:defRPr lang="zh-TW" sz="28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Font typeface="Arial"/>
              <a:buChar char="–"/>
              <a:defRPr lang="zh-TW" sz="24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Font typeface="Arial"/>
              <a:buChar char="–"/>
              <a:defRPr lang="zh-TW" sz="18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Font typeface="Arial"/>
              <a:buChar char="»"/>
              <a:defRPr lang="zh-TW" sz="18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800" b="1" dirty="0">
                <a:solidFill>
                  <a:srgbClr val="C00000"/>
                </a:solidFill>
              </a:rPr>
              <a:t>chp12.</a:t>
            </a:r>
            <a:r>
              <a:rPr lang="zh-TW" altLang="en-US" sz="1800" b="1" dirty="0">
                <a:solidFill>
                  <a:srgbClr val="C00000"/>
                </a:solidFill>
              </a:rPr>
              <a:t>網路爬蟲：</a:t>
            </a:r>
            <a:r>
              <a:rPr lang="en-US" altLang="zh-TW" sz="1800" b="1" dirty="0">
                <a:solidFill>
                  <a:srgbClr val="C00000"/>
                </a:solidFill>
              </a:rPr>
              <a:t>web crawler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chp12-1.Pandas</a:t>
            </a:r>
            <a:r>
              <a:rPr lang="zh-TW" altLang="en-US" sz="1800" b="1" dirty="0">
                <a:solidFill>
                  <a:srgbClr val="7030A0"/>
                </a:solidFill>
              </a:rPr>
              <a:t>讀取網頁表格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chp12-2.</a:t>
            </a:r>
            <a:r>
              <a:rPr lang="zh-TW" altLang="en-US" sz="1800" b="1" dirty="0">
                <a:solidFill>
                  <a:srgbClr val="7030A0"/>
                </a:solidFill>
              </a:rPr>
              <a:t>讀取</a:t>
            </a:r>
            <a:r>
              <a:rPr lang="en-US" altLang="zh-TW" sz="1800" b="1" dirty="0">
                <a:solidFill>
                  <a:srgbClr val="7030A0"/>
                </a:solidFill>
              </a:rPr>
              <a:t>html</a:t>
            </a:r>
            <a:r>
              <a:rPr lang="zh-TW" altLang="en-US" sz="1800" b="1" dirty="0">
                <a:solidFill>
                  <a:srgbClr val="7030A0"/>
                </a:solidFill>
              </a:rPr>
              <a:t>網頁：</a:t>
            </a:r>
            <a:r>
              <a:rPr lang="en-US" altLang="zh-TW" sz="1800" b="1" dirty="0">
                <a:solidFill>
                  <a:srgbClr val="7030A0"/>
                </a:solidFill>
              </a:rPr>
              <a:t>Request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chp12-3.</a:t>
            </a:r>
            <a:r>
              <a:rPr lang="zh-TW" altLang="en-US" sz="1800" b="1" dirty="0">
                <a:solidFill>
                  <a:srgbClr val="7030A0"/>
                </a:solidFill>
              </a:rPr>
              <a:t>分析</a:t>
            </a:r>
            <a:r>
              <a:rPr lang="en-US" altLang="zh-TW" sz="1800" b="1" dirty="0">
                <a:solidFill>
                  <a:srgbClr val="7030A0"/>
                </a:solidFill>
              </a:rPr>
              <a:t>html</a:t>
            </a:r>
            <a:r>
              <a:rPr lang="zh-TW" altLang="en-US" sz="1800" b="1" dirty="0">
                <a:solidFill>
                  <a:srgbClr val="7030A0"/>
                </a:solidFill>
              </a:rPr>
              <a:t>標籤</a:t>
            </a:r>
            <a:r>
              <a:rPr lang="en-US" altLang="zh-TW" sz="1800" b="1" dirty="0">
                <a:solidFill>
                  <a:srgbClr val="7030A0"/>
                </a:solidFill>
              </a:rPr>
              <a:t>tag</a:t>
            </a:r>
            <a:r>
              <a:rPr lang="zh-TW" altLang="en-US" sz="1800" b="1" dirty="0">
                <a:solidFill>
                  <a:srgbClr val="7030A0"/>
                </a:solidFill>
              </a:rPr>
              <a:t>內容：</a:t>
            </a:r>
            <a:r>
              <a:rPr lang="en-US" altLang="zh-TW" sz="1800" b="1" dirty="0" err="1">
                <a:solidFill>
                  <a:srgbClr val="7030A0"/>
                </a:solidFill>
              </a:rPr>
              <a:t>BeautifulSoup</a:t>
            </a:r>
            <a:endParaRPr lang="en-US" altLang="zh-TW" sz="1800" b="1" dirty="0">
              <a:solidFill>
                <a:srgbClr val="7030A0"/>
              </a:solidFill>
            </a:endParaRPr>
          </a:p>
          <a:p>
            <a:endParaRPr lang="en-US" altLang="zh-TW" sz="1800" b="1" dirty="0">
              <a:solidFill>
                <a:srgbClr val="7030A0"/>
              </a:solidFill>
            </a:endParaRPr>
          </a:p>
          <a:p>
            <a:r>
              <a:rPr lang="en-US" altLang="zh-TW" sz="1800" b="1" dirty="0">
                <a:solidFill>
                  <a:srgbClr val="C00000"/>
                </a:solidFill>
              </a:rPr>
              <a:t>chp13.</a:t>
            </a:r>
            <a:r>
              <a:rPr lang="zh-TW" altLang="en-US" sz="1800" b="1" dirty="0">
                <a:solidFill>
                  <a:srgbClr val="C00000"/>
                </a:solidFill>
              </a:rPr>
              <a:t>需要寫</a:t>
            </a:r>
            <a:r>
              <a:rPr lang="en-US" altLang="zh-TW" sz="1800" b="1" dirty="0">
                <a:solidFill>
                  <a:srgbClr val="C00000"/>
                </a:solidFill>
              </a:rPr>
              <a:t>SQL</a:t>
            </a:r>
            <a:r>
              <a:rPr lang="zh-TW" altLang="en-US" sz="1800" b="1" dirty="0">
                <a:solidFill>
                  <a:srgbClr val="C00000"/>
                </a:solidFill>
              </a:rPr>
              <a:t>語法的連線</a:t>
            </a:r>
            <a:r>
              <a:rPr lang="en-US" altLang="zh-TW" sz="1800" b="1" dirty="0" err="1">
                <a:solidFill>
                  <a:srgbClr val="C00000"/>
                </a:solidFill>
              </a:rPr>
              <a:t>mySQL</a:t>
            </a:r>
            <a:r>
              <a:rPr lang="zh-TW" altLang="en-US" sz="1800" b="1" dirty="0">
                <a:solidFill>
                  <a:srgbClr val="C00000"/>
                </a:solidFill>
              </a:rPr>
              <a:t>：</a:t>
            </a:r>
            <a:r>
              <a:rPr lang="en-US" altLang="zh-TW" sz="1800" b="1" dirty="0" err="1">
                <a:solidFill>
                  <a:srgbClr val="7030A0"/>
                </a:solidFill>
              </a:rPr>
              <a:t>pymysql</a:t>
            </a:r>
            <a:endParaRPr lang="en-US" altLang="zh-TW" sz="1800" b="1" dirty="0">
              <a:solidFill>
                <a:srgbClr val="7030A0"/>
              </a:solidFill>
            </a:endParaRPr>
          </a:p>
          <a:p>
            <a:r>
              <a:rPr lang="en-US" altLang="zh-TW" sz="1800" b="1" dirty="0">
                <a:solidFill>
                  <a:srgbClr val="7030A0"/>
                </a:solidFill>
              </a:rPr>
              <a:t>--- SQL</a:t>
            </a:r>
            <a:r>
              <a:rPr lang="zh-TW" altLang="en-US" sz="1800" b="1" dirty="0">
                <a:solidFill>
                  <a:srgbClr val="7030A0"/>
                </a:solidFill>
              </a:rPr>
              <a:t>語法與</a:t>
            </a:r>
            <a:r>
              <a:rPr lang="en-US" altLang="zh-TW" sz="1800" b="1" dirty="0">
                <a:solidFill>
                  <a:srgbClr val="7030A0"/>
                </a:solidFill>
              </a:rPr>
              <a:t>Pandas</a:t>
            </a:r>
            <a:r>
              <a:rPr lang="zh-TW" altLang="en-US" sz="1800" b="1" dirty="0">
                <a:solidFill>
                  <a:srgbClr val="7030A0"/>
                </a:solidFill>
              </a:rPr>
              <a:t>的指令對照</a:t>
            </a:r>
            <a:endParaRPr lang="en-US" altLang="zh-TW" sz="1800" b="1" dirty="0">
              <a:solidFill>
                <a:srgbClr val="7030A0"/>
              </a:solidFill>
            </a:endParaRPr>
          </a:p>
          <a:p>
            <a:endParaRPr lang="zh-TW" altLang="en-US" sz="1800" b="1" dirty="0">
              <a:solidFill>
                <a:srgbClr val="7030A0"/>
              </a:solidFill>
            </a:endParaRPr>
          </a:p>
          <a:p>
            <a:r>
              <a:rPr lang="en-US" altLang="zh-TW" sz="1800" b="1" dirty="0">
                <a:solidFill>
                  <a:srgbClr val="C00000"/>
                </a:solidFill>
              </a:rPr>
              <a:t>chp14.</a:t>
            </a:r>
            <a:r>
              <a:rPr lang="zh-TW" altLang="en-US" sz="1800" b="1" dirty="0">
                <a:solidFill>
                  <a:srgbClr val="C00000"/>
                </a:solidFill>
              </a:rPr>
              <a:t>不需要寫</a:t>
            </a:r>
            <a:r>
              <a:rPr lang="en-US" altLang="zh-TW" sz="1800" b="1" dirty="0">
                <a:solidFill>
                  <a:srgbClr val="C00000"/>
                </a:solidFill>
              </a:rPr>
              <a:t>SQL</a:t>
            </a:r>
            <a:r>
              <a:rPr lang="zh-TW" altLang="en-US" sz="1800" b="1" dirty="0">
                <a:solidFill>
                  <a:srgbClr val="C00000"/>
                </a:solidFill>
              </a:rPr>
              <a:t>語法的連線</a:t>
            </a:r>
            <a:r>
              <a:rPr lang="en-US" altLang="zh-TW" sz="1800" b="1" dirty="0" err="1">
                <a:solidFill>
                  <a:srgbClr val="C00000"/>
                </a:solidFill>
              </a:rPr>
              <a:t>mySQL</a:t>
            </a:r>
            <a:r>
              <a:rPr lang="zh-TW" altLang="en-US" sz="1800" b="1" dirty="0">
                <a:solidFill>
                  <a:srgbClr val="C00000"/>
                </a:solidFill>
              </a:rPr>
              <a:t>：</a:t>
            </a:r>
            <a:r>
              <a:rPr lang="en-US" altLang="zh-TW" sz="1800" b="1" dirty="0" err="1">
                <a:solidFill>
                  <a:srgbClr val="C00000"/>
                </a:solidFill>
              </a:rPr>
              <a:t>sqlalchemy</a:t>
            </a:r>
            <a:endParaRPr lang="zh-TW" altLang="en-US" sz="1800" b="1" dirty="0">
              <a:solidFill>
                <a:srgbClr val="C00000"/>
              </a:solidFill>
            </a:endParaRPr>
          </a:p>
          <a:p>
            <a:endParaRPr lang="zh-CN" altLang="en-US" sz="1800" b="1" dirty="0"/>
          </a:p>
          <a:p>
            <a:pPr lvl="1"/>
            <a:endParaRPr lang="zh-CN" altLang="en-US" sz="1800" b="1" dirty="0"/>
          </a:p>
          <a:p>
            <a:pPr lvl="1"/>
            <a:endParaRPr lang="zh-CN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127822010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A58D250-C1FB-4A5B-BD1C-2FCA52471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600200"/>
            <a:ext cx="4104457" cy="5105400"/>
          </a:xfrm>
        </p:spPr>
        <p:txBody>
          <a:bodyPr>
            <a:normAutofit/>
          </a:bodyPr>
          <a:lstStyle/>
          <a:p>
            <a:r>
              <a:rPr lang="zh-CN" altLang="en-US" sz="2000" b="1" dirty="0"/>
              <a:t>章節</a:t>
            </a:r>
            <a:endParaRPr lang="en-US" altLang="zh-CN" sz="2000" b="1" dirty="0"/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chp30.</a:t>
            </a:r>
            <a:r>
              <a:rPr lang="zh-TW" altLang="en-US" sz="1800" b="1" dirty="0">
                <a:solidFill>
                  <a:srgbClr val="7030A0"/>
                </a:solidFill>
              </a:rPr>
              <a:t>電商數據分析：淘寶服飾店</a:t>
            </a:r>
            <a:r>
              <a:rPr lang="en-US" altLang="zh-TW" sz="1800" b="1" dirty="0">
                <a:solidFill>
                  <a:srgbClr val="7030A0"/>
                </a:solidFill>
              </a:rPr>
              <a:t>3</a:t>
            </a:r>
            <a:r>
              <a:rPr lang="zh-TW" altLang="en-US" sz="1800" b="1" dirty="0">
                <a:solidFill>
                  <a:srgbClr val="7030A0"/>
                </a:solidFill>
              </a:rPr>
              <a:t>年數據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chp31.</a:t>
            </a:r>
            <a:r>
              <a:rPr lang="zh-TW" altLang="en-US" sz="1800" b="1" dirty="0">
                <a:solidFill>
                  <a:srgbClr val="7030A0"/>
                </a:solidFill>
              </a:rPr>
              <a:t>市場分析：市場佔有率分析</a:t>
            </a:r>
            <a:r>
              <a:rPr lang="en-US" altLang="zh-TW" sz="1800" b="1" dirty="0">
                <a:solidFill>
                  <a:srgbClr val="7030A0"/>
                </a:solidFill>
              </a:rPr>
              <a:t>(3</a:t>
            </a:r>
            <a:r>
              <a:rPr lang="zh-TW" altLang="en-US" sz="1800" b="1" dirty="0">
                <a:solidFill>
                  <a:srgbClr val="7030A0"/>
                </a:solidFill>
              </a:rPr>
              <a:t>年驅蟲劑數據</a:t>
            </a:r>
            <a:r>
              <a:rPr lang="en-US" altLang="zh-TW" sz="1800" b="1" dirty="0">
                <a:solidFill>
                  <a:srgbClr val="7030A0"/>
                </a:solidFill>
              </a:rPr>
              <a:t>)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chp32.</a:t>
            </a:r>
            <a:r>
              <a:rPr lang="zh-TW" altLang="en-US" sz="1800" b="1" dirty="0">
                <a:solidFill>
                  <a:srgbClr val="7030A0"/>
                </a:solidFill>
              </a:rPr>
              <a:t>市場分析：市場趨勢分析</a:t>
            </a:r>
            <a:r>
              <a:rPr lang="en-US" altLang="zh-TW" sz="1800" b="1" dirty="0">
                <a:solidFill>
                  <a:srgbClr val="7030A0"/>
                </a:solidFill>
              </a:rPr>
              <a:t>(3</a:t>
            </a:r>
            <a:r>
              <a:rPr lang="zh-TW" altLang="en-US" sz="1800" b="1" dirty="0">
                <a:solidFill>
                  <a:srgbClr val="7030A0"/>
                </a:solidFill>
              </a:rPr>
              <a:t>年驅蟲劑數據</a:t>
            </a:r>
            <a:r>
              <a:rPr lang="en-US" altLang="zh-TW" sz="1800" b="1" dirty="0">
                <a:solidFill>
                  <a:srgbClr val="7030A0"/>
                </a:solidFill>
              </a:rPr>
              <a:t>)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chp33.</a:t>
            </a:r>
            <a:r>
              <a:rPr lang="zh-TW" altLang="en-US" sz="1800" b="1" dirty="0">
                <a:solidFill>
                  <a:srgbClr val="7030A0"/>
                </a:solidFill>
              </a:rPr>
              <a:t>市場分析：細分市場分析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chp34.</a:t>
            </a:r>
            <a:r>
              <a:rPr lang="zh-TW" altLang="en-US" sz="1800" b="1" dirty="0">
                <a:solidFill>
                  <a:srgbClr val="7030A0"/>
                </a:solidFill>
              </a:rPr>
              <a:t>市場分析：消費者需求分析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chp35.</a:t>
            </a:r>
            <a:r>
              <a:rPr lang="zh-TW" altLang="en-US" sz="1800" b="1" dirty="0">
                <a:solidFill>
                  <a:srgbClr val="7030A0"/>
                </a:solidFill>
              </a:rPr>
              <a:t>運營分析：店鋪數據化運營的</a:t>
            </a:r>
            <a:r>
              <a:rPr lang="en-US" altLang="zh-TW" sz="1800" b="1" dirty="0">
                <a:solidFill>
                  <a:srgbClr val="7030A0"/>
                </a:solidFill>
              </a:rPr>
              <a:t>SEO</a:t>
            </a:r>
            <a:r>
              <a:rPr lang="zh-TW" altLang="en-US" sz="1800" b="1" dirty="0">
                <a:solidFill>
                  <a:srgbClr val="7030A0"/>
                </a:solidFill>
              </a:rPr>
              <a:t>關鍵字詞根與統計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chp36.</a:t>
            </a:r>
            <a:r>
              <a:rPr lang="zh-TW" altLang="en-US" sz="1800" b="1" dirty="0">
                <a:solidFill>
                  <a:srgbClr val="7030A0"/>
                </a:solidFill>
              </a:rPr>
              <a:t>運營分析：商品推廣方案分析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chp37.</a:t>
            </a:r>
            <a:r>
              <a:rPr lang="zh-TW" altLang="en-US" sz="1800" b="1" dirty="0">
                <a:solidFill>
                  <a:srgbClr val="7030A0"/>
                </a:solidFill>
              </a:rPr>
              <a:t>運營分析：競品分析</a:t>
            </a:r>
            <a:r>
              <a:rPr lang="en-US" altLang="zh-TW" sz="1800" b="1" dirty="0">
                <a:solidFill>
                  <a:srgbClr val="7030A0"/>
                </a:solidFill>
              </a:rPr>
              <a:t>(</a:t>
            </a:r>
            <a:r>
              <a:rPr lang="zh-TW" altLang="en-US" sz="1800" b="1" dirty="0">
                <a:solidFill>
                  <a:srgbClr val="7030A0"/>
                </a:solidFill>
              </a:rPr>
              <a:t>追踪競爭對手的</a:t>
            </a:r>
            <a:r>
              <a:rPr lang="en-US" altLang="zh-TW" sz="1800" b="1" dirty="0">
                <a:solidFill>
                  <a:srgbClr val="7030A0"/>
                </a:solidFill>
              </a:rPr>
              <a:t>SKU</a:t>
            </a:r>
            <a:r>
              <a:rPr lang="zh-TW" altLang="en-US" sz="1800" b="1" dirty="0">
                <a:solidFill>
                  <a:srgbClr val="7030A0"/>
                </a:solidFill>
              </a:rPr>
              <a:t>庫存價格</a:t>
            </a:r>
            <a:r>
              <a:rPr lang="en-US" altLang="zh-TW" sz="1800" b="1" dirty="0">
                <a:solidFill>
                  <a:srgbClr val="7030A0"/>
                </a:solidFill>
              </a:rPr>
              <a:t>)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B0C77A1-4805-41EE-A19C-53B5F1AA4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1" algn="ctr"/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進階課程，都是預測分析，演算法</a:t>
            </a:r>
            <a:endParaRPr lang="zh-TW" altLang="en-US" sz="5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內容版面配置區 1">
            <a:extLst>
              <a:ext uri="{FF2B5EF4-FFF2-40B4-BE49-F238E27FC236}">
                <a16:creationId xmlns:a16="http://schemas.microsoft.com/office/drawing/2014/main" id="{D5F54572-A457-431D-BF93-73F77773F7DA}"/>
              </a:ext>
            </a:extLst>
          </p:cNvPr>
          <p:cNvSpPr txBox="1">
            <a:spLocks/>
          </p:cNvSpPr>
          <p:nvPr/>
        </p:nvSpPr>
        <p:spPr>
          <a:xfrm>
            <a:off x="4283969" y="1417638"/>
            <a:ext cx="4536503" cy="5440362"/>
          </a:xfrm>
          <a:prstGeom prst="rect">
            <a:avLst/>
          </a:prstGeom>
        </p:spPr>
        <p:txBody>
          <a:bodyPr vert="horz" rtlCol="0">
            <a:normAutofit/>
          </a:bodyPr>
          <a:lstStyle>
            <a:lvl1pPr marL="342900" indent="-342900" algn="l" rtl="0" eaLnBrk="1" latinLnBrk="0" hangingPunct="1">
              <a:spcBef>
                <a:spcPct val="20000"/>
              </a:spcBef>
              <a:spcAft>
                <a:spcPts val="400"/>
              </a:spcAft>
              <a:buFont typeface="Arial"/>
              <a:buChar char="•"/>
              <a:defRPr lang="zh-TW" sz="28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Font typeface="Arial"/>
              <a:buChar char="–"/>
              <a:defRPr lang="zh-TW" sz="24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Font typeface="Arial"/>
              <a:buChar char="–"/>
              <a:defRPr lang="zh-TW" sz="18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Font typeface="Arial"/>
              <a:buChar char="»"/>
              <a:defRPr lang="zh-TW" sz="18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000" b="1" dirty="0">
                <a:solidFill>
                  <a:srgbClr val="7030A0"/>
                </a:solidFill>
              </a:rPr>
              <a:t>chp38.</a:t>
            </a:r>
            <a:r>
              <a:rPr lang="zh-TW" altLang="en-US" sz="2000" b="1" dirty="0">
                <a:solidFill>
                  <a:srgbClr val="7030A0"/>
                </a:solidFill>
              </a:rPr>
              <a:t>電商行銷：</a:t>
            </a:r>
            <a:r>
              <a:rPr lang="zh-TW" altLang="en-US" sz="2000" b="1" dirty="0">
                <a:solidFill>
                  <a:srgbClr val="C00000"/>
                </a:solidFill>
                <a:highlight>
                  <a:srgbClr val="FFFF00"/>
                </a:highlight>
              </a:rPr>
              <a:t>基於關聯規則的產品推薦</a:t>
            </a:r>
          </a:p>
          <a:p>
            <a:r>
              <a:rPr lang="en-US" altLang="zh-TW" sz="2000" b="1" dirty="0">
                <a:solidFill>
                  <a:srgbClr val="7030A0"/>
                </a:solidFill>
              </a:rPr>
              <a:t>chp39.</a:t>
            </a:r>
            <a:r>
              <a:rPr lang="zh-TW" altLang="en-US" sz="2000" b="1" dirty="0">
                <a:solidFill>
                  <a:srgbClr val="7030A0"/>
                </a:solidFill>
              </a:rPr>
              <a:t>電商行銷：</a:t>
            </a:r>
            <a:r>
              <a:rPr lang="zh-TW" altLang="en-US" sz="2000" b="1" dirty="0">
                <a:solidFill>
                  <a:srgbClr val="C00000"/>
                </a:solidFill>
                <a:highlight>
                  <a:srgbClr val="FFFF00"/>
                </a:highlight>
              </a:rPr>
              <a:t>基於聚類演算法的商品推薦</a:t>
            </a:r>
          </a:p>
          <a:p>
            <a:r>
              <a:rPr lang="en-US" altLang="zh-TW" sz="2000" b="1" dirty="0">
                <a:solidFill>
                  <a:srgbClr val="7030A0"/>
                </a:solidFill>
              </a:rPr>
              <a:t>chp40.</a:t>
            </a:r>
            <a:r>
              <a:rPr lang="zh-TW" altLang="en-US" sz="2000" b="1" dirty="0">
                <a:solidFill>
                  <a:srgbClr val="7030A0"/>
                </a:solidFill>
              </a:rPr>
              <a:t>電商行銷：</a:t>
            </a:r>
            <a:r>
              <a:rPr lang="zh-TW" altLang="en-US" sz="2000" b="1" dirty="0">
                <a:solidFill>
                  <a:srgbClr val="C00000"/>
                </a:solidFill>
                <a:highlight>
                  <a:srgbClr val="FFFF00"/>
                </a:highlight>
              </a:rPr>
              <a:t>基於協同過濾演算法的產品推薦</a:t>
            </a:r>
          </a:p>
          <a:p>
            <a:r>
              <a:rPr lang="en-US" altLang="zh-TW" sz="2000" b="1" dirty="0">
                <a:solidFill>
                  <a:srgbClr val="7030A0"/>
                </a:solidFill>
              </a:rPr>
              <a:t>chp41.</a:t>
            </a:r>
            <a:r>
              <a:rPr lang="zh-TW" altLang="en-US" sz="2000" b="1" dirty="0">
                <a:solidFill>
                  <a:srgbClr val="7030A0"/>
                </a:solidFill>
              </a:rPr>
              <a:t>銷售預測：</a:t>
            </a:r>
            <a:r>
              <a:rPr lang="zh-TW" altLang="en-US" sz="2000" b="1" dirty="0">
                <a:solidFill>
                  <a:srgbClr val="C00000"/>
                </a:solidFill>
                <a:highlight>
                  <a:srgbClr val="FFFF00"/>
                </a:highlight>
              </a:rPr>
              <a:t>基於業務邏輯的預測演算法模型</a:t>
            </a:r>
          </a:p>
          <a:p>
            <a:r>
              <a:rPr lang="en-US" altLang="zh-TW" sz="2000" b="1" dirty="0">
                <a:solidFill>
                  <a:srgbClr val="7030A0"/>
                </a:solidFill>
              </a:rPr>
              <a:t>chp42.</a:t>
            </a:r>
            <a:r>
              <a:rPr lang="zh-TW" altLang="en-US" sz="2000" b="1" dirty="0">
                <a:solidFill>
                  <a:srgbClr val="7030A0"/>
                </a:solidFill>
              </a:rPr>
              <a:t>庫存預測：</a:t>
            </a:r>
            <a:r>
              <a:rPr lang="zh-TW" altLang="en-US" sz="2000" b="1" dirty="0">
                <a:solidFill>
                  <a:srgbClr val="C00000"/>
                </a:solidFill>
                <a:highlight>
                  <a:srgbClr val="FFFF00"/>
                </a:highlight>
              </a:rPr>
              <a:t>基於時序演算法預測庫存</a:t>
            </a:r>
          </a:p>
          <a:p>
            <a:r>
              <a:rPr lang="en-US" altLang="zh-TW" sz="2000" b="1" dirty="0">
                <a:solidFill>
                  <a:srgbClr val="7030A0"/>
                </a:solidFill>
              </a:rPr>
              <a:t>chp43.</a:t>
            </a:r>
            <a:r>
              <a:rPr lang="zh-TW" altLang="en-US" sz="2000" b="1" dirty="0">
                <a:solidFill>
                  <a:srgbClr val="7030A0"/>
                </a:solidFill>
              </a:rPr>
              <a:t>庫存預測：</a:t>
            </a:r>
            <a:r>
              <a:rPr lang="zh-TW" altLang="en-US" sz="2000" b="1" dirty="0">
                <a:solidFill>
                  <a:srgbClr val="C00000"/>
                </a:solidFill>
                <a:highlight>
                  <a:srgbClr val="FFFF00"/>
                </a:highlight>
              </a:rPr>
              <a:t>電商的庫存預測演算法建模</a:t>
            </a:r>
          </a:p>
          <a:p>
            <a:r>
              <a:rPr lang="en-US" altLang="zh-TW" sz="2000" b="1" dirty="0">
                <a:solidFill>
                  <a:srgbClr val="7030A0"/>
                </a:solidFill>
              </a:rPr>
              <a:t>chp44.</a:t>
            </a:r>
            <a:r>
              <a:rPr lang="zh-TW" altLang="en-US" sz="2000" b="1" dirty="0">
                <a:solidFill>
                  <a:srgbClr val="7030A0"/>
                </a:solidFill>
              </a:rPr>
              <a:t>銷售預測：</a:t>
            </a:r>
            <a:r>
              <a:rPr lang="zh-TW" altLang="en-US" sz="2000" b="1" dirty="0">
                <a:solidFill>
                  <a:srgbClr val="C00000"/>
                </a:solidFill>
                <a:highlight>
                  <a:srgbClr val="FFFF00"/>
                </a:highlight>
              </a:rPr>
              <a:t>用戶成單預測</a:t>
            </a:r>
          </a:p>
          <a:p>
            <a:r>
              <a:rPr lang="en-US" altLang="zh-TW" sz="2000" b="1" dirty="0">
                <a:solidFill>
                  <a:srgbClr val="7030A0"/>
                </a:solidFill>
              </a:rPr>
              <a:t>chp45.</a:t>
            </a:r>
            <a:r>
              <a:rPr lang="zh-TW" altLang="en-US" sz="2000" b="1" dirty="0">
                <a:solidFill>
                  <a:srgbClr val="7030A0"/>
                </a:solidFill>
              </a:rPr>
              <a:t>用戶預測：</a:t>
            </a:r>
            <a:r>
              <a:rPr lang="zh-TW" altLang="en-US" sz="2000" b="1" dirty="0">
                <a:solidFill>
                  <a:srgbClr val="C00000"/>
                </a:solidFill>
                <a:highlight>
                  <a:srgbClr val="FFFF00"/>
                </a:highlight>
              </a:rPr>
              <a:t>用戶流失預測</a:t>
            </a:r>
            <a:endParaRPr lang="zh-CN" altLang="en-US" sz="2000" b="1" dirty="0">
              <a:solidFill>
                <a:srgbClr val="C00000"/>
              </a:solidFill>
              <a:highlight>
                <a:srgbClr val="FFFF00"/>
              </a:highlight>
            </a:endParaRPr>
          </a:p>
          <a:p>
            <a:pPr lvl="1"/>
            <a:endParaRPr lang="zh-CN" altLang="en-US" sz="2000" b="1" dirty="0"/>
          </a:p>
          <a:p>
            <a:pPr lvl="1"/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47665662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0650" y="1916832"/>
            <a:ext cx="6400800" cy="1752600"/>
          </a:xfrm>
        </p:spPr>
        <p:txBody>
          <a:bodyPr vert="horz" rtlCol="0">
            <a:normAutofit/>
          </a:bodyPr>
          <a:lstStyle/>
          <a:p>
            <a:pPr marL="0" indent="0" algn="ctr">
              <a:buNone/>
            </a:pPr>
            <a:r>
              <a:rPr lang="zh-CN" altLang="en-US" sz="7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評分方式</a:t>
            </a:r>
            <a:endParaRPr lang="en-US" altLang="zh-CN" sz="7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4441323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本學期的評分方式</a:t>
            </a:r>
            <a:endParaRPr lang="zh-TW" altLang="en-US" sz="5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20" y="1600200"/>
            <a:ext cx="8892480" cy="5257800"/>
          </a:xfrm>
        </p:spPr>
        <p:txBody>
          <a:bodyPr>
            <a:normAutofit lnSpcReduction="10000"/>
          </a:bodyPr>
          <a:lstStyle/>
          <a:p>
            <a:r>
              <a:rPr lang="en-US" altLang="zh-CN" sz="4400" b="1" dirty="0"/>
              <a:t>1.</a:t>
            </a:r>
            <a:r>
              <a:rPr lang="zh-CN" altLang="en-US" sz="4400" b="1" dirty="0"/>
              <a:t>上課分數：</a:t>
            </a:r>
            <a:r>
              <a:rPr lang="en-US" altLang="zh-CN" sz="4400" b="1" dirty="0">
                <a:solidFill>
                  <a:srgbClr val="C00000"/>
                </a:solidFill>
              </a:rPr>
              <a:t>25%</a:t>
            </a:r>
          </a:p>
          <a:p>
            <a:pPr lvl="1"/>
            <a:r>
              <a:rPr lang="zh-CN" altLang="en-US" sz="3600" b="1" dirty="0"/>
              <a:t>上課加分（使用</a:t>
            </a:r>
            <a:r>
              <a:rPr lang="en-US" altLang="zh-CN" sz="3600" b="1" dirty="0" err="1">
                <a:highlight>
                  <a:srgbClr val="FFFF00"/>
                </a:highlight>
              </a:rPr>
              <a:t>Zuvio</a:t>
            </a:r>
            <a:r>
              <a:rPr lang="zh-CN" altLang="en-US" sz="3600" b="1" dirty="0"/>
              <a:t>來加分）</a:t>
            </a:r>
            <a:endParaRPr lang="en-US" altLang="zh-CN" sz="3600" b="1" dirty="0"/>
          </a:p>
          <a:p>
            <a:pPr lvl="1"/>
            <a:r>
              <a:rPr lang="en-US" altLang="zh-CN" sz="3600" b="1" dirty="0"/>
              <a:t>A</a:t>
            </a:r>
            <a:r>
              <a:rPr lang="zh-CN" altLang="en-US" sz="3600" b="1" dirty="0"/>
              <a:t>上課加分</a:t>
            </a:r>
            <a:r>
              <a:rPr lang="en-US" altLang="zh-CN" sz="3600" b="1" dirty="0"/>
              <a:t>50</a:t>
            </a:r>
            <a:r>
              <a:rPr lang="zh-CN" altLang="en-US" sz="3600" b="1" dirty="0"/>
              <a:t>，</a:t>
            </a:r>
            <a:r>
              <a:rPr lang="en-US" altLang="zh-CN" sz="3600" b="1" dirty="0"/>
              <a:t>B</a:t>
            </a:r>
            <a:r>
              <a:rPr lang="zh-CN" altLang="en-US" sz="3600" b="1" dirty="0"/>
              <a:t>上課加分</a:t>
            </a:r>
            <a:r>
              <a:rPr lang="en-US" altLang="zh-CN" sz="3600" b="1" dirty="0"/>
              <a:t>30</a:t>
            </a:r>
          </a:p>
          <a:p>
            <a:pPr lvl="1"/>
            <a:r>
              <a:rPr lang="en-US" altLang="zh-CN" sz="3600" b="1" dirty="0"/>
              <a:t>A</a:t>
            </a:r>
            <a:r>
              <a:rPr lang="zh-CN" altLang="en-US" sz="3600" b="1" dirty="0"/>
              <a:t>平時分數</a:t>
            </a:r>
            <a:r>
              <a:rPr lang="en-US" altLang="zh-CN" sz="3600" b="1" dirty="0"/>
              <a:t>100</a:t>
            </a:r>
            <a:r>
              <a:rPr lang="zh-CN" altLang="en-US" sz="3600" b="1" dirty="0"/>
              <a:t>，</a:t>
            </a:r>
            <a:r>
              <a:rPr lang="en-US" altLang="zh-CN" sz="3600" b="1" dirty="0"/>
              <a:t>B</a:t>
            </a:r>
            <a:r>
              <a:rPr lang="zh-CN" altLang="en-US" sz="3600" b="1" dirty="0"/>
              <a:t>平時分數</a:t>
            </a:r>
            <a:r>
              <a:rPr lang="en-US" altLang="zh-CN" sz="3600" b="1" dirty="0"/>
              <a:t>60</a:t>
            </a:r>
          </a:p>
          <a:p>
            <a:r>
              <a:rPr lang="en-US" altLang="zh-CN" sz="4400" b="1" dirty="0"/>
              <a:t>2.</a:t>
            </a:r>
            <a:r>
              <a:rPr lang="zh-CN" altLang="en-US" sz="4400" b="1" dirty="0"/>
              <a:t>作業分數：</a:t>
            </a:r>
            <a:r>
              <a:rPr lang="en-US" altLang="zh-CN" sz="4400" b="1" dirty="0">
                <a:solidFill>
                  <a:srgbClr val="C00000"/>
                </a:solidFill>
              </a:rPr>
              <a:t>25%</a:t>
            </a:r>
          </a:p>
          <a:p>
            <a:r>
              <a:rPr lang="en-US" altLang="zh-CN" sz="4400" b="1" dirty="0"/>
              <a:t>3.</a:t>
            </a:r>
            <a:r>
              <a:rPr lang="zh-CN" altLang="en-US" sz="4400" b="1" dirty="0"/>
              <a:t>期中考分數：</a:t>
            </a:r>
            <a:r>
              <a:rPr lang="en-US" altLang="zh-CN" sz="4400" b="1" dirty="0">
                <a:solidFill>
                  <a:srgbClr val="C00000"/>
                </a:solidFill>
              </a:rPr>
              <a:t>25%</a:t>
            </a:r>
          </a:p>
          <a:p>
            <a:r>
              <a:rPr lang="en-US" altLang="zh-CN" sz="4400" b="1" dirty="0"/>
              <a:t>4</a:t>
            </a:r>
            <a:r>
              <a:rPr lang="en-US" altLang="zh-TW" sz="4400" b="1" dirty="0"/>
              <a:t>.</a:t>
            </a:r>
            <a:r>
              <a:rPr lang="zh-CN" altLang="en-US" sz="4400" b="1" dirty="0"/>
              <a:t>期末考分數：</a:t>
            </a:r>
            <a:r>
              <a:rPr lang="en-US" altLang="zh-CN" sz="4400" b="1" dirty="0">
                <a:solidFill>
                  <a:srgbClr val="C00000"/>
                </a:solidFill>
              </a:rPr>
              <a:t>25%</a:t>
            </a:r>
          </a:p>
        </p:txBody>
      </p:sp>
    </p:spTree>
    <p:extLst>
      <p:ext uri="{BB962C8B-B14F-4D97-AF65-F5344CB8AC3E}">
        <p14:creationId xmlns:p14="http://schemas.microsoft.com/office/powerpoint/2010/main" val="424065234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0650" y="1916832"/>
            <a:ext cx="6709742" cy="1872208"/>
          </a:xfrm>
        </p:spPr>
        <p:txBody>
          <a:bodyPr vert="horz" rtlCol="0">
            <a:normAutofit fontScale="85000" lnSpcReduction="20000"/>
          </a:bodyPr>
          <a:lstStyle/>
          <a:p>
            <a:pPr marL="0" indent="0" algn="ctr">
              <a:buNone/>
            </a:pPr>
            <a:r>
              <a:rPr lang="zh-CN" altLang="en-US" sz="7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教科書，參考書</a:t>
            </a:r>
            <a:endParaRPr lang="en-US" altLang="zh-CN" sz="7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zh-CN" altLang="en-US" sz="7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教材網站</a:t>
            </a:r>
            <a:endParaRPr lang="en-US" altLang="zh-CN" sz="7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5440495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A58D250-C1FB-4A5B-BD1C-2FCA52471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88840"/>
            <a:ext cx="8229600" cy="4869160"/>
          </a:xfrm>
        </p:spPr>
        <p:txBody>
          <a:bodyPr>
            <a:normAutofit/>
          </a:bodyPr>
          <a:lstStyle/>
          <a:p>
            <a:r>
              <a:rPr lang="zh-CN" altLang="en-US" sz="4000" b="1" dirty="0"/>
              <a:t>電子書（第一版）</a:t>
            </a:r>
            <a:endParaRPr lang="en-US" altLang="zh-CN" sz="4000" b="1" dirty="0"/>
          </a:p>
          <a:p>
            <a:r>
              <a:rPr lang="zh-CN" altLang="en-US" sz="4000" b="1" dirty="0"/>
              <a:t>紙本（第二版），書商聯絡人</a:t>
            </a:r>
            <a:endParaRPr lang="en-US" altLang="zh-CN" sz="4000" b="1" dirty="0"/>
          </a:p>
          <a:p>
            <a:pPr lvl="1"/>
            <a:r>
              <a:rPr lang="zh-TW" altLang="en-US" sz="3600" b="1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全華出版社，書商聯絡人：</a:t>
            </a:r>
            <a:endParaRPr lang="en-US" altLang="zh-TW" sz="3600" b="1" dirty="0"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sz="3600" b="1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黃文珍</a:t>
            </a:r>
            <a:r>
              <a:rPr lang="zh-CN" altLang="en-US" sz="3600" b="1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：</a:t>
            </a:r>
            <a:endParaRPr lang="en-US" altLang="zh-TW" sz="3600" b="1" dirty="0"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en-US" altLang="zh-TW" sz="3600" b="1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line</a:t>
            </a:r>
            <a:r>
              <a:rPr lang="zh-TW" altLang="en-US" sz="3600" b="1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查詢：</a:t>
            </a:r>
            <a:r>
              <a:rPr lang="en-US" altLang="zh-TW" sz="3600" b="1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0958008962</a:t>
            </a:r>
            <a:endParaRPr lang="en-US" altLang="zh-TW" sz="4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endParaRPr lang="zh-TW" altLang="en-US" sz="3600" b="1" dirty="0"/>
          </a:p>
          <a:p>
            <a:pPr lvl="1"/>
            <a:endParaRPr lang="en-US" altLang="zh-TW" sz="3600" b="1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B0C77A1-4805-41EE-A19C-53B5F1AA4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/>
            <a:r>
              <a:rPr lang="zh-CN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教科書：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一行指令學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Python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－用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Pandas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掌握商務大數據分析</a:t>
            </a:r>
          </a:p>
        </p:txBody>
      </p:sp>
    </p:spTree>
    <p:extLst>
      <p:ext uri="{BB962C8B-B14F-4D97-AF65-F5344CB8AC3E}">
        <p14:creationId xmlns:p14="http://schemas.microsoft.com/office/powerpoint/2010/main" val="1730321127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5536" y="1628800"/>
            <a:ext cx="8496944" cy="3744416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en-US" altLang="zh-CN" sz="6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2023</a:t>
            </a:r>
            <a:r>
              <a:rPr lang="zh-CN" altLang="en-US" sz="6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年開始，新增</a:t>
            </a:r>
            <a:endParaRPr lang="en-US" altLang="zh-CN" sz="6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CN" altLang="en-US" sz="6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管理學院的</a:t>
            </a:r>
            <a:endParaRPr lang="en-US" altLang="zh-CN" sz="6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CN" sz="6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『</a:t>
            </a:r>
            <a:r>
              <a:rPr lang="zh-TW" altLang="en-US" sz="6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人工智慧賦能跨域應用微學程</a:t>
            </a:r>
            <a:r>
              <a:rPr lang="en-US" altLang="zh-CN" sz="6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』</a:t>
            </a:r>
          </a:p>
        </p:txBody>
      </p:sp>
    </p:spTree>
    <p:extLst>
      <p:ext uri="{BB962C8B-B14F-4D97-AF65-F5344CB8AC3E}">
        <p14:creationId xmlns:p14="http://schemas.microsoft.com/office/powerpoint/2010/main" val="231465169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1700808"/>
            <a:ext cx="8867328" cy="5157191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sz="3600" b="1" dirty="0">
                <a:effectLst/>
              </a:rPr>
              <a:t>1.</a:t>
            </a:r>
            <a:r>
              <a:rPr lang="zh-CN" altLang="en-US" sz="3600" b="1" dirty="0">
                <a:effectLst/>
              </a:rPr>
              <a:t>施行細則：</a:t>
            </a:r>
            <a:endParaRPr lang="en-US" altLang="zh-CN" sz="3600" b="1" dirty="0">
              <a:effectLst/>
            </a:endParaRPr>
          </a:p>
          <a:p>
            <a:pPr lvl="1"/>
            <a:r>
              <a:rPr lang="en-US" altLang="zh-CN" sz="2000" b="1" dirty="0">
                <a:solidFill>
                  <a:srgbClr val="7030A0"/>
                </a:solidFill>
                <a:effectLst/>
                <a:hlinkClick r:id="rId2"/>
              </a:rPr>
              <a:t>https://oaa.ntut.edu.tw/var/file/8/1008/img/2880/AVY.pdf</a:t>
            </a:r>
            <a:endParaRPr lang="en-US" altLang="zh-CN" sz="2000" b="1" dirty="0">
              <a:solidFill>
                <a:srgbClr val="7030A0"/>
              </a:solidFill>
              <a:effectLst/>
            </a:endParaRPr>
          </a:p>
          <a:p>
            <a:r>
              <a:rPr lang="en-US" altLang="zh-CN" sz="3600" b="1" dirty="0">
                <a:effectLst/>
              </a:rPr>
              <a:t>2.</a:t>
            </a:r>
            <a:r>
              <a:rPr lang="zh-CN" altLang="en-US" sz="3600" b="1" dirty="0">
                <a:effectLst/>
              </a:rPr>
              <a:t> </a:t>
            </a:r>
            <a:r>
              <a:rPr lang="zh-TW" altLang="en-US" sz="3600" b="1" dirty="0">
                <a:effectLst/>
              </a:rPr>
              <a:t>課程規劃表</a:t>
            </a:r>
            <a:r>
              <a:rPr lang="zh-CN" altLang="en-US" sz="3600" b="1" dirty="0">
                <a:effectLst/>
              </a:rPr>
              <a:t>：</a:t>
            </a:r>
            <a:endParaRPr lang="en-US" altLang="zh-CN" sz="3600" b="1" dirty="0">
              <a:effectLst/>
            </a:endParaRPr>
          </a:p>
          <a:p>
            <a:pPr lvl="1"/>
            <a:r>
              <a:rPr lang="en-US" altLang="zh-TW" sz="1800" b="1" dirty="0">
                <a:solidFill>
                  <a:srgbClr val="7030A0"/>
                </a:solidFill>
                <a:effectLst/>
                <a:hlinkClick r:id="rId3"/>
              </a:rPr>
              <a:t>https://oaa.ntut.edu.tw/var/file/8/1008/img/2880/AVY_.pdf</a:t>
            </a:r>
            <a:endParaRPr lang="en-US" altLang="zh-TW" sz="1800" b="1" dirty="0">
              <a:solidFill>
                <a:srgbClr val="7030A0"/>
              </a:solidFill>
              <a:effectLst/>
            </a:endParaRPr>
          </a:p>
          <a:p>
            <a:r>
              <a:rPr lang="en-US" altLang="zh-CN" sz="3600" b="1" dirty="0">
                <a:effectLst/>
              </a:rPr>
              <a:t>3.</a:t>
            </a:r>
            <a:r>
              <a:rPr lang="zh-TW" altLang="en-US" sz="3600" b="1" dirty="0">
                <a:effectLst/>
              </a:rPr>
              <a:t>修畢申請表</a:t>
            </a:r>
            <a:r>
              <a:rPr lang="zh-CN" altLang="en-US" sz="3600" b="1" dirty="0">
                <a:effectLst/>
              </a:rPr>
              <a:t>：</a:t>
            </a:r>
            <a:endParaRPr lang="en-US" altLang="zh-CN" sz="3600" b="1" dirty="0">
              <a:effectLst/>
            </a:endParaRPr>
          </a:p>
          <a:p>
            <a:pPr lvl="1"/>
            <a:r>
              <a:rPr lang="en-US" altLang="zh-TW" b="1" dirty="0">
                <a:solidFill>
                  <a:srgbClr val="7030A0"/>
                </a:solidFill>
                <a:effectLst/>
                <a:hlinkClick r:id="rId4"/>
              </a:rPr>
              <a:t>https://oaa.ntut.edu.tw/var/file/8/1008/img/2880/AVY_apply.odt</a:t>
            </a:r>
            <a:endParaRPr lang="en-US" altLang="zh-TW" b="1" dirty="0">
              <a:solidFill>
                <a:srgbClr val="7030A0"/>
              </a:solidFill>
              <a:effectLst/>
            </a:endParaRPr>
          </a:p>
          <a:p>
            <a:endParaRPr lang="en-US" altLang="zh-TW" sz="36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  <a:p>
            <a:r>
              <a:rPr lang="zh-CN" altLang="en-US" sz="3600" b="1" dirty="0">
                <a:effectLst/>
              </a:rPr>
              <a:t>全校所有微</a:t>
            </a:r>
            <a:r>
              <a:rPr lang="zh-CN" altLang="en-US" sz="3600" b="1">
                <a:effectLst/>
              </a:rPr>
              <a:t>學程列表，與修學注意事項：</a:t>
            </a:r>
            <a:r>
              <a:rPr lang="en-US" altLang="zh-CN" sz="3600" b="1" dirty="0">
                <a:solidFill>
                  <a:srgbClr val="7030A0"/>
                </a:solidFill>
                <a:effectLst/>
                <a:hlinkClick r:id="rId5"/>
              </a:rPr>
              <a:t>https://oaa.ntut.edu.tw/p/412-1008-13057.php</a:t>
            </a:r>
            <a:endParaRPr lang="en-US" altLang="zh-CN" sz="3600" b="1" dirty="0">
              <a:solidFill>
                <a:srgbClr val="7030A0"/>
              </a:solidFill>
              <a:effectLst/>
            </a:endParaRPr>
          </a:p>
          <a:p>
            <a:endParaRPr lang="en-US" altLang="zh-TW" sz="36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548464" cy="1265238"/>
          </a:xfrm>
        </p:spPr>
        <p:txBody>
          <a:bodyPr>
            <a:normAutofit fontScale="90000"/>
          </a:bodyPr>
          <a:lstStyle/>
          <a:p>
            <a:pPr algn="ctr"/>
            <a:r>
              <a:rPr lang="zh-TW" altLang="en-US" sz="5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人工智慧賦能跨域應用微學程</a:t>
            </a:r>
            <a:endParaRPr lang="zh-TW" altLang="en-US" sz="5400" b="1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522645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1700809"/>
            <a:ext cx="8867328" cy="1265238"/>
          </a:xfrm>
        </p:spPr>
        <p:txBody>
          <a:bodyPr>
            <a:normAutofit/>
          </a:bodyPr>
          <a:lstStyle/>
          <a:p>
            <a:r>
              <a:rPr lang="zh-CN" altLang="en-US" sz="3200" b="1" dirty="0"/>
              <a:t>基礎課程，最少一門</a:t>
            </a:r>
            <a:endParaRPr lang="en-US" altLang="zh-TW" sz="36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548464" cy="1265238"/>
          </a:xfrm>
        </p:spPr>
        <p:txBody>
          <a:bodyPr>
            <a:normAutofit fontScale="90000"/>
          </a:bodyPr>
          <a:lstStyle/>
          <a:p>
            <a:pPr algn="ctr"/>
            <a:r>
              <a:rPr lang="zh-TW" altLang="en-US" sz="5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人工智慧賦能跨域應用微學程</a:t>
            </a:r>
            <a:endParaRPr lang="zh-TW" altLang="en-US" sz="5400" b="1" dirty="0">
              <a:latin typeface="+mn-lt"/>
              <a:ea typeface="+mn-ea"/>
              <a:cs typeface="+mn-cs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B68864F-595B-4EF5-94E9-C5B228F7C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008" y="2308402"/>
            <a:ext cx="7632848" cy="4428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82675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1700809"/>
            <a:ext cx="8867328" cy="1265238"/>
          </a:xfrm>
        </p:spPr>
        <p:txBody>
          <a:bodyPr>
            <a:normAutofit/>
          </a:bodyPr>
          <a:lstStyle/>
          <a:p>
            <a:r>
              <a:rPr lang="zh-CN" altLang="en-US" sz="3200" b="1" dirty="0"/>
              <a:t>核心課程</a:t>
            </a:r>
            <a:endParaRPr lang="en-US" altLang="zh-CN" sz="3200" b="1" dirty="0"/>
          </a:p>
          <a:p>
            <a:r>
              <a:rPr lang="zh-CN" altLang="en-US" sz="3200" b="1" dirty="0"/>
              <a:t>最少</a:t>
            </a:r>
            <a:r>
              <a:rPr lang="en-US" altLang="zh-CN" sz="3200" b="1" dirty="0"/>
              <a:t>2</a:t>
            </a:r>
            <a:r>
              <a:rPr lang="zh-CN" altLang="en-US" sz="3200" b="1" dirty="0"/>
              <a:t>門</a:t>
            </a:r>
            <a:endParaRPr lang="en-US" altLang="zh-TW" sz="36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548464" cy="1265238"/>
          </a:xfrm>
        </p:spPr>
        <p:txBody>
          <a:bodyPr>
            <a:normAutofit fontScale="90000"/>
          </a:bodyPr>
          <a:lstStyle/>
          <a:p>
            <a:pPr algn="ctr"/>
            <a:r>
              <a:rPr lang="zh-TW" altLang="en-US" sz="5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人工智慧賦能跨域應用微學程</a:t>
            </a:r>
            <a:endParaRPr lang="zh-TW" altLang="en-US" sz="5400" b="1" dirty="0">
              <a:latin typeface="+mn-lt"/>
              <a:ea typeface="+mn-ea"/>
              <a:cs typeface="+mn-cs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58B38DE-74B2-45A9-9E50-8238C55A9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137" y="1524648"/>
            <a:ext cx="6904762" cy="51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841128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1700809"/>
            <a:ext cx="8867328" cy="1265238"/>
          </a:xfrm>
        </p:spPr>
        <p:txBody>
          <a:bodyPr>
            <a:normAutofit/>
          </a:bodyPr>
          <a:lstStyle/>
          <a:p>
            <a:r>
              <a:rPr lang="zh-CN" altLang="en-US" sz="3200" b="1" dirty="0"/>
              <a:t>總整課程最少一門</a:t>
            </a:r>
            <a:endParaRPr lang="en-US" altLang="zh-CN" sz="3200" b="1" dirty="0"/>
          </a:p>
          <a:p>
            <a:pPr lvl="1"/>
            <a:r>
              <a:rPr lang="zh-CN" altLang="en-US" sz="28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專題實作</a:t>
            </a:r>
            <a:r>
              <a:rPr lang="en-US" altLang="zh-CN" sz="28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3</a:t>
            </a:r>
            <a:r>
              <a:rPr lang="zh-CN" altLang="en-US" sz="28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學分（院課程）</a:t>
            </a:r>
            <a:endParaRPr lang="en-US" altLang="zh-TW" sz="32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548464" cy="1265238"/>
          </a:xfrm>
        </p:spPr>
        <p:txBody>
          <a:bodyPr>
            <a:normAutofit fontScale="90000"/>
          </a:bodyPr>
          <a:lstStyle/>
          <a:p>
            <a:pPr algn="ctr"/>
            <a:r>
              <a:rPr lang="zh-TW" altLang="en-US" sz="5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人工智慧賦能跨域應用微學程</a:t>
            </a:r>
            <a:endParaRPr lang="zh-TW" altLang="en-US" sz="5400" b="1" dirty="0">
              <a:latin typeface="+mn-lt"/>
              <a:ea typeface="+mn-ea"/>
              <a:cs typeface="+mn-cs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71A7E4A-AAAE-4418-ADEA-E928A7079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0264" y="3493738"/>
            <a:ext cx="9324528" cy="2401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536279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9D5E9FE0-0473-4A2D-B499-5E98CE3CA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F157AB41-3B4B-45D5-9D00-B9E9F2C7F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 descr="150295757.jpg (1580×1620)">
            <a:extLst>
              <a:ext uri="{FF2B5EF4-FFF2-40B4-BE49-F238E27FC236}">
                <a16:creationId xmlns:a16="http://schemas.microsoft.com/office/drawing/2014/main" id="{1B3FC490-86D2-4213-BD1A-14DEF5AD43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-7567"/>
            <a:ext cx="764319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727025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1700809"/>
            <a:ext cx="8867328" cy="1265238"/>
          </a:xfrm>
        </p:spPr>
        <p:txBody>
          <a:bodyPr>
            <a:normAutofit fontScale="85000" lnSpcReduction="10000"/>
          </a:bodyPr>
          <a:lstStyle/>
          <a:p>
            <a:r>
              <a:rPr lang="zh-TW" altLang="en-US" sz="3200" b="1" dirty="0"/>
              <a:t>修滿</a:t>
            </a:r>
            <a:r>
              <a:rPr lang="en-US" altLang="zh-CN" sz="3200" b="1" dirty="0"/>
              <a:t>11</a:t>
            </a:r>
            <a:r>
              <a:rPr lang="zh-CN" altLang="en-US" sz="3200" b="1" dirty="0"/>
              <a:t>學分</a:t>
            </a:r>
            <a:r>
              <a:rPr lang="zh-TW" altLang="en-US" sz="3200" b="1" dirty="0"/>
              <a:t>門課，就會授予經管領域人工智慧學程</a:t>
            </a:r>
            <a:r>
              <a:rPr lang="zh-CN" altLang="en-US" sz="3200" b="1" dirty="0"/>
              <a:t>：</a:t>
            </a:r>
            <a:endParaRPr lang="en-US" altLang="zh-CN" sz="3200" b="1" dirty="0"/>
          </a:p>
          <a:p>
            <a:r>
              <a:rPr lang="zh-CN" altLang="en-US" sz="32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經管系開授的</a:t>
            </a:r>
            <a:r>
              <a:rPr lang="en-US" altLang="zh-CN" sz="32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3</a:t>
            </a:r>
            <a:r>
              <a:rPr lang="zh-CN" altLang="en-US" sz="32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門課程：</a:t>
            </a:r>
            <a:endParaRPr lang="en-US" altLang="zh-TW" sz="36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548464" cy="1265238"/>
          </a:xfrm>
        </p:spPr>
        <p:txBody>
          <a:bodyPr>
            <a:normAutofit fontScale="90000"/>
          </a:bodyPr>
          <a:lstStyle/>
          <a:p>
            <a:pPr algn="ctr"/>
            <a:r>
              <a:rPr lang="zh-TW" altLang="en-US" sz="5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人工智慧賦能跨域應用微學程</a:t>
            </a:r>
            <a:endParaRPr lang="zh-TW" altLang="en-US" sz="5400" b="1" dirty="0">
              <a:latin typeface="+mn-lt"/>
              <a:ea typeface="+mn-ea"/>
              <a:cs typeface="+mn-cs"/>
            </a:endParaRPr>
          </a:p>
        </p:txBody>
      </p:sp>
      <p:graphicFrame>
        <p:nvGraphicFramePr>
          <p:cNvPr id="6" name="表格 4">
            <a:extLst>
              <a:ext uri="{FF2B5EF4-FFF2-40B4-BE49-F238E27FC236}">
                <a16:creationId xmlns:a16="http://schemas.microsoft.com/office/drawing/2014/main" id="{F2134767-C52D-4F04-9B68-B68082E391C7}"/>
              </a:ext>
            </a:extLst>
          </p:cNvPr>
          <p:cNvGraphicFramePr>
            <a:graphicFrameLocks/>
          </p:cNvGraphicFramePr>
          <p:nvPr/>
        </p:nvGraphicFramePr>
        <p:xfrm>
          <a:off x="-2163" y="2966047"/>
          <a:ext cx="9130644" cy="2970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8147">
                  <a:extLst>
                    <a:ext uri="{9D8B030D-6E8A-4147-A177-3AD203B41FA5}">
                      <a16:colId xmlns:a16="http://schemas.microsoft.com/office/drawing/2014/main" val="2422959583"/>
                    </a:ext>
                  </a:extLst>
                </a:gridCol>
                <a:gridCol w="4278949">
                  <a:extLst>
                    <a:ext uri="{9D8B030D-6E8A-4147-A177-3AD203B41FA5}">
                      <a16:colId xmlns:a16="http://schemas.microsoft.com/office/drawing/2014/main" val="1576783905"/>
                    </a:ext>
                  </a:extLst>
                </a:gridCol>
                <a:gridCol w="3043548">
                  <a:extLst>
                    <a:ext uri="{9D8B030D-6E8A-4147-A177-3AD203B41FA5}">
                      <a16:colId xmlns:a16="http://schemas.microsoft.com/office/drawing/2014/main" val="2530145649"/>
                    </a:ext>
                  </a:extLst>
                </a:gridCol>
              </a:tblGrid>
              <a:tr h="466144">
                <a:tc>
                  <a:txBody>
                    <a:bodyPr/>
                    <a:lstStyle/>
                    <a:p>
                      <a:pPr algn="ctr"/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課程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內容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8245850"/>
                  </a:ext>
                </a:extLst>
              </a:tr>
              <a:tr h="56222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一上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人工智慧</a:t>
                      </a:r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導論</a:t>
                      </a:r>
                      <a:endParaRPr lang="zh-TW" altLang="en-US" sz="2800" b="1" kern="1200" dirty="0">
                        <a:solidFill>
                          <a:srgbClr val="7030A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244086"/>
                  </a:ext>
                </a:extLst>
              </a:tr>
              <a:tr h="78411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二下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人工智慧跨域</a:t>
                      </a:r>
                      <a:endParaRPr lang="en-US" altLang="zh-CN" sz="2800" b="1" kern="1200" dirty="0">
                        <a:solidFill>
                          <a:srgbClr val="7030A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algn="ctr"/>
                      <a:r>
                        <a:rPr lang="en-US" altLang="zh-CN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『</a:t>
                      </a:r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經營管理</a:t>
                      </a:r>
                      <a:r>
                        <a:rPr lang="en-US" altLang="zh-CN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』</a:t>
                      </a:r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之應用</a:t>
                      </a:r>
                      <a:endParaRPr lang="zh-TW" altLang="en-US" sz="2800" b="1" kern="1200" dirty="0">
                        <a:solidFill>
                          <a:srgbClr val="7030A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原：</a:t>
                      </a:r>
                      <a:r>
                        <a:rPr lang="en-US" altLang="zh-CN" sz="28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pandas</a:t>
                      </a:r>
                      <a:endParaRPr lang="zh-TW" altLang="en-US" sz="28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大數據分析</a:t>
                      </a:r>
                      <a:endParaRPr lang="zh-TW" altLang="en-US" sz="28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777328"/>
                  </a:ext>
                </a:extLst>
              </a:tr>
              <a:tr h="78411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三上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人工智慧跨域</a:t>
                      </a:r>
                      <a:endParaRPr lang="en-US" altLang="zh-CN" sz="2800" b="1" kern="1200" dirty="0">
                        <a:solidFill>
                          <a:srgbClr val="7030A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algn="ctr"/>
                      <a:r>
                        <a:rPr lang="en-US" altLang="zh-CN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『</a:t>
                      </a:r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商情預測</a:t>
                      </a:r>
                      <a:r>
                        <a:rPr lang="en-US" altLang="zh-CN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』</a:t>
                      </a:r>
                      <a:r>
                        <a:rPr lang="zh-CN" altLang="en-US" sz="2800" b="1" kern="1200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之應用</a:t>
                      </a:r>
                      <a:endParaRPr lang="zh-TW" altLang="en-US" sz="2800" b="1" kern="1200" dirty="0">
                        <a:solidFill>
                          <a:srgbClr val="7030A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機器學習，</a:t>
                      </a:r>
                      <a:endParaRPr lang="en-US" altLang="zh-TW" sz="28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algn="ctr"/>
                      <a:r>
                        <a:rPr lang="zh-TW" altLang="en-US" sz="28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深度學習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5021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3219768"/>
      </p:ext>
    </p:extLst>
  </p:cSld>
  <p:clrMapOvr>
    <a:masterClrMapping/>
  </p:clrMapOvr>
</p:sld>
</file>

<file path=ppt/theme/theme1.xml><?xml version="1.0" encoding="utf-8"?>
<a:theme xmlns:a="http://schemas.openxmlformats.org/drawingml/2006/main" name="EdBackToSchl(2)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21873A"/>
      </a:hlink>
      <a:folHlink>
        <a:srgbClr val="717E00"/>
      </a:folHlink>
    </a:clrScheme>
    <a:fontScheme name="School Presentation">
      <a:majorFont>
        <a:latin typeface="Bookman Old Style"/>
        <a:ea typeface=""/>
        <a:cs typeface=""/>
      </a:majorFont>
      <a:minorFont>
        <a:latin typeface="Segoe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6A7A3A1A-66C2-44A9-B26B-C232E3FA40F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EdBackToSchl(2)</Template>
  <TotalTime>0</TotalTime>
  <Words>5378</Words>
  <Application>Microsoft Office PowerPoint</Application>
  <PresentationFormat>如螢幕大小 (4:3)</PresentationFormat>
  <Paragraphs>556</Paragraphs>
  <Slides>105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105</vt:i4>
      </vt:variant>
    </vt:vector>
  </HeadingPairs>
  <TitlesOfParts>
    <vt:vector size="113" baseType="lpstr">
      <vt:lpstr>Segoe Condensed</vt:lpstr>
      <vt:lpstr>微軟正黑體</vt:lpstr>
      <vt:lpstr>標楷體</vt:lpstr>
      <vt:lpstr>Arial</vt:lpstr>
      <vt:lpstr>Arial</vt:lpstr>
      <vt:lpstr>Bookman Old Style</vt:lpstr>
      <vt:lpstr>Calibri</vt:lpstr>
      <vt:lpstr>EdBackToSchl(2)</vt:lpstr>
      <vt:lpstr>台北科技大學，經管系，陳擎文 </vt:lpstr>
      <vt:lpstr>重點</vt:lpstr>
      <vt:lpstr>PowerPoint 簡報</vt:lpstr>
      <vt:lpstr>PowerPoint 簡報</vt:lpstr>
      <vt:lpstr>數據分析三部曲</vt:lpstr>
      <vt:lpstr>資料分析相關的工作職稱</vt:lpstr>
      <vt:lpstr>PowerPoint 簡報</vt:lpstr>
      <vt:lpstr>PowerPoint 簡報</vt:lpstr>
      <vt:lpstr>要學pandas數據分析 的第1個理由</vt:lpstr>
      <vt:lpstr>要學pandas數據分析 的第1個理由</vt:lpstr>
      <vt:lpstr>PowerPoint 簡報</vt:lpstr>
      <vt:lpstr>不同性別的銷售數量，銷售金額</vt:lpstr>
      <vt:lpstr>各個業務單位的總銷售金額 和總銷售數量</vt:lpstr>
      <vt:lpstr>比較不同性別，不同產品的比較圖</vt:lpstr>
      <vt:lpstr>比較不同業務單位，不同產品的比較圖</vt:lpstr>
      <vt:lpstr>比較不同業務單位，不同產品的比較圖</vt:lpstr>
      <vt:lpstr>比較不同業務員，不同產品的比較圖</vt:lpstr>
      <vt:lpstr>比較不同業務員，不同產品的比較圖</vt:lpstr>
      <vt:lpstr>比較，分析不同業務單位，不同性別的銷售金額</vt:lpstr>
      <vt:lpstr>PowerPoint 簡報</vt:lpstr>
      <vt:lpstr>商管的量化分析工具</vt:lpstr>
      <vt:lpstr>數據量化分析常用工具： 1.python/pandas，2.SQL，3.power BI，tableau，4.AI</vt:lpstr>
      <vt:lpstr>數據量化分析常用工具： 1.python/pandas，2.SQL，3.power BI，tableau，4.AI</vt:lpstr>
      <vt:lpstr>PowerPoint 簡報</vt:lpstr>
      <vt:lpstr>104人力銀行調查</vt:lpstr>
      <vt:lpstr>104 人力銀行</vt:lpstr>
      <vt:lpstr>台灣104程式工作職缺與薪水排行</vt:lpstr>
      <vt:lpstr>國外企業常用求職平台LinkedIn的程式工作職缺排行</vt:lpstr>
      <vt:lpstr>程式社群Stackoverflow 2022調查工作職缺排行 </vt:lpstr>
      <vt:lpstr>全球最大的程式社群Stackoverflow  2022調查工作職缺排行 </vt:lpstr>
      <vt:lpstr>PowerPoint 簡報</vt:lpstr>
      <vt:lpstr>你們大學4年中老師所教技術 對應全球職場業界職缺需求</vt:lpstr>
      <vt:lpstr>PowerPoint 簡報</vt:lpstr>
      <vt:lpstr>PowerPoint 簡報</vt:lpstr>
      <vt:lpstr>可以放在履歷上用作品集證明實力的課程</vt:lpstr>
      <vt:lpstr>PowerPoint 簡報</vt:lpstr>
      <vt:lpstr>PowerPoint 簡報</vt:lpstr>
      <vt:lpstr>Pandas是進入AI人工智慧程式分析的基礎語言</vt:lpstr>
      <vt:lpstr>PowerPoint 簡報</vt:lpstr>
      <vt:lpstr>是否要選修這門課的第1個考量</vt:lpstr>
      <vt:lpstr>是否要選修這門課的第2個考量</vt:lpstr>
      <vt:lpstr>是否要選修這門課的第3個考量</vt:lpstr>
      <vt:lpstr>PowerPoint 簡報</vt:lpstr>
      <vt:lpstr>這門課要不要選修？</vt:lpstr>
      <vt:lpstr>這門課要不要選修？</vt:lpstr>
      <vt:lpstr>這門課要不要選修？</vt:lpstr>
      <vt:lpstr>這門課不是營養學分</vt:lpstr>
      <vt:lpstr>PowerPoint 簡報</vt:lpstr>
      <vt:lpstr>之前系上學生的學習狀況</vt:lpstr>
      <vt:lpstr>PowerPoint 簡報</vt:lpstr>
      <vt:lpstr>PowerPoint 簡報</vt:lpstr>
      <vt:lpstr>經管系大學部資料分析/資訊相關課程</vt:lpstr>
      <vt:lpstr>系上大學部資訊課程，重點聚焦在 培育1個領域的能力：商業數據分析</vt:lpstr>
      <vt:lpstr>PowerPoint 簡報</vt:lpstr>
      <vt:lpstr>PowerPoint 簡報</vt:lpstr>
      <vt:lpstr>PowerPoint 簡報</vt:lpstr>
      <vt:lpstr>近年來熱門的職業</vt:lpstr>
      <vt:lpstr>熱門的原因</vt:lpstr>
      <vt:lpstr>PowerPoint 簡報</vt:lpstr>
      <vt:lpstr>PowerPoint 簡報</vt:lpstr>
      <vt:lpstr>數據分析師Data Analyst </vt:lpstr>
      <vt:lpstr>數據分析師Data Analyst </vt:lpstr>
      <vt:lpstr>數據分析師Data Analyst </vt:lpstr>
      <vt:lpstr>數據分析師Data Analyst </vt:lpstr>
      <vt:lpstr>數據分析師Data Analyst </vt:lpstr>
      <vt:lpstr>美國的職業評比排名</vt:lpstr>
      <vt:lpstr>美國的職業評比排名</vt:lpstr>
      <vt:lpstr>PowerPoint 簡報</vt:lpstr>
      <vt:lpstr>商業數據分析的2種主要技術：</vt:lpstr>
      <vt:lpstr>PowerPoint 簡報</vt:lpstr>
      <vt:lpstr>學習python分析數據的2種方式</vt:lpstr>
      <vt:lpstr>PowerPoint 簡報</vt:lpstr>
      <vt:lpstr>基礎資料分析 課程的產出</vt:lpstr>
      <vt:lpstr>PowerPoint 簡報</vt:lpstr>
      <vt:lpstr>進階資料分析 課程的產出</vt:lpstr>
      <vt:lpstr>進階資料分析 課程的產出</vt:lpstr>
      <vt:lpstr>進階資料分析 課程的產出</vt:lpstr>
      <vt:lpstr>進階資料分析 課程的產出</vt:lpstr>
      <vt:lpstr>進階資料分析 課程的產出</vt:lpstr>
      <vt:lpstr>PowerPoint 簡報</vt:lpstr>
      <vt:lpstr>進階資料分析 課程的產出</vt:lpstr>
      <vt:lpstr>進階資料分析 課程的產出</vt:lpstr>
      <vt:lpstr>進階資料分析 課程的產出</vt:lpstr>
      <vt:lpstr>進階資料分析 課程的產出</vt:lpstr>
      <vt:lpstr>進階資料分析 課程的產出</vt:lpstr>
      <vt:lpstr>進階資料分析 課程的產出</vt:lpstr>
      <vt:lpstr>PowerPoint 簡報</vt:lpstr>
      <vt:lpstr>PowerPoint 簡報</vt:lpstr>
      <vt:lpstr>python分析數據的2種方式</vt:lpstr>
      <vt:lpstr>數據分析的進階參考書</vt:lpstr>
      <vt:lpstr>PowerPoint 簡報</vt:lpstr>
      <vt:lpstr>教科書：一行指令學Python－用Pandas掌握商務大數據分析</vt:lpstr>
      <vt:lpstr>老師補充資料</vt:lpstr>
      <vt:lpstr>進階課程，都是預測分析，演算法</vt:lpstr>
      <vt:lpstr>PowerPoint 簡報</vt:lpstr>
      <vt:lpstr>本學期的評分方式</vt:lpstr>
      <vt:lpstr>PowerPoint 簡報</vt:lpstr>
      <vt:lpstr>教科書：一行指令學Python－用Pandas掌握商務大數據分析</vt:lpstr>
      <vt:lpstr>PowerPoint 簡報</vt:lpstr>
      <vt:lpstr>人工智慧賦能跨域應用微學程</vt:lpstr>
      <vt:lpstr>人工智慧賦能跨域應用微學程</vt:lpstr>
      <vt:lpstr>人工智慧賦能跨域應用微學程</vt:lpstr>
      <vt:lpstr>人工智慧賦能跨域應用微學程</vt:lpstr>
      <vt:lpstr>PowerPoint 簡報</vt:lpstr>
      <vt:lpstr>人工智慧賦能跨域應用微學程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2012-02-02T03:26:32Z</dcterms:created>
  <dcterms:modified xsi:type="dcterms:W3CDTF">2024-02-02T08:00:00Z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TC101659619990</vt:lpwstr>
  </property>
</Properties>
</file>