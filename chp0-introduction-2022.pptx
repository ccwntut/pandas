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648" r:id="rId2"/>
  </p:sldMasterIdLst>
  <p:notesMasterIdLst>
    <p:notesMasterId r:id="rId56"/>
  </p:notesMasterIdLst>
  <p:handoutMasterIdLst>
    <p:handoutMasterId r:id="rId57"/>
  </p:handoutMasterIdLst>
  <p:sldIdLst>
    <p:sldId id="256" r:id="rId3"/>
    <p:sldId id="448" r:id="rId4"/>
    <p:sldId id="496" r:id="rId5"/>
    <p:sldId id="497" r:id="rId6"/>
    <p:sldId id="340" r:id="rId7"/>
    <p:sldId id="498" r:id="rId8"/>
    <p:sldId id="503" r:id="rId9"/>
    <p:sldId id="543" r:id="rId10"/>
    <p:sldId id="507" r:id="rId11"/>
    <p:sldId id="506" r:id="rId12"/>
    <p:sldId id="553" r:id="rId13"/>
    <p:sldId id="522" r:id="rId14"/>
    <p:sldId id="564" r:id="rId15"/>
    <p:sldId id="263" r:id="rId16"/>
    <p:sldId id="264" r:id="rId17"/>
    <p:sldId id="544" r:id="rId18"/>
    <p:sldId id="509" r:id="rId19"/>
    <p:sldId id="545" r:id="rId20"/>
    <p:sldId id="510" r:id="rId21"/>
    <p:sldId id="546" r:id="rId22"/>
    <p:sldId id="511" r:id="rId23"/>
    <p:sldId id="512" r:id="rId24"/>
    <p:sldId id="547" r:id="rId25"/>
    <p:sldId id="513" r:id="rId26"/>
    <p:sldId id="514" r:id="rId27"/>
    <p:sldId id="563" r:id="rId28"/>
    <p:sldId id="548" r:id="rId29"/>
    <p:sldId id="261" r:id="rId30"/>
    <p:sldId id="517" r:id="rId31"/>
    <p:sldId id="551" r:id="rId32"/>
    <p:sldId id="526" r:id="rId33"/>
    <p:sldId id="552" r:id="rId34"/>
    <p:sldId id="554" r:id="rId35"/>
    <p:sldId id="555" r:id="rId36"/>
    <p:sldId id="557" r:id="rId37"/>
    <p:sldId id="558" r:id="rId38"/>
    <p:sldId id="560" r:id="rId39"/>
    <p:sldId id="561" r:id="rId40"/>
    <p:sldId id="556" r:id="rId41"/>
    <p:sldId id="559" r:id="rId42"/>
    <p:sldId id="562" r:id="rId43"/>
    <p:sldId id="549" r:id="rId44"/>
    <p:sldId id="518" r:id="rId45"/>
    <p:sldId id="519" r:id="rId46"/>
    <p:sldId id="520" r:id="rId47"/>
    <p:sldId id="521" r:id="rId48"/>
    <p:sldId id="550" r:id="rId49"/>
    <p:sldId id="508" r:id="rId50"/>
    <p:sldId id="504" r:id="rId51"/>
    <p:sldId id="499" r:id="rId52"/>
    <p:sldId id="500" r:id="rId53"/>
    <p:sldId id="501" r:id="rId54"/>
    <p:sldId id="502" r:id="rId55"/>
  </p:sldIdLst>
  <p:sldSz cx="9144000" cy="6858000" type="screen4x3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 autoAdjust="0"/>
    <p:restoredTop sz="93977" autoAdjust="0"/>
  </p:normalViewPr>
  <p:slideViewPr>
    <p:cSldViewPr>
      <p:cViewPr varScale="1">
        <p:scale>
          <a:sx n="68" d="100"/>
          <a:sy n="68" d="100"/>
        </p:scale>
        <p:origin x="107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1579" y="-8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3" name="Rectangl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9472DD5C-B6A9-4714-908F-0B8F74738B98}" type="datetimeFigureOut">
              <a:rPr lang="en-US" altLang="zh-TW" smtClean="0"/>
              <a:pPr/>
              <a:t>5/22/2023</a:t>
            </a:fld>
            <a:endParaRPr lang="zh-TW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7C1C90DE-A98B-4173-B17E-434F189FC4DB}" type="slidenum">
              <a:rPr lang="zh-TW" smtClean="0"/>
              <a:pPr/>
              <a:t>‹#›</a:t>
            </a:fld>
            <a:endParaRPr 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Rectangl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zh-TW" sz="1200"/>
            </a:lvl1pPr>
          </a:lstStyle>
          <a:p>
            <a:fld id="{193366E8-8A22-4400-BBA2-8D322280A6E8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4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Rectangl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zh-TW" sz="1200"/>
            </a:lvl1pPr>
          </a:lstStyle>
          <a:p>
            <a:fld id="{3792D2CF-A01B-4515-8B40-3DC34258267A}" type="slidenum">
              <a:rPr/>
              <a:pPr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92D2CF-A01B-4515-8B40-3DC34258267A}" type="slidenum">
              <a:rPr lang="zh-TW" smtClean="0"/>
              <a:pPr/>
              <a:t>1</a:t>
            </a:fld>
            <a:endParaRPr lang="zh-TW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4000" cy="6858000"/>
            <a:chOff x="-1574" y="0"/>
            <a:chExt cx="914400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>
              <a:duotone>
                <a:schemeClr val="accent1"/>
                <a:srgbClr val="FFFFFF"/>
              </a:duotone>
              <a:lum bright="-10000"/>
            </a:blip>
            <a:stretch>
              <a:fillRect/>
            </a:stretch>
          </p:blipFill>
          <p:spPr>
            <a:xfrm>
              <a:off x="-1574" y="381000"/>
              <a:ext cx="9144000" cy="609361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Rectangle 10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Shape 20"/>
          <p:cNvSpPr>
            <a:spLocks noGrp="1"/>
          </p:cNvSpPr>
          <p:nvPr>
            <p:ph type="title"/>
          </p:nvPr>
        </p:nvSpPr>
        <p:spPr>
          <a:xfrm>
            <a:off x="704850" y="4495800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subTitle" idx="1"/>
          </p:nvPr>
        </p:nvSpPr>
        <p:spPr>
          <a:xfrm>
            <a:off x="1371600" y="2667000"/>
            <a:ext cx="6400800" cy="1752600"/>
          </a:xfrm>
        </p:spPr>
        <p:txBody>
          <a:bodyPr anchor="b" anchorCtr="0"/>
          <a:lstStyle>
            <a:lvl1pPr marL="0" indent="0" algn="ctr" latinLnBrk="0">
              <a:buNone/>
              <a:defRPr lang="zh-TW">
                <a:solidFill>
                  <a:schemeClr val="bg2"/>
                </a:solidFill>
                <a:effectLst/>
              </a:defRPr>
            </a:lvl1pPr>
            <a:lvl2pPr marL="457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7" name="Rectang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小節標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74" y="0"/>
            <a:ext cx="9145574" cy="6858000"/>
            <a:chOff x="-1574" y="0"/>
            <a:chExt cx="9145574" cy="6858000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381000"/>
              <a:ext cx="9144000" cy="6096000"/>
            </a:xfrm>
            <a:prstGeom prst="rect">
              <a:avLst/>
            </a:prstGeom>
            <a:gradFill>
              <a:gsLst>
                <a:gs pos="0">
                  <a:schemeClr val="accent1">
                    <a:tint val="40000"/>
                  </a:schemeClr>
                </a:gs>
                <a:gs pos="100000">
                  <a:schemeClr val="accent1">
                    <a:shade val="75000"/>
                  </a:schemeClr>
                </a:gs>
              </a:gsLst>
              <a:path path="circle">
                <a:fillToRect l="100000" t="100000" r="100000" b="100000"/>
              </a:path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-1574" y="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-1574" y="6553200"/>
              <a:ext cx="9144000" cy="304800"/>
            </a:xfrm>
            <a:prstGeom prst="rect">
              <a:avLst/>
            </a:prstGeom>
            <a:solidFill>
              <a:schemeClr val="bg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-1574" y="381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-1574" y="647700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4505325"/>
            <a:ext cx="7772400" cy="1362075"/>
          </a:xfrm>
          <a:prstGeom prst="rect">
            <a:avLst/>
          </a:prstGeom>
        </p:spPr>
        <p:txBody>
          <a:bodyPr anchor="t"/>
          <a:lstStyle>
            <a:lvl1pPr algn="ctr" latinLnBrk="0">
              <a:defRPr lang="zh-TW" sz="4000" b="0" cap="none" baseline="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 algn="ctr" latinLnBrk="0">
              <a:buNone/>
              <a:defRPr lang="zh-TW" sz="2800">
                <a:solidFill>
                  <a:schemeClr val="tx1"/>
                </a:solidFill>
              </a:defRPr>
            </a:lvl1pPr>
            <a:lvl2pPr marL="457200" indent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latinLnBrk="0">
              <a:defRPr lang="zh-TW" sz="2800"/>
            </a:lvl1pPr>
            <a:lvl2pPr>
              <a:defRPr lang="zh-TW" sz="2400"/>
            </a:lvl2pPr>
            <a:lvl3pPr>
              <a:defRPr lang="zh-TW" sz="2000"/>
            </a:lvl3pPr>
            <a:lvl4pPr>
              <a:defRPr lang="zh-TW" sz="1800"/>
            </a:lvl4pPr>
            <a:lvl5pPr>
              <a:defRPr lang="zh-TW" sz="1800"/>
            </a:lvl5pPr>
            <a:lvl6pPr>
              <a:defRPr lang="zh-TW" sz="1800"/>
            </a:lvl6pPr>
            <a:lvl7pPr>
              <a:defRPr lang="zh-TW" sz="1800"/>
            </a:lvl7pPr>
            <a:lvl8pPr>
              <a:defRPr lang="zh-TW" sz="1800"/>
            </a:lvl8pPr>
            <a:lvl9pPr>
              <a:defRPr lang="zh-TW"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8" name="Rectang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對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 latinLnBrk="0">
              <a:buNone/>
              <a:defRPr lang="zh-TW" sz="2400" b="0">
                <a:solidFill>
                  <a:schemeClr val="tx2"/>
                </a:solidFill>
              </a:defRPr>
            </a:lvl1pPr>
            <a:lvl2pPr marL="457200" indent="0">
              <a:buNone/>
              <a:defRPr lang="zh-TW" sz="2000" b="1"/>
            </a:lvl2pPr>
            <a:lvl3pPr marL="914400" indent="0">
              <a:buNone/>
              <a:defRPr lang="zh-TW" sz="1800" b="1"/>
            </a:lvl3pPr>
            <a:lvl4pPr marL="1371600" indent="0">
              <a:buNone/>
              <a:defRPr lang="zh-TW" sz="1600" b="1"/>
            </a:lvl4pPr>
            <a:lvl5pPr marL="1828800" indent="0">
              <a:buNone/>
              <a:defRPr lang="zh-TW" sz="1600" b="1"/>
            </a:lvl5pPr>
            <a:lvl6pPr marL="2286000" indent="0">
              <a:buNone/>
              <a:defRPr lang="zh-TW" sz="1600" b="1"/>
            </a:lvl6pPr>
            <a:lvl7pPr marL="2743200" indent="0">
              <a:buNone/>
              <a:defRPr lang="zh-TW" sz="1600" b="1"/>
            </a:lvl7pPr>
            <a:lvl8pPr marL="3200400" indent="0">
              <a:buNone/>
              <a:defRPr lang="zh-TW" sz="1600" b="1"/>
            </a:lvl8pPr>
            <a:lvl9pPr marL="3657600" indent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 latinLnBrk="0">
              <a:defRPr lang="zh-TW" sz="2400"/>
            </a:lvl1pPr>
            <a:lvl2pPr>
              <a:defRPr lang="zh-TW" sz="2000"/>
            </a:lvl2pPr>
            <a:lvl3pPr>
              <a:defRPr lang="zh-TW" sz="1800"/>
            </a:lvl3pPr>
            <a:lvl4pPr>
              <a:defRPr lang="zh-TW" sz="1600"/>
            </a:lvl4pPr>
            <a:lvl5pPr>
              <a:defRPr lang="zh-TW" sz="1600"/>
            </a:lvl5pPr>
            <a:lvl6pPr>
              <a:defRPr lang="zh-TW" sz="1600"/>
            </a:lvl6pPr>
            <a:lvl7pPr>
              <a:defRPr lang="zh-TW" sz="1600"/>
            </a:lvl7pPr>
            <a:lvl8pPr>
              <a:defRPr lang="zh-TW" sz="1600"/>
            </a:lvl8pPr>
            <a:lvl9pPr>
              <a:defRPr lang="zh-TW"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8" name="Shap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Shap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>
            <a:spLocks noGrp="1"/>
          </p:cNvSpPr>
          <p:nvPr>
            <p:ph idx="1"/>
          </p:nvPr>
        </p:nvSpPr>
        <p:spPr>
          <a:xfrm>
            <a:off x="3575050" y="1600201"/>
            <a:ext cx="5111750" cy="4525963"/>
          </a:xfrm>
        </p:spPr>
        <p:txBody>
          <a:bodyPr/>
          <a:lstStyle>
            <a:lvl1pPr latinLnBrk="0">
              <a:defRPr lang="zh-TW" sz="3200">
                <a:solidFill>
                  <a:schemeClr val="tx1"/>
                </a:solidFill>
              </a:defRPr>
            </a:lvl1pPr>
            <a:lvl2pPr>
              <a:defRPr lang="zh-TW" sz="2800"/>
            </a:lvl2pPr>
            <a:lvl3pPr>
              <a:defRPr lang="zh-TW" sz="2400"/>
            </a:lvl3pPr>
            <a:lvl4pPr>
              <a:defRPr lang="zh-TW" sz="2000"/>
            </a:lvl4pPr>
            <a:lvl5pPr>
              <a:defRPr lang="zh-TW" sz="2000"/>
            </a:lvl5pPr>
            <a:lvl6pPr>
              <a:defRPr lang="zh-TW" sz="2000"/>
            </a:lvl6pPr>
            <a:lvl7pPr>
              <a:defRPr lang="zh-TW" sz="2000"/>
            </a:lvl7pPr>
            <a:lvl8pPr>
              <a:defRPr lang="zh-TW" sz="2000"/>
            </a:lvl8pPr>
            <a:lvl9pPr>
              <a:defRPr lang="zh-TW"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457201" y="1600201"/>
            <a:ext cx="3008313" cy="4525963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9" name="Rectang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 latinLnBrk="0">
              <a:defRPr lang="zh-TW" sz="2000" b="0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 latinLnBrk="0">
              <a:buNone/>
              <a:defRPr lang="zh-TW" sz="3200"/>
            </a:lvl1pPr>
            <a:lvl2pPr marL="457200" indent="0">
              <a:buNone/>
              <a:defRPr lang="zh-TW" sz="2800"/>
            </a:lvl2pPr>
            <a:lvl3pPr marL="914400" indent="0">
              <a:buNone/>
              <a:defRPr lang="zh-TW" sz="2400"/>
            </a:lvl3pPr>
            <a:lvl4pPr marL="1371600" indent="0">
              <a:buNone/>
              <a:defRPr lang="zh-TW" sz="2000"/>
            </a:lvl4pPr>
            <a:lvl5pPr marL="1828800" indent="0">
              <a:buNone/>
              <a:defRPr lang="zh-TW" sz="2000"/>
            </a:lvl5pPr>
            <a:lvl6pPr marL="2286000" indent="0">
              <a:buNone/>
              <a:defRPr lang="zh-TW" sz="2000"/>
            </a:lvl6pPr>
            <a:lvl7pPr marL="2743200" indent="0">
              <a:buNone/>
              <a:defRPr lang="zh-TW" sz="2000"/>
            </a:lvl7pPr>
            <a:lvl8pPr marL="3200400" indent="0">
              <a:buNone/>
              <a:defRPr lang="zh-TW" sz="2000"/>
            </a:lvl8pPr>
            <a:lvl9pPr marL="3657600" indent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 latinLnBrk="0">
              <a:buNone/>
              <a:defRPr lang="zh-TW" sz="1400"/>
            </a:lvl1pPr>
            <a:lvl2pPr marL="457200" indent="0">
              <a:buNone/>
              <a:defRPr lang="zh-TW" sz="1200"/>
            </a:lvl2pPr>
            <a:lvl3pPr marL="914400" indent="0">
              <a:buNone/>
              <a:defRPr lang="zh-TW" sz="1000"/>
            </a:lvl3pPr>
            <a:lvl4pPr marL="1371600" indent="0">
              <a:buNone/>
              <a:defRPr lang="zh-TW" sz="900"/>
            </a:lvl4pPr>
            <a:lvl5pPr marL="1828800" indent="0">
              <a:buNone/>
              <a:defRPr lang="zh-TW" sz="900"/>
            </a:lvl5pPr>
            <a:lvl6pPr marL="2286000" indent="0">
              <a:buNone/>
              <a:defRPr lang="zh-TW" sz="900"/>
            </a:lvl6pPr>
            <a:lvl7pPr marL="2743200" indent="0">
              <a:buNone/>
              <a:defRPr lang="zh-TW" sz="900"/>
            </a:lvl7pPr>
            <a:lvl8pPr marL="3200400" indent="0">
              <a:buNone/>
              <a:defRPr lang="zh-TW" sz="900"/>
            </a:lvl8pPr>
            <a:lvl9pPr marL="3657600" indent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9144000" cy="1506538"/>
            <a:chOff x="0" y="0"/>
            <a:chExt cx="9144000" cy="1506538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11" cstate="print">
              <a:duotone>
                <a:schemeClr val="accent1"/>
                <a:srgbClr val="FFFFFF"/>
              </a:duotone>
            </a:blip>
            <a:srcRect/>
            <a:stretch>
              <a:fillRect/>
            </a:stretch>
          </p:blipFill>
          <p:spPr>
            <a:xfrm>
              <a:off x="0" y="1"/>
              <a:ext cx="9144000" cy="1419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 userDrawn="1"/>
          </p:nvSpPr>
          <p:spPr>
            <a:xfrm>
              <a:off x="0" y="0"/>
              <a:ext cx="9144000" cy="1447800"/>
            </a:xfrm>
            <a:prstGeom prst="rect">
              <a:avLst/>
            </a:prstGeom>
            <a:gradFill flip="none" rotWithShape="1">
              <a:gsLst>
                <a:gs pos="0">
                  <a:schemeClr val="accent1"/>
                </a:gs>
                <a:gs pos="49000">
                  <a:schemeClr val="accent1">
                    <a:tint val="20000"/>
                    <a:alpha val="0"/>
                  </a:schemeClr>
                </a:gs>
              </a:gsLst>
              <a:lin ang="0" scaled="1"/>
              <a:tileRect/>
            </a:gra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/>
            </a:p>
          </p:txBody>
        </p:sp>
        <p:cxnSp>
          <p:nvCxnSpPr>
            <p:cNvPr id="8" name="Straight Connector 7"/>
            <p:cNvCxnSpPr/>
            <p:nvPr/>
          </p:nvCxnSpPr>
          <p:spPr>
            <a:xfrm>
              <a:off x="0" y="1428750"/>
              <a:ext cx="9144000" cy="1588"/>
            </a:xfrm>
            <a:prstGeom prst="line">
              <a:avLst/>
            </a:prstGeom>
            <a:ln w="38100" cap="flat" cmpd="sng" algn="ctr">
              <a:solidFill>
                <a:schemeClr val="accent1">
                  <a:shade val="75000"/>
                </a:schemeClr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0" y="1504950"/>
              <a:ext cx="9144000" cy="1588"/>
            </a:xfrm>
            <a:prstGeom prst="line">
              <a:avLst/>
            </a:prstGeom>
            <a:ln w="15875" cap="flat" cmpd="sng" algn="ctr">
              <a:solidFill>
                <a:schemeClr val="tx1"/>
              </a:solidFill>
              <a:prstDash val="solid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0D0AA-A564-40E6-BDF9-FE3371FD07B4}" type="datetimeFigureOut">
              <a:rPr lang="zh-TW" altLang="en-US"/>
              <a:pPr/>
              <a:t>2023/5/22</a:t>
            </a:fld>
            <a:endParaRPr lang="zh-TW"/>
          </a:p>
        </p:txBody>
      </p:sp>
      <p:sp>
        <p:nvSpPr>
          <p:cNvPr id="5" name="Rectangl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latinLnBrk="0">
              <a:defRPr lang="zh-TW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D2430-FB11-4C87-BF1D-6F488A17F237}" type="slidenum">
              <a:rPr/>
              <a:pPr/>
              <a:t>‹#›</a:t>
            </a:fld>
            <a:endParaRPr lang="zh-TW"/>
          </a:p>
        </p:txBody>
      </p:sp>
      <p:sp>
        <p:nvSpPr>
          <p:cNvPr id="13" name="Rectangle 1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65238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kumimoji="0" lang="zh-TW" sz="4000" b="0" u="none" strike="noStrike" kern="1200" cap="none" spc="0" normalizeH="0" baseline="0">
          <a:ln>
            <a:noFill/>
          </a:ln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uLnTx/>
          <a:uFillTx/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spcAft>
          <a:spcPts val="400"/>
        </a:spcAft>
        <a:buFont typeface="Arial"/>
        <a:buChar char="•"/>
        <a:defRPr lang="zh-TW" sz="2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lang="zh-TW" sz="24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lang="zh-TW" sz="1800" kern="1200">
          <a:solidFill>
            <a:schemeClr val="tx1"/>
          </a:solidFill>
          <a:effectLst>
            <a:outerShdw blurRad="50800" dist="50800" dir="2700000" algn="tl" rotWithShape="0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lang="zh-TW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lang="zh-TW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HmWdlUYjS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vs9KuuDPaIc?t=96" TargetMode="External"/><Relationship Id="rId2" Type="http://schemas.openxmlformats.org/officeDocument/2006/relationships/hyperlink" Target="https://www.youtube.com/watch?v=aNaElUzxvPE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aM4ZljKdXY&amp;t=0s" TargetMode="External"/><Relationship Id="rId2" Type="http://schemas.openxmlformats.org/officeDocument/2006/relationships/hyperlink" Target="https://www.youtube.com/watch?v=NZ6BMUVn5d4&amp;t=0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32frJpvFhc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UVX2NqOOEg" TargetMode="External"/><Relationship Id="rId2" Type="http://schemas.openxmlformats.org/officeDocument/2006/relationships/hyperlink" Target="https://www.youtube.com/watch?v=9EcOu_GLsfA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ooks.com.tw/products/0010921275?loc=M_br_r0vq68ygz_D_2aabd0_B_1" TargetMode="External"/><Relationship Id="rId2" Type="http://schemas.openxmlformats.org/officeDocument/2006/relationships/hyperlink" Target="https://www.books.com.tw/products/0010859289?sloc=main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ooks.com.tw/products/CN11723157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bap2.cm.nsysu.edu.tw/?page_id=1694" TargetMode="External"/><Relationship Id="rId3" Type="http://schemas.openxmlformats.org/officeDocument/2006/relationships/hyperlink" Target="https://tw.coursera.org/learn/pbc2/home/week/4" TargetMode="External"/><Relationship Id="rId7" Type="http://schemas.openxmlformats.org/officeDocument/2006/relationships/hyperlink" Target="https://college.itri.org.tw/Home/LessonData/7765E126-C587-49CB-8320-4026A3CF8117" TargetMode="External"/><Relationship Id="rId2" Type="http://schemas.openxmlformats.org/officeDocument/2006/relationships/hyperlink" Target="https://tw.coursera.org/learn/pbc2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lege.itri.org.tw/Home/LessonData/0A72A944-1D56-49DB-8B18-00FF1568D1C0" TargetMode="External"/><Relationship Id="rId5" Type="http://schemas.openxmlformats.org/officeDocument/2006/relationships/hyperlink" Target="https://medium.com/%E5%B1%95%E9%96%8B%E6%95%B8%E6%93%9A%E4%BA%BA%E7%94%9F/python%E6%A9%9F%E5%99%A8%E5%AD%B8%E7%BF%92%E5%85%A5%E9%96%80-%E4%BA%8C-bbc8414d4632" TargetMode="External"/><Relationship Id="rId4" Type="http://schemas.openxmlformats.org/officeDocument/2006/relationships/hyperlink" Target="https://www.classcentral.com/course/pbc3-11205" TargetMode="Externa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611929" y="1570112"/>
            <a:ext cx="7848872" cy="1584176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6600" b="1" dirty="0">
                <a:latin typeface="微軟正黑體" pitchFamily="34" charset="-120"/>
                <a:ea typeface="微軟正黑體" pitchFamily="34" charset="-120"/>
              </a:rPr>
              <a:t>大數據分析</a:t>
            </a:r>
            <a:endParaRPr lang="en-US" altLang="zh-CN" sz="6600" b="1" dirty="0">
              <a:latin typeface="微軟正黑體" pitchFamily="34" charset="-120"/>
              <a:ea typeface="微軟正黑體" pitchFamily="34" charset="-120"/>
            </a:endParaRPr>
          </a:p>
          <a:p>
            <a:r>
              <a:rPr lang="zh-CN" altLang="en-US" sz="6600" b="1" dirty="0"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zh-TW" altLang="en-US" sz="6600" b="1" dirty="0"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10" name="Rectang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軟正黑體" pitchFamily="34" charset="-120"/>
                <a:ea typeface="微軟正黑體" pitchFamily="34" charset="-120"/>
              </a:rPr>
              <a:t>台北科技大學，經管系，陳擎文</a:t>
            </a:r>
            <a:br>
              <a:rPr lang="en-US" altLang="zh-CN" b="1" dirty="0">
                <a:latin typeface="微軟正黑體" pitchFamily="34" charset="-120"/>
                <a:ea typeface="微軟正黑體" pitchFamily="34" charset="-120"/>
              </a:rPr>
            </a:br>
            <a:endParaRPr lang="zh-TW" altLang="en-US" b="1" dirty="0"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2348880"/>
            <a:ext cx="8352928" cy="4032448"/>
          </a:xfrm>
        </p:spPr>
        <p:txBody>
          <a:bodyPr>
            <a:normAutofit/>
          </a:bodyPr>
          <a:lstStyle/>
          <a:p>
            <a:r>
              <a:rPr lang="zh-TW" altLang="en-US" sz="6000" b="1" dirty="0"/>
              <a:t>在大學四年中，</a:t>
            </a:r>
            <a:endParaRPr lang="en-US" altLang="zh-TW" sz="6000" b="1" dirty="0"/>
          </a:p>
          <a:p>
            <a:r>
              <a:rPr lang="zh-TW" altLang="en-US" sz="6000" b="1" dirty="0"/>
              <a:t>哪一門課學了之後，</a:t>
            </a:r>
            <a:endParaRPr lang="en-US" altLang="zh-TW" sz="6000" b="1" dirty="0"/>
          </a:p>
          <a:p>
            <a:r>
              <a:rPr lang="zh-TW" altLang="en-US" sz="6000" b="1" dirty="0"/>
              <a:t>就可以馬上拿來賺錢呢？</a:t>
            </a:r>
            <a:endParaRPr lang="zh-TW" altLang="en-US" sz="60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883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924944"/>
            <a:ext cx="7200800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而且薪水還很好</a:t>
            </a:r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212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2636912"/>
            <a:ext cx="8064896" cy="3456384"/>
          </a:xfrm>
        </p:spPr>
        <p:txBody>
          <a:bodyPr>
            <a:normAutofit/>
          </a:bodyPr>
          <a:lstStyle/>
          <a:p>
            <a:r>
              <a:rPr lang="zh-CN" altLang="en-US" sz="7200" b="1" dirty="0"/>
              <a:t>那就是</a:t>
            </a:r>
            <a:endParaRPr lang="en-US" altLang="zh-CN" sz="7200" b="1" dirty="0"/>
          </a:p>
          <a:p>
            <a:r>
              <a:rPr lang="zh-CN" altLang="en-US" sz="7200" b="1" dirty="0">
                <a:solidFill>
                  <a:srgbClr val="7030A0"/>
                </a:solidFill>
                <a:latin typeface="微軟正黑體" pitchFamily="34" charset="-120"/>
                <a:ea typeface="微軟正黑體" pitchFamily="34" charset="-120"/>
              </a:rPr>
              <a:t>商業數據程式分析</a:t>
            </a:r>
            <a:endParaRPr lang="zh-TW" altLang="en-US" sz="7200" b="1" dirty="0">
              <a:solidFill>
                <a:srgbClr val="7030A0"/>
              </a:solidFill>
              <a:latin typeface="微軟正黑體" pitchFamily="34" charset="-120"/>
              <a:ea typeface="微軟正黑體" pitchFamily="34" charset="-120"/>
            </a:endParaRPr>
          </a:p>
          <a:p>
            <a:endParaRPr lang="zh-TW" altLang="en-US" sz="7200" b="1" dirty="0">
              <a:solidFill>
                <a:schemeClr val="bg1">
                  <a:lumMod val="75000"/>
                </a:schemeClr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86439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12776"/>
            <a:ext cx="8686800" cy="5148808"/>
          </a:xfrm>
        </p:spPr>
        <p:txBody>
          <a:bodyPr>
            <a:noAutofit/>
          </a:bodyPr>
          <a:lstStyle/>
          <a:p>
            <a:r>
              <a:rPr lang="zh-TW" altLang="en-US" sz="3200" b="1" dirty="0">
                <a:effectLst/>
              </a:rPr>
              <a:t>在國內外這幾年的就業市場有個領域非常熱門，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數據分析師</a:t>
            </a:r>
            <a:r>
              <a:rPr lang="en-US" altLang="zh-TW" sz="2800" b="1" dirty="0">
                <a:effectLst/>
              </a:rPr>
              <a:t>/Data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  <a:effectLst/>
              </a:rPr>
              <a:t>商業分析師</a:t>
            </a:r>
            <a:r>
              <a:rPr lang="en-US" altLang="zh-TW" sz="2800" b="1" dirty="0">
                <a:effectLst/>
              </a:rPr>
              <a:t>/ Business analyst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Scientist</a:t>
            </a:r>
            <a:r>
              <a:rPr lang="zh-TW" altLang="en-US" sz="2800" b="1" dirty="0">
                <a:effectLst/>
              </a:rPr>
              <a:t>，</a:t>
            </a:r>
            <a:r>
              <a:rPr lang="en-US" altLang="zh-TW" sz="2800" b="1" dirty="0">
                <a:solidFill>
                  <a:srgbClr val="C00000"/>
                </a:solidFill>
                <a:effectLst/>
              </a:rPr>
              <a:t>data engineer</a:t>
            </a:r>
          </a:p>
          <a:p>
            <a:r>
              <a:rPr lang="zh-TW" altLang="en-US" sz="3200" b="1" dirty="0">
                <a:effectLst/>
              </a:rPr>
              <a:t>這方面的工作不但多，而且橫跨各種領域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金融，百貨，汽車，零售</a:t>
            </a:r>
            <a:r>
              <a:rPr lang="en-US" altLang="zh-TW" sz="2800" b="1" dirty="0">
                <a:effectLst/>
              </a:rPr>
              <a:t>…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pPr lvl="1"/>
            <a:r>
              <a:rPr lang="zh-TW" altLang="en-US" sz="2800" b="1" dirty="0">
                <a:effectLst/>
              </a:rPr>
              <a:t>而且</a:t>
            </a:r>
            <a:r>
              <a:rPr lang="zh-TW" altLang="en-US" sz="2800" b="1" dirty="0">
                <a:solidFill>
                  <a:srgbClr val="7030A0"/>
                </a:solidFill>
                <a:effectLst/>
              </a:rPr>
              <a:t>薪水高，在歐美的薪資市場，是僅次於軟體設計師的</a:t>
            </a:r>
            <a:r>
              <a:rPr lang="zh-TW" altLang="en-US" sz="2800" b="1" dirty="0">
                <a:effectLst/>
              </a:rPr>
              <a:t>，</a:t>
            </a:r>
            <a:endParaRPr lang="en-US" altLang="zh-TW" sz="2800" b="1" dirty="0">
              <a:effectLst/>
            </a:endParaRPr>
          </a:p>
          <a:p>
            <a:r>
              <a:rPr lang="zh-TW" altLang="en-US" sz="3200" b="1" dirty="0">
                <a:effectLst/>
              </a:rPr>
              <a:t>因此造成近年有不少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非企管</a:t>
            </a:r>
            <a:r>
              <a:rPr lang="zh-TW" altLang="en-US" sz="3200" b="1" dirty="0">
                <a:effectLst/>
              </a:rPr>
              <a:t>領域的人，轉職到數據分析師。</a:t>
            </a:r>
            <a:endParaRPr lang="zh-TW" altLang="zh-TW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近年來熱門的職業</a:t>
            </a:r>
            <a:endParaRPr lang="zh-TW" altLang="zh-TW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09032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16832"/>
            <a:ext cx="8807896" cy="4644752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</a:rPr>
              <a:t>數據分析師</a:t>
            </a:r>
            <a:r>
              <a:rPr lang="zh-CN" altLang="en-US" sz="4000" b="1" dirty="0">
                <a:effectLst/>
              </a:rPr>
              <a:t>熱門的原因：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1.</a:t>
            </a:r>
            <a:r>
              <a:rPr lang="zh-CN" altLang="en-US" sz="4400" b="1" dirty="0">
                <a:effectLst/>
              </a:rPr>
              <a:t>資料量，以後只會越來越</a:t>
            </a:r>
            <a:r>
              <a:rPr lang="zh-CN" altLang="en-US" sz="4400" b="1" dirty="0">
                <a:solidFill>
                  <a:srgbClr val="C00000"/>
                </a:solidFill>
                <a:effectLst/>
              </a:rPr>
              <a:t>大量</a:t>
            </a:r>
            <a:endParaRPr lang="en-US" altLang="zh-TW" sz="44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2.</a:t>
            </a:r>
            <a:r>
              <a:rPr lang="zh-TW" altLang="en-US" sz="4400" b="1" dirty="0">
                <a:effectLst/>
              </a:rPr>
              <a:t>現今企業如果想做數據蒐集的方法</a:t>
            </a:r>
            <a:r>
              <a:rPr lang="zh-CN" altLang="en-US" sz="4400" b="1" dirty="0">
                <a:effectLst/>
              </a:rPr>
              <a:t>，</a:t>
            </a:r>
            <a:r>
              <a:rPr lang="zh-TW" altLang="en-US" sz="4400" b="1" dirty="0">
                <a:effectLst/>
              </a:rPr>
              <a:t>變得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非常多元</a:t>
            </a:r>
            <a:r>
              <a:rPr lang="zh-CN" altLang="en-US" sz="4400" b="1" dirty="0">
                <a:effectLst/>
              </a:rPr>
              <a:t> </a:t>
            </a:r>
            <a:endParaRPr lang="en-US" altLang="zh-CN" sz="44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熱門的原因</a:t>
            </a:r>
            <a:endParaRPr lang="zh-TW" altLang="zh-TW" sz="6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4110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2D70E8E-7BEB-42BA-837C-A0CBA375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2D62DB3-266E-450B-98BA-EE0851FB5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 descr="https://acupun.site/lecture/python_data/example/chp01/p15.png">
            <a:extLst>
              <a:ext uri="{FF2B5EF4-FFF2-40B4-BE49-F238E27FC236}">
                <a16:creationId xmlns:a16="http://schemas.microsoft.com/office/drawing/2014/main" id="{5736CA80-BB6C-4BBD-B5E7-88DFC3D174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7669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7584" y="1268760"/>
            <a:ext cx="8316416" cy="3600400"/>
          </a:xfrm>
        </p:spPr>
        <p:txBody>
          <a:bodyPr vert="horz" rtlCol="0">
            <a:normAutofit/>
          </a:bodyPr>
          <a:lstStyle/>
          <a:p>
            <a:r>
              <a:rPr lang="en-US" altLang="zh-CN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4</a:t>
            </a: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個案例，了解數據分析師的熱門與工作內容</a:t>
            </a:r>
            <a:endParaRPr lang="zh-TW" altLang="en-US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67522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1.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：零</a:t>
            </a:r>
            <a:r>
              <a:rPr lang="zh-TW" altLang="en-US" b="1" dirty="0">
                <a:effectLst/>
              </a:rPr>
              <a:t>背景</a:t>
            </a:r>
            <a:r>
              <a:rPr lang="zh-CN" altLang="en-US" b="1" dirty="0">
                <a:effectLst/>
              </a:rPr>
              <a:t>，</a:t>
            </a:r>
            <a:r>
              <a:rPr lang="en-US" altLang="zh-TW" b="1" dirty="0">
                <a:effectLst/>
              </a:rPr>
              <a:t>4</a:t>
            </a:r>
            <a:r>
              <a:rPr lang="zh-TW" altLang="en-US" b="1" dirty="0">
                <a:effectLst/>
              </a:rPr>
              <a:t>個月成功轉職成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 </a:t>
            </a:r>
          </a:p>
          <a:p>
            <a:r>
              <a:rPr lang="en-US" altLang="zh-TW" b="1" dirty="0">
                <a:effectLst/>
                <a:hlinkClick r:id="rId2"/>
              </a:rPr>
              <a:t>https://www.youtube.com/watch?v=_HmWdlUYjS4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台灣人，餐飲科，赴加拿大，公關工作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個月轉行成：</a:t>
            </a:r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</a:t>
            </a: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：薪水高，職涯發展彈性大，未來薪資發展高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：有趣，有成就感</a:t>
            </a:r>
            <a:endParaRPr lang="en-US" altLang="zh-CN" b="1" dirty="0">
              <a:effectLst/>
            </a:endParaRPr>
          </a:p>
          <a:p>
            <a:r>
              <a:rPr lang="zh-CN" altLang="en-US" b="1" dirty="0">
                <a:effectLst/>
              </a:rPr>
              <a:t>案例主所學技術：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</a:rPr>
              <a:t>SQL</a:t>
            </a:r>
          </a:p>
          <a:p>
            <a:pPr lvl="1"/>
            <a:r>
              <a:rPr lang="en-US" altLang="zh-TW" b="1" dirty="0">
                <a:effectLst/>
              </a:rPr>
              <a:t>python</a:t>
            </a:r>
            <a:endParaRPr lang="zh-TW" altLang="en-US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</a:rPr>
              <a:t>數據分析師</a:t>
            </a:r>
            <a:r>
              <a:rPr lang="en-US" altLang="zh-TW" b="1" dirty="0">
                <a:effectLst/>
              </a:rPr>
              <a:t>Data Analyst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3508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2.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zh-TW" altLang="en-US" dirty="0"/>
              <a:t>我如何成為數據分析師 </a:t>
            </a:r>
            <a:r>
              <a:rPr lang="en-US" altLang="zh-TW" dirty="0"/>
              <a:t>// </a:t>
            </a:r>
            <a:r>
              <a:rPr lang="zh-TW" altLang="en-US" dirty="0"/>
              <a:t>無理工背景轉職</a:t>
            </a:r>
            <a:endParaRPr lang="en-US" altLang="zh-TW" dirty="0"/>
          </a:p>
          <a:p>
            <a:r>
              <a:rPr lang="en-US" altLang="zh-TW" dirty="0">
                <a:hlinkClick r:id="rId2"/>
              </a:rPr>
              <a:t>https://www.youtube.com/watch?v=aNaElUzxvPE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台灣人，英文系，赴澳洲，讀資料科學學程，找到資料分析工作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1</a:t>
            </a:r>
            <a:r>
              <a:rPr lang="zh-CN" altLang="en-US" b="1" dirty="0">
                <a:effectLst/>
              </a:rPr>
              <a:t>：薪水高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：</a:t>
            </a:r>
            <a:r>
              <a:rPr lang="en-US" altLang="zh-CN" b="1" dirty="0">
                <a:effectLst/>
              </a:rPr>
              <a:t>21</a:t>
            </a:r>
            <a:r>
              <a:rPr lang="zh-CN" altLang="en-US" b="1" dirty="0">
                <a:effectLst/>
              </a:rPr>
              <a:t>世紀，資料科學家，是最性感的職業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原因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：每個產業都需要數據分析師，很好跳槽找高薪</a:t>
            </a:r>
            <a:endParaRPr lang="en-US" altLang="zh-TW" b="1" dirty="0">
              <a:effectLst/>
            </a:endParaRPr>
          </a:p>
          <a:p>
            <a:r>
              <a:rPr lang="zh-TW" altLang="en-US" b="1" dirty="0">
                <a:effectLst/>
              </a:rPr>
              <a:t>澳洲薪資</a:t>
            </a:r>
            <a:r>
              <a:rPr lang="en-US" altLang="zh-CN" b="1" dirty="0">
                <a:effectLst/>
              </a:rPr>
              <a:t>for</a:t>
            </a:r>
            <a:r>
              <a:rPr lang="zh-CN" altLang="en-US" b="1" dirty="0">
                <a:effectLst/>
              </a:rPr>
              <a:t>數據分析師</a:t>
            </a:r>
            <a:endParaRPr lang="zh-TW" altLang="en-US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3"/>
              </a:rPr>
              <a:t>https://youtu.be/vs9KuuDPaIc?t=96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dirty="0"/>
              <a:t>一般大約年薪台幣</a:t>
            </a:r>
            <a:r>
              <a:rPr lang="en-US" altLang="zh-CN" dirty="0"/>
              <a:t>175</a:t>
            </a:r>
            <a:r>
              <a:rPr lang="zh-CN" altLang="en-US" dirty="0"/>
              <a:t>萬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386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b="1" dirty="0">
                <a:effectLst/>
              </a:rPr>
              <a:t>3.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3</a:t>
            </a:r>
            <a:r>
              <a:rPr lang="zh-CN" altLang="en-US" b="1" dirty="0">
                <a:effectLst/>
              </a:rPr>
              <a:t>：</a:t>
            </a:r>
            <a:r>
              <a:rPr lang="zh-TW" altLang="zh-TW" b="1" dirty="0">
                <a:effectLst/>
              </a:rPr>
              <a:t>零經驗</a:t>
            </a:r>
            <a:r>
              <a:rPr lang="en-US" altLang="zh-TW" b="1" dirty="0">
                <a:effectLst/>
              </a:rPr>
              <a:t>2</a:t>
            </a:r>
            <a:r>
              <a:rPr lang="zh-TW" altLang="zh-TW" b="1" dirty="0">
                <a:effectLst/>
              </a:rPr>
              <a:t>個月轉行資料分析師系列（</a:t>
            </a:r>
            <a:r>
              <a:rPr lang="en-US" altLang="zh-TW" b="1" dirty="0">
                <a:effectLst/>
              </a:rPr>
              <a:t>1</a:t>
            </a:r>
            <a:r>
              <a:rPr lang="zh-TW" altLang="zh-TW" b="1" dirty="0">
                <a:effectLst/>
              </a:rPr>
              <a:t>）如何自學資料分析</a:t>
            </a:r>
            <a:r>
              <a:rPr lang="en-US" altLang="zh-TW" b="1" dirty="0">
                <a:effectLst/>
                <a:hlinkClick r:id="rId2"/>
              </a:rPr>
              <a:t>https://www.youtube.com/watch?v=NZ6BMUVn5d4&amp;t=0s</a:t>
            </a:r>
            <a:endParaRPr lang="en-US" altLang="zh-TW" b="1" dirty="0">
              <a:effectLst/>
            </a:endParaRPr>
          </a:p>
          <a:p>
            <a:r>
              <a:rPr lang="en-US" altLang="zh-TW" b="1" dirty="0">
                <a:effectLst/>
                <a:hlinkClick r:id="rId3"/>
              </a:rPr>
              <a:t>https://www.youtube.com/watch?v=maM4ZljKdXY&amp;t=0s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大陸人，生物專業，赴加拿大二縣城市，自學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個月，轉行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關鍵：</a:t>
            </a:r>
            <a:r>
              <a:rPr lang="en-US" altLang="zh-CN" b="1" dirty="0">
                <a:effectLst/>
              </a:rPr>
              <a:t>CV</a:t>
            </a:r>
            <a:r>
              <a:rPr lang="zh-CN" altLang="en-US" b="1" dirty="0">
                <a:effectLst/>
              </a:rPr>
              <a:t>履歷寫好即可</a:t>
            </a:r>
            <a:endParaRPr lang="en-US" altLang="zh-CN" b="1" dirty="0">
              <a:effectLst/>
            </a:endParaRPr>
          </a:p>
          <a:p>
            <a:r>
              <a:rPr lang="zh-TW" altLang="en-US" b="1" dirty="0">
                <a:effectLst/>
              </a:rPr>
              <a:t>二線城市</a:t>
            </a:r>
            <a:r>
              <a:rPr lang="zh-CN" altLang="en-US" b="1" dirty="0">
                <a:effectLst/>
              </a:rPr>
              <a:t>薪資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第一年薪水加拿大幣</a:t>
            </a:r>
            <a:r>
              <a:rPr lang="en-US" altLang="zh-TW" b="1" dirty="0">
                <a:effectLst/>
              </a:rPr>
              <a:t>6-7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140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2-3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7-8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180</a:t>
            </a:r>
            <a:r>
              <a:rPr lang="zh-TW" altLang="en-US" b="1" dirty="0">
                <a:effectLst/>
              </a:rPr>
              <a:t>萬）</a:t>
            </a:r>
            <a:endParaRPr lang="en-US" altLang="zh-TW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第</a:t>
            </a:r>
            <a:r>
              <a:rPr lang="en-US" altLang="zh-TW" b="1" dirty="0">
                <a:effectLst/>
              </a:rPr>
              <a:t>5</a:t>
            </a:r>
            <a:r>
              <a:rPr lang="zh-TW" altLang="en-US" b="1" dirty="0">
                <a:effectLst/>
              </a:rPr>
              <a:t>年，</a:t>
            </a:r>
            <a:r>
              <a:rPr lang="en-US" altLang="zh-TW" b="1" dirty="0">
                <a:effectLst/>
              </a:rPr>
              <a:t>9-10</a:t>
            </a:r>
            <a:r>
              <a:rPr lang="zh-TW" altLang="en-US" b="1" dirty="0">
                <a:effectLst/>
              </a:rPr>
              <a:t>萬（台幣</a:t>
            </a:r>
            <a:r>
              <a:rPr lang="en-US" altLang="zh-TW" b="1" dirty="0">
                <a:effectLst/>
              </a:rPr>
              <a:t>223</a:t>
            </a:r>
            <a:r>
              <a:rPr lang="zh-TW" altLang="en-US" b="1" dirty="0">
                <a:effectLst/>
              </a:rPr>
              <a:t>萬）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25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 lnSpcReduction="10000"/>
          </a:bodyPr>
          <a:lstStyle/>
          <a:p>
            <a:r>
              <a:rPr lang="en-US" altLang="zh-CN" b="1" dirty="0">
                <a:effectLst/>
              </a:rPr>
              <a:t>4.</a:t>
            </a:r>
            <a:r>
              <a:rPr lang="zh-CN" altLang="en-US" b="1" dirty="0">
                <a:effectLst/>
              </a:rPr>
              <a:t>案例</a:t>
            </a:r>
            <a:r>
              <a:rPr lang="en-US" altLang="zh-CN" b="1" dirty="0">
                <a:effectLst/>
              </a:rPr>
              <a:t>4</a:t>
            </a:r>
            <a:r>
              <a:rPr lang="zh-CN" altLang="en-US" b="1" dirty="0">
                <a:effectLst/>
              </a:rPr>
              <a:t>：</a:t>
            </a:r>
            <a:r>
              <a:rPr lang="en-US" altLang="zh-TW" b="1" dirty="0">
                <a:effectLst/>
              </a:rPr>
              <a:t>21</a:t>
            </a:r>
            <a:r>
              <a:rPr lang="zh-TW" altLang="en-US" b="1" dirty="0">
                <a:effectLst/>
              </a:rPr>
              <a:t>世紀最性感的職業？資料分析師的修煉心法</a:t>
            </a:r>
          </a:p>
          <a:p>
            <a:r>
              <a:rPr lang="en-US" altLang="zh-TW" dirty="0">
                <a:hlinkClick r:id="rId2"/>
              </a:rPr>
              <a:t>https://www.youtube.com/watch?v=e32frJpvFhc</a:t>
            </a:r>
            <a:endParaRPr lang="en-US" altLang="zh-TW" dirty="0"/>
          </a:p>
          <a:p>
            <a:pPr lvl="1"/>
            <a:r>
              <a:rPr lang="zh-CN" altLang="en-US" b="1" dirty="0">
                <a:effectLst/>
              </a:rPr>
              <a:t>台灣人，公共衛生系，統計，轉行到資料分析工作</a:t>
            </a:r>
            <a:r>
              <a:rPr lang="en-US" altLang="zh-CN" b="1" dirty="0">
                <a:effectLst/>
              </a:rPr>
              <a:t>5</a:t>
            </a:r>
            <a:r>
              <a:rPr lang="zh-CN" altLang="en-US" b="1" dirty="0">
                <a:effectLst/>
              </a:rPr>
              <a:t>年</a:t>
            </a:r>
            <a:endParaRPr lang="en-US" altLang="zh-CN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工作：物聯網公司，電商公司，新創公司，數位廣告，傳產公司都要數位轉型</a:t>
            </a:r>
            <a:endParaRPr lang="en-US" altLang="zh-CN" b="1" dirty="0">
              <a:effectLst/>
            </a:endParaRPr>
          </a:p>
          <a:p>
            <a:pPr lvl="1"/>
            <a:r>
              <a:rPr lang="zh-TW" altLang="en-US" b="1" dirty="0">
                <a:effectLst/>
              </a:rPr>
              <a:t>資料分析師</a:t>
            </a:r>
            <a:r>
              <a:rPr lang="zh-CN" altLang="en-US" b="1" dirty="0">
                <a:effectLst/>
              </a:rPr>
              <a:t>主要</a:t>
            </a:r>
            <a:r>
              <a:rPr lang="en-US" altLang="zh-CN" b="1" dirty="0">
                <a:effectLst/>
              </a:rPr>
              <a:t>2</a:t>
            </a:r>
            <a:r>
              <a:rPr lang="zh-CN" altLang="en-US" b="1" dirty="0">
                <a:effectLst/>
              </a:rPr>
              <a:t>種類型：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商業智慧分析師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資料科學家</a:t>
            </a:r>
            <a:endParaRPr lang="en-US" altLang="zh-TW" b="1" dirty="0">
              <a:effectLst/>
            </a:endParaRPr>
          </a:p>
          <a:p>
            <a:pPr lvl="1"/>
            <a:r>
              <a:rPr lang="zh-CN" altLang="en-US" b="1" dirty="0">
                <a:effectLst/>
              </a:rPr>
              <a:t>工作迷人處：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可以看到工作運作的全貌，接觸到公司高層，輔助高層的決策</a:t>
            </a:r>
            <a:endParaRPr lang="en-US" altLang="zh-CN" b="1" dirty="0">
              <a:effectLst/>
            </a:endParaRPr>
          </a:p>
          <a:p>
            <a:pPr lvl="2"/>
            <a:r>
              <a:rPr lang="zh-CN" altLang="en-US" b="1" dirty="0">
                <a:effectLst/>
              </a:rPr>
              <a:t>很有成就感，因為你的工作，很有影響力，是公司重要的顧問與智囊</a:t>
            </a:r>
            <a:endParaRPr lang="en-US" altLang="zh-CN" b="1" dirty="0">
              <a:effectLst/>
            </a:endParaRPr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986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9557D42-8C6D-4CE4-9231-6D47AB175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5105400"/>
          </a:xfrm>
        </p:spPr>
        <p:txBody>
          <a:bodyPr>
            <a:normAutofit/>
          </a:bodyPr>
          <a:lstStyle/>
          <a:p>
            <a:r>
              <a:rPr lang="en-US" altLang="zh-CN" b="1" dirty="0">
                <a:effectLst/>
              </a:rPr>
              <a:t>5.</a:t>
            </a:r>
            <a:r>
              <a:rPr lang="zh-TW" altLang="en-US" b="1" dirty="0">
                <a:effectLst/>
              </a:rPr>
              <a:t>轉職數據分析的人</a:t>
            </a:r>
            <a:r>
              <a:rPr lang="zh-CN" altLang="en-US" b="1" dirty="0">
                <a:effectLst/>
              </a:rPr>
              <a:t>很多</a:t>
            </a:r>
            <a:r>
              <a:rPr lang="zh-TW" altLang="en-US" b="1" dirty="0">
                <a:effectLst/>
              </a:rPr>
              <a:t>都失敗了</a:t>
            </a:r>
            <a:r>
              <a:rPr lang="en-US" altLang="zh-TW" b="1" dirty="0">
                <a:effectLst/>
              </a:rPr>
              <a:t>? </a:t>
            </a:r>
            <a:r>
              <a:rPr lang="zh-TW" altLang="en-US" b="1" dirty="0">
                <a:effectLst/>
              </a:rPr>
              <a:t>大幅提升成功率的轉職方法</a:t>
            </a:r>
          </a:p>
          <a:p>
            <a:r>
              <a:rPr lang="en-US" altLang="zh-TW" dirty="0">
                <a:hlinkClick r:id="rId2"/>
              </a:rPr>
              <a:t>https://www.youtube.com/watch?v=9EcOu_GLsfA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CN" dirty="0"/>
              <a:t>6.</a:t>
            </a:r>
            <a:r>
              <a:rPr lang="zh-TW" altLang="en-US" b="1" dirty="0">
                <a:effectLst/>
              </a:rPr>
              <a:t>數據分析轉職 </a:t>
            </a:r>
            <a:r>
              <a:rPr lang="en-US" altLang="zh-TW" b="1" dirty="0">
                <a:effectLst/>
              </a:rPr>
              <a:t>| </a:t>
            </a:r>
            <a:r>
              <a:rPr lang="zh-TW" altLang="en-US" b="1" dirty="0">
                <a:effectLst/>
              </a:rPr>
              <a:t>超過</a:t>
            </a:r>
            <a:r>
              <a:rPr lang="en-US" altLang="zh-TW" b="1" dirty="0">
                <a:effectLst/>
              </a:rPr>
              <a:t>50%</a:t>
            </a:r>
            <a:r>
              <a:rPr lang="zh-TW" altLang="en-US" b="1" dirty="0">
                <a:effectLst/>
              </a:rPr>
              <a:t>的人選錯了轉職職位</a:t>
            </a:r>
            <a:r>
              <a:rPr lang="en-US" altLang="zh-TW" b="1" dirty="0">
                <a:effectLst/>
              </a:rPr>
              <a:t>?</a:t>
            </a:r>
          </a:p>
          <a:p>
            <a:r>
              <a:rPr lang="en-US" altLang="zh-TW" dirty="0">
                <a:hlinkClick r:id="rId3"/>
              </a:rPr>
              <a:t>https://www.youtube.com/watch?v=sUVX2NqOOEg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36E4AB5-005B-4169-80C7-45413895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en-US" altLang="zh-TW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en-US" altLang="zh-TW" b="1" dirty="0">
                <a:effectLst/>
              </a:rPr>
              <a:t> 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3468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435280" cy="4925144"/>
          </a:xfrm>
        </p:spPr>
        <p:txBody>
          <a:bodyPr>
            <a:normAutofit fontScale="92500" lnSpcReduction="10000"/>
          </a:bodyPr>
          <a:lstStyle/>
          <a:p>
            <a:r>
              <a:rPr lang="zh-TW" altLang="en-US" sz="3200" dirty="0"/>
              <a:t>前十名職業</a:t>
            </a:r>
            <a:r>
              <a:rPr lang="zh-CN" altLang="en-US" sz="3200" dirty="0"/>
              <a:t>（</a:t>
            </a:r>
            <a:r>
              <a:rPr lang="zh-CN" altLang="en-US" sz="3200" dirty="0">
                <a:solidFill>
                  <a:srgbClr val="C00000"/>
                </a:solidFill>
              </a:rPr>
              <a:t>與數學</a:t>
            </a:r>
            <a:r>
              <a:rPr lang="en-US" altLang="zh-CN" sz="3200" dirty="0">
                <a:solidFill>
                  <a:srgbClr val="C00000"/>
                </a:solidFill>
              </a:rPr>
              <a:t>/</a:t>
            </a:r>
            <a:r>
              <a:rPr lang="zh-CN" altLang="en-US" sz="3200" dirty="0">
                <a:solidFill>
                  <a:srgbClr val="C00000"/>
                </a:solidFill>
              </a:rPr>
              <a:t>數據處理有關的有</a:t>
            </a:r>
            <a:r>
              <a:rPr lang="en-US" altLang="zh-CN" sz="3200" dirty="0">
                <a:solidFill>
                  <a:srgbClr val="C00000"/>
                </a:solidFill>
              </a:rPr>
              <a:t>5</a:t>
            </a:r>
            <a:r>
              <a:rPr lang="zh-CN" altLang="en-US" sz="3200" dirty="0"/>
              <a:t>個）</a:t>
            </a:r>
            <a:endParaRPr lang="zh-TW" altLang="en-US" sz="3200" dirty="0"/>
          </a:p>
          <a:p>
            <a:pPr lvl="1"/>
            <a:r>
              <a:rPr lang="en-US" altLang="zh-TW" sz="2800" dirty="0"/>
              <a:t>1. </a:t>
            </a:r>
            <a:r>
              <a:rPr lang="zh-TW" altLang="en-US" sz="2800" dirty="0">
                <a:solidFill>
                  <a:srgbClr val="C00000"/>
                </a:solidFill>
              </a:rPr>
              <a:t>數學家</a:t>
            </a:r>
            <a:r>
              <a:rPr lang="zh-TW" altLang="en-US" sz="2800" dirty="0"/>
              <a:t> </a:t>
            </a:r>
            <a:r>
              <a:rPr lang="en-US" altLang="zh-TW" sz="2800" dirty="0"/>
              <a:t>(Mathematician)</a:t>
            </a:r>
          </a:p>
          <a:p>
            <a:pPr lvl="1"/>
            <a:r>
              <a:rPr lang="en-US" altLang="zh-TW" sz="2800" dirty="0"/>
              <a:t>2. </a:t>
            </a:r>
            <a:r>
              <a:rPr lang="zh-TW" altLang="en-US" sz="2800" dirty="0">
                <a:solidFill>
                  <a:srgbClr val="C00000"/>
                </a:solidFill>
              </a:rPr>
              <a:t>保險統計師 </a:t>
            </a:r>
            <a:r>
              <a:rPr lang="en-US" altLang="zh-TW" sz="2800" dirty="0"/>
              <a:t>(Actuary)</a:t>
            </a:r>
          </a:p>
          <a:p>
            <a:pPr lvl="1"/>
            <a:r>
              <a:rPr lang="en-US" altLang="zh-TW" sz="2800" dirty="0"/>
              <a:t>3. </a:t>
            </a:r>
            <a:r>
              <a:rPr lang="zh-TW" altLang="en-US" sz="2800" dirty="0">
                <a:solidFill>
                  <a:srgbClr val="C00000"/>
                </a:solidFill>
              </a:rPr>
              <a:t>統計學家 </a:t>
            </a:r>
            <a:r>
              <a:rPr lang="en-US" altLang="zh-TW" sz="2800" dirty="0"/>
              <a:t>(Statistician)</a:t>
            </a:r>
          </a:p>
          <a:p>
            <a:pPr lvl="1"/>
            <a:r>
              <a:rPr lang="en-US" altLang="zh-TW" sz="2800" dirty="0"/>
              <a:t>4. </a:t>
            </a:r>
            <a:r>
              <a:rPr lang="zh-TW" altLang="en-US" sz="2800" dirty="0"/>
              <a:t>生物學家 </a:t>
            </a:r>
            <a:r>
              <a:rPr lang="en-US" altLang="zh-TW" sz="2800" dirty="0"/>
              <a:t>(Biologist)</a:t>
            </a:r>
          </a:p>
          <a:p>
            <a:pPr lvl="1"/>
            <a:r>
              <a:rPr lang="en-US" altLang="zh-TW" sz="2800" dirty="0"/>
              <a:t>5. </a:t>
            </a:r>
            <a:r>
              <a:rPr lang="zh-TW" altLang="en-US" sz="2800" dirty="0">
                <a:solidFill>
                  <a:srgbClr val="C00000"/>
                </a:solidFill>
              </a:rPr>
              <a:t>軟體工程師 </a:t>
            </a:r>
            <a:r>
              <a:rPr lang="en-US" altLang="zh-TW" sz="2800" dirty="0"/>
              <a:t>(Software engineer)</a:t>
            </a:r>
          </a:p>
          <a:p>
            <a:pPr lvl="1"/>
            <a:r>
              <a:rPr lang="en-US" altLang="zh-TW" sz="2800" dirty="0"/>
              <a:t>6. </a:t>
            </a:r>
            <a:r>
              <a:rPr lang="zh-TW" altLang="en-US" sz="2800" dirty="0">
                <a:solidFill>
                  <a:srgbClr val="C00000"/>
                </a:solidFill>
              </a:rPr>
              <a:t>電腦</a:t>
            </a:r>
            <a:r>
              <a:rPr lang="zh-CN" altLang="en-US" sz="2800" dirty="0">
                <a:solidFill>
                  <a:srgbClr val="C00000"/>
                </a:solidFill>
              </a:rPr>
              <a:t>資訊相關</a:t>
            </a:r>
            <a:r>
              <a:rPr lang="zh-TW" altLang="en-US" sz="2800" dirty="0">
                <a:solidFill>
                  <a:srgbClr val="C00000"/>
                </a:solidFill>
              </a:rPr>
              <a:t>分析師 </a:t>
            </a:r>
            <a:r>
              <a:rPr lang="en-US" altLang="zh-TW" sz="2800" dirty="0"/>
              <a:t>(Computer systems analyst)</a:t>
            </a:r>
          </a:p>
          <a:p>
            <a:pPr lvl="1"/>
            <a:r>
              <a:rPr lang="en-US" altLang="zh-TW" sz="2800" dirty="0"/>
              <a:t>7. </a:t>
            </a:r>
            <a:r>
              <a:rPr lang="zh-TW" altLang="en-US" sz="2800" dirty="0"/>
              <a:t>歷史學家 </a:t>
            </a:r>
            <a:r>
              <a:rPr lang="en-US" altLang="zh-TW" sz="2800" dirty="0"/>
              <a:t>(Historian)</a:t>
            </a:r>
          </a:p>
          <a:p>
            <a:pPr lvl="1"/>
            <a:r>
              <a:rPr lang="en-US" altLang="zh-TW" sz="2800" dirty="0"/>
              <a:t>8. </a:t>
            </a:r>
            <a:r>
              <a:rPr lang="zh-TW" altLang="en-US" sz="2800" dirty="0"/>
              <a:t>社會學家 </a:t>
            </a:r>
            <a:r>
              <a:rPr lang="en-US" altLang="zh-TW" sz="2800" dirty="0"/>
              <a:t>(Sociologist)</a:t>
            </a:r>
          </a:p>
          <a:p>
            <a:pPr lvl="1"/>
            <a:r>
              <a:rPr lang="en-US" altLang="zh-TW" sz="2800" dirty="0"/>
              <a:t>9. </a:t>
            </a:r>
            <a:r>
              <a:rPr lang="zh-TW" altLang="en-US" sz="2800" dirty="0"/>
              <a:t>工業設計師 </a:t>
            </a:r>
            <a:r>
              <a:rPr lang="en-US" altLang="zh-TW" sz="2800" dirty="0"/>
              <a:t>(Industrial designer)</a:t>
            </a:r>
          </a:p>
          <a:p>
            <a:pPr lvl="1"/>
            <a:r>
              <a:rPr lang="en-US" altLang="zh-TW" sz="2800" dirty="0"/>
              <a:t>10. </a:t>
            </a:r>
            <a:r>
              <a:rPr lang="zh-TW" altLang="en-US" sz="2800" dirty="0"/>
              <a:t>會計師 </a:t>
            </a:r>
            <a:r>
              <a:rPr lang="en-US" altLang="zh-TW" sz="2800" dirty="0"/>
              <a:t>(Accountant)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37621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美國的職業評比排名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5257800"/>
          </a:xfrm>
        </p:spPr>
        <p:txBody>
          <a:bodyPr>
            <a:normAutofit/>
          </a:bodyPr>
          <a:lstStyle/>
          <a:p>
            <a:r>
              <a:rPr lang="zh-TW" altLang="en-US" dirty="0"/>
              <a:t>後十名職業</a:t>
            </a:r>
          </a:p>
          <a:p>
            <a:pPr lvl="1"/>
            <a:r>
              <a:rPr lang="en-US" altLang="zh-TW" dirty="0"/>
              <a:t>200. </a:t>
            </a:r>
            <a:r>
              <a:rPr lang="zh-TW" altLang="en-US" dirty="0"/>
              <a:t>伐木工 </a:t>
            </a:r>
            <a:r>
              <a:rPr lang="en-US" altLang="zh-TW" dirty="0"/>
              <a:t>(Lumberjack)</a:t>
            </a:r>
          </a:p>
          <a:p>
            <a:pPr lvl="1"/>
            <a:r>
              <a:rPr lang="en-US" altLang="zh-TW" dirty="0"/>
              <a:t>199. </a:t>
            </a:r>
            <a:r>
              <a:rPr lang="zh-TW" altLang="en-US" dirty="0"/>
              <a:t>酪農 </a:t>
            </a:r>
            <a:r>
              <a:rPr lang="en-US" altLang="zh-TW" dirty="0"/>
              <a:t>(Dairy farmer)</a:t>
            </a:r>
          </a:p>
          <a:p>
            <a:pPr lvl="1"/>
            <a:r>
              <a:rPr lang="en-US" altLang="zh-TW" dirty="0"/>
              <a:t>198. </a:t>
            </a:r>
            <a:r>
              <a:rPr lang="zh-TW" altLang="en-US" dirty="0"/>
              <a:t>計程車司機 </a:t>
            </a:r>
            <a:r>
              <a:rPr lang="en-US" altLang="zh-TW" dirty="0"/>
              <a:t>(Taxi driver)</a:t>
            </a:r>
          </a:p>
          <a:p>
            <a:pPr lvl="1"/>
            <a:r>
              <a:rPr lang="en-US" altLang="zh-TW" dirty="0"/>
              <a:t>197. </a:t>
            </a:r>
            <a:r>
              <a:rPr lang="zh-TW" altLang="en-US" dirty="0"/>
              <a:t>船員 </a:t>
            </a:r>
            <a:r>
              <a:rPr lang="en-US" altLang="zh-TW" dirty="0"/>
              <a:t>(Seaman)</a:t>
            </a:r>
          </a:p>
          <a:p>
            <a:pPr lvl="1"/>
            <a:r>
              <a:rPr lang="en-US" altLang="zh-TW" dirty="0"/>
              <a:t>196. </a:t>
            </a:r>
            <a:r>
              <a:rPr lang="zh-TW" altLang="en-US" dirty="0"/>
              <a:t>屋頂工 </a:t>
            </a:r>
            <a:r>
              <a:rPr lang="en-US" altLang="zh-TW" dirty="0"/>
              <a:t>(Roofer)</a:t>
            </a:r>
          </a:p>
          <a:p>
            <a:pPr lvl="1"/>
            <a:r>
              <a:rPr lang="en-US" altLang="zh-TW" dirty="0"/>
              <a:t>195. </a:t>
            </a:r>
            <a:r>
              <a:rPr lang="zh-TW" altLang="en-US" dirty="0"/>
              <a:t>清潔隊員 </a:t>
            </a:r>
            <a:r>
              <a:rPr lang="en-US" altLang="zh-TW" dirty="0"/>
              <a:t>(Garbage collector)</a:t>
            </a:r>
          </a:p>
          <a:p>
            <a:pPr lvl="1"/>
            <a:r>
              <a:rPr lang="en-US" altLang="zh-TW" dirty="0"/>
              <a:t>194. </a:t>
            </a:r>
            <a:r>
              <a:rPr lang="zh-TW" altLang="en-US" dirty="0"/>
              <a:t>銲工 </a:t>
            </a:r>
            <a:r>
              <a:rPr lang="en-US" altLang="zh-TW" dirty="0"/>
              <a:t>(Welder)</a:t>
            </a:r>
          </a:p>
          <a:p>
            <a:pPr lvl="1"/>
            <a:r>
              <a:rPr lang="en-US" altLang="zh-TW" dirty="0"/>
              <a:t>193. </a:t>
            </a:r>
            <a:r>
              <a:rPr lang="zh-TW" altLang="en-US" dirty="0"/>
              <a:t>碼頭工 </a:t>
            </a:r>
            <a:r>
              <a:rPr lang="en-US" altLang="zh-TW" dirty="0"/>
              <a:t>(Roustabout)</a:t>
            </a:r>
          </a:p>
          <a:p>
            <a:pPr lvl="1"/>
            <a:r>
              <a:rPr lang="en-US" altLang="zh-TW" dirty="0"/>
              <a:t>192. </a:t>
            </a:r>
            <a:r>
              <a:rPr lang="zh-TW" altLang="en-US" dirty="0"/>
              <a:t>鋼架工 </a:t>
            </a:r>
            <a:r>
              <a:rPr lang="en-US" altLang="zh-TW" dirty="0"/>
              <a:t>(Ironworker)</a:t>
            </a:r>
          </a:p>
          <a:p>
            <a:pPr lvl="1"/>
            <a:r>
              <a:rPr lang="en-US" altLang="zh-TW" dirty="0"/>
              <a:t>191. </a:t>
            </a:r>
            <a:r>
              <a:rPr lang="zh-TW" altLang="en-US" dirty="0"/>
              <a:t>建築工 </a:t>
            </a:r>
            <a:r>
              <a:rPr lang="en-US" altLang="zh-TW" dirty="0"/>
              <a:t>(Construction worker)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04165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552" y="1268760"/>
            <a:ext cx="8136904" cy="36004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商業數據分析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所使用的關鍵技術</a:t>
            </a:r>
            <a:endParaRPr lang="zh-TW" altLang="en-US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598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dirty="0"/>
              <a:t>（</a:t>
            </a:r>
            <a:r>
              <a:rPr lang="en-US" altLang="zh-CN" sz="4000" dirty="0"/>
              <a:t>1</a:t>
            </a:r>
            <a:r>
              <a:rPr lang="zh-TW" altLang="en-US" sz="4000" dirty="0"/>
              <a:t>）</a:t>
            </a:r>
            <a:r>
              <a:rPr lang="en-US" altLang="zh-TW" sz="4000" dirty="0"/>
              <a:t>SQL</a:t>
            </a:r>
            <a:r>
              <a:rPr lang="zh-CN" altLang="en-US" sz="4000" dirty="0"/>
              <a:t>資料庫，</a:t>
            </a:r>
            <a:r>
              <a:rPr lang="en-US" altLang="zh-CN" sz="4000" dirty="0"/>
              <a:t>SQL</a:t>
            </a:r>
            <a:r>
              <a:rPr lang="zh-TW" altLang="en-US" sz="4000" dirty="0"/>
              <a:t>語法</a:t>
            </a:r>
          </a:p>
          <a:p>
            <a:endParaRPr lang="zh-TW" altLang="en-US" sz="4000" dirty="0"/>
          </a:p>
          <a:p>
            <a:r>
              <a:rPr lang="zh-CN" altLang="en-US" sz="4000" dirty="0"/>
              <a:t>（</a:t>
            </a:r>
            <a:r>
              <a:rPr lang="en-US" altLang="zh-CN" sz="4000" dirty="0"/>
              <a:t>2</a:t>
            </a:r>
            <a:r>
              <a:rPr lang="zh-CN" altLang="en-US" sz="4000" dirty="0"/>
              <a:t>）</a:t>
            </a:r>
            <a:r>
              <a:rPr lang="en-US" altLang="zh-TW" sz="4000" dirty="0"/>
              <a:t>python</a:t>
            </a:r>
            <a:r>
              <a:rPr lang="zh-TW" altLang="en-US" sz="4000" dirty="0"/>
              <a:t>程式 </a:t>
            </a:r>
            <a:r>
              <a:rPr lang="en-US" altLang="zh-TW" sz="4000" dirty="0"/>
              <a:t>==》 pandas</a:t>
            </a:r>
            <a:endParaRPr lang="zh-TW" altLang="en-US" sz="40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sz="4800" b="1" dirty="0"/>
              <a:t>商業數據</a:t>
            </a:r>
            <a:r>
              <a:rPr lang="zh-CN" altLang="en-US" sz="4800" b="1" dirty="0"/>
              <a:t>分析</a:t>
            </a:r>
            <a:r>
              <a:rPr lang="zh-TW" altLang="en-US" sz="4800" b="1" dirty="0"/>
              <a:t>的</a:t>
            </a:r>
            <a:r>
              <a:rPr lang="en-US" altLang="zh-TW" sz="4800" b="1" dirty="0"/>
              <a:t>2</a:t>
            </a:r>
            <a:r>
              <a:rPr lang="zh-TW" altLang="en-US" sz="4800" b="1" dirty="0"/>
              <a:t>種主要技術：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B7432972-23F2-4E94-905D-8864FFBC9E17}"/>
              </a:ext>
            </a:extLst>
          </p:cNvPr>
          <p:cNvGrpSpPr/>
          <p:nvPr/>
        </p:nvGrpSpPr>
        <p:grpSpPr>
          <a:xfrm>
            <a:off x="3203848" y="4816751"/>
            <a:ext cx="1080120" cy="882098"/>
            <a:chOff x="3131840" y="4725144"/>
            <a:chExt cx="1080120" cy="882098"/>
          </a:xfrm>
        </p:grpSpPr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4E238B05-AD52-464A-B04B-3B243A07C632}"/>
                </a:ext>
              </a:extLst>
            </p:cNvPr>
            <p:cNvCxnSpPr/>
            <p:nvPr/>
          </p:nvCxnSpPr>
          <p:spPr>
            <a:xfrm flipH="1">
              <a:off x="3131840" y="4725144"/>
              <a:ext cx="1080120" cy="864096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9814D458-E590-451D-8DB1-6B821F23F7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9264" y="4725144"/>
              <a:ext cx="992696" cy="882098"/>
            </a:xfrm>
            <a:prstGeom prst="line">
              <a:avLst/>
            </a:prstGeom>
            <a:ln w="17462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82910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268760"/>
            <a:ext cx="8568952" cy="3888432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en-US" altLang="zh-CN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種路徑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271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75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TW" altLang="en-US" sz="3600" b="1" dirty="0"/>
              <a:t>學很多技術</a:t>
            </a:r>
            <a:r>
              <a:rPr lang="zh-CN" altLang="en-US" sz="3600" b="1" dirty="0"/>
              <a:t>模組</a:t>
            </a:r>
            <a:r>
              <a:rPr lang="zh-TW" altLang="en-US" sz="3600" b="1" dirty="0"/>
              <a:t>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程式碼多，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學的多，</a:t>
            </a:r>
            <a:r>
              <a:rPr lang="zh-CN" altLang="en-US" sz="3600" b="1" dirty="0"/>
              <a:t>學的雜，</a:t>
            </a:r>
            <a:r>
              <a:rPr lang="zh-TW" altLang="en-US" sz="3600" b="1" dirty="0"/>
              <a:t>不專</a:t>
            </a:r>
            <a:r>
              <a:rPr lang="zh-CN" altLang="en-US" sz="3600" b="1" dirty="0"/>
              <a:t>一</a:t>
            </a:r>
            <a:endParaRPr lang="en-US" altLang="zh-CN" sz="3600" b="1" dirty="0"/>
          </a:p>
          <a:p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精簡方式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TW" altLang="en-US" sz="3600" b="1" dirty="0">
                <a:solidFill>
                  <a:srgbClr val="7030A0"/>
                </a:solidFill>
              </a:rPr>
              <a:t>專精</a:t>
            </a:r>
            <a:r>
              <a:rPr lang="en-US" altLang="zh-TW" sz="3600" b="1" dirty="0">
                <a:solidFill>
                  <a:srgbClr val="7030A0"/>
                </a:solidFill>
              </a:rPr>
              <a:t>pandas</a:t>
            </a:r>
            <a:r>
              <a:rPr lang="zh-CN" altLang="en-US" sz="3600" b="1" dirty="0">
                <a:solidFill>
                  <a:srgbClr val="7030A0"/>
                </a:solidFill>
              </a:rPr>
              <a:t>模組</a:t>
            </a:r>
            <a:endParaRPr lang="en-US" altLang="zh-TW" sz="3600" b="1" dirty="0">
              <a:solidFill>
                <a:srgbClr val="7030A0"/>
              </a:solidFill>
            </a:endParaRPr>
          </a:p>
          <a:p>
            <a:pPr lvl="1"/>
            <a:r>
              <a:rPr lang="zh-CN" altLang="en-US" sz="3600" b="1" dirty="0"/>
              <a:t>特點：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～</a:t>
            </a:r>
            <a:r>
              <a:rPr lang="en-US" altLang="zh-CN" sz="3600" b="1" dirty="0"/>
              <a:t>2</a:t>
            </a:r>
            <a:r>
              <a:rPr lang="zh-TW" altLang="en-US" sz="3600" b="1" dirty="0"/>
              <a:t>行程式就分析完</a:t>
            </a:r>
            <a:r>
              <a:rPr lang="zh-CN" altLang="en-US" sz="3600" b="1" dirty="0"/>
              <a:t>（很像</a:t>
            </a:r>
            <a:r>
              <a:rPr lang="en-US" altLang="zh-CN" sz="3600" b="1" dirty="0"/>
              <a:t>SQL</a:t>
            </a:r>
            <a:r>
              <a:rPr lang="zh-CN" altLang="en-US" sz="3600" b="1" dirty="0"/>
              <a:t>語法）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程式碼少，</a:t>
            </a:r>
            <a:r>
              <a:rPr lang="zh-CN" altLang="en-US" sz="3600" b="1" dirty="0"/>
              <a:t>可以處理任何數據的分析</a:t>
            </a:r>
            <a:endParaRPr lang="en-US" altLang="zh-TW" sz="3600" b="1" dirty="0"/>
          </a:p>
          <a:p>
            <a:pPr lvl="1"/>
            <a:r>
              <a:rPr lang="zh-TW" altLang="en-US" sz="3600" b="1" dirty="0"/>
              <a:t>適合</a:t>
            </a:r>
            <a:r>
              <a:rPr lang="en-US" altLang="zh-CN" sz="3600" b="1" dirty="0"/>
              <a:t>『</a:t>
            </a:r>
            <a:r>
              <a:rPr lang="zh-TW" altLang="en-US" sz="3600" b="1" dirty="0"/>
              <a:t>非資訊科系</a:t>
            </a:r>
            <a:r>
              <a:rPr lang="en-US" altLang="zh-CN" sz="3600" b="1" dirty="0"/>
              <a:t>』</a:t>
            </a:r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學習</a:t>
            </a:r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A9BC391-F77E-4D70-8A67-5C6252F66503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539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5088" y="2132856"/>
            <a:ext cx="8208912" cy="2592288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如何學好商業數據分析？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教科書</a:t>
            </a:r>
            <a:r>
              <a:rPr lang="en-US" altLang="zh-CN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759142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TW" altLang="en-US" sz="4000" b="1" dirty="0">
                <a:solidFill>
                  <a:srgbClr val="C00000"/>
                </a:solidFill>
              </a:rPr>
              <a:t>資訊科系</a:t>
            </a:r>
            <a:r>
              <a:rPr lang="zh-TW" altLang="en-US" sz="4000" b="1" dirty="0"/>
              <a:t>的方式：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大數據特訓班：資料自動化收集、整理、清洗、儲存、分析與應用實戰</a:t>
            </a:r>
          </a:p>
          <a:p>
            <a:pPr lvl="1"/>
            <a:r>
              <a:rPr lang="en-US" altLang="zh-CN" sz="3600" b="1" dirty="0">
                <a:hlinkClick r:id="rId2"/>
              </a:rPr>
              <a:t>https://www.books.com.tw/products/0010859289?sloc=main</a:t>
            </a:r>
            <a:endParaRPr lang="en-US" altLang="zh-CN" sz="3600" b="1" dirty="0"/>
          </a:p>
          <a:p>
            <a:pPr marL="0" indent="0">
              <a:buNone/>
            </a:pPr>
            <a:endParaRPr lang="zh-TW" altLang="en-US" sz="4000" dirty="0"/>
          </a:p>
          <a:p>
            <a:r>
              <a:rPr lang="zh-TW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TW" altLang="en-US" sz="4000" b="1" dirty="0"/>
              <a:t>）</a:t>
            </a:r>
            <a:r>
              <a:rPr lang="zh-CN" altLang="en-US" sz="4000" b="1" dirty="0">
                <a:solidFill>
                  <a:srgbClr val="C00000"/>
                </a:solidFill>
              </a:rPr>
              <a:t>專精</a:t>
            </a:r>
            <a:r>
              <a:rPr lang="en-US" altLang="zh-CN" sz="4000" b="1" dirty="0">
                <a:solidFill>
                  <a:srgbClr val="C00000"/>
                </a:solidFill>
              </a:rPr>
              <a:t>pandas</a:t>
            </a:r>
            <a:r>
              <a:rPr lang="zh-TW" altLang="en-US" sz="4000" b="1" dirty="0">
                <a:solidFill>
                  <a:srgbClr val="C00000"/>
                </a:solidFill>
              </a:rPr>
              <a:t>方式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教科書：</a:t>
            </a:r>
            <a:r>
              <a:rPr lang="zh-TW" altLang="en-US" sz="3600" b="1" dirty="0"/>
              <a:t>一行指令學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－用</a:t>
            </a:r>
            <a:r>
              <a:rPr lang="en-US" altLang="zh-TW" sz="3600" b="1" dirty="0"/>
              <a:t>Pandas</a:t>
            </a:r>
            <a:r>
              <a:rPr lang="zh-TW" altLang="en-US" sz="3600" b="1" dirty="0"/>
              <a:t>掌握商務大數據分析</a:t>
            </a:r>
          </a:p>
          <a:p>
            <a:pPr lvl="1"/>
            <a:r>
              <a:rPr lang="en-US" altLang="zh-TW" sz="3600" b="1" dirty="0">
                <a:hlinkClick r:id="rId3"/>
              </a:rPr>
              <a:t>https://www.books.com.tw/products/0010921275?loc=M_br_r0vq68ygz_D_2aabd0_B_1</a:t>
            </a:r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分析數據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AA1F4B-3BA1-4BAC-AE67-951290CD3A11}"/>
              </a:ext>
            </a:extLst>
          </p:cNvPr>
          <p:cNvSpPr/>
          <p:nvPr/>
        </p:nvSpPr>
        <p:spPr>
          <a:xfrm>
            <a:off x="23486" y="3455568"/>
            <a:ext cx="89897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6600" b="1" dirty="0">
                <a:solidFill>
                  <a:srgbClr val="FF0000"/>
                </a:solidFill>
                <a:latin typeface="arial" panose="020B0604020202020204" pitchFamily="34" charset="0"/>
              </a:rPr>
              <a:t>✓</a:t>
            </a:r>
            <a:endParaRPr lang="zh-TW" altLang="en-US" sz="6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648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TW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）</a:t>
            </a:r>
            <a:r>
              <a:rPr lang="zh-CN" altLang="en-US" sz="4000" b="1" dirty="0"/>
              <a:t>進階書籍</a:t>
            </a:r>
            <a:r>
              <a:rPr lang="en-US" altLang="zh-CN" sz="4000" b="1" dirty="0"/>
              <a:t>1</a:t>
            </a:r>
            <a:r>
              <a:rPr lang="zh-TW" altLang="en-US" sz="4000" b="1" dirty="0"/>
              <a:t>：</a:t>
            </a:r>
            <a:endParaRPr lang="en-US" altLang="zh-TW" sz="4000" b="1" dirty="0"/>
          </a:p>
          <a:p>
            <a:pPr lvl="1"/>
            <a:r>
              <a:rPr lang="zh-CN" altLang="en-US" sz="3600" b="1" dirty="0"/>
              <a:t>參考書：</a:t>
            </a:r>
            <a:r>
              <a:rPr lang="zh-TW" altLang="en-US" sz="3600" b="1" dirty="0"/>
              <a:t> </a:t>
            </a:r>
            <a:r>
              <a:rPr lang="en-US" altLang="zh-TW" sz="3600" b="1" dirty="0"/>
              <a:t>Python</a:t>
            </a:r>
            <a:r>
              <a:rPr lang="zh-TW" altLang="en-US" sz="3600" b="1" dirty="0"/>
              <a:t>商業數據分析：零售和電子商務案例</a:t>
            </a:r>
          </a:p>
          <a:p>
            <a:pPr lvl="1"/>
            <a:r>
              <a:rPr lang="en-US" altLang="zh-TW" sz="3600" b="1" dirty="0">
                <a:hlinkClick r:id="rId2"/>
              </a:rPr>
              <a:t>https://www.books.com.tw/products/CN11723157</a:t>
            </a:r>
            <a:endParaRPr lang="en-US" altLang="zh-TW" sz="3600" b="1" dirty="0"/>
          </a:p>
          <a:p>
            <a:pPr lvl="1"/>
            <a:endParaRPr lang="en-US" altLang="zh-TW" sz="3600" b="1" dirty="0"/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</a:t>
            </a:r>
            <a:r>
              <a:rPr lang="zh-TW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CN" altLang="en-US" sz="4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進階參考書</a:t>
            </a:r>
            <a:endParaRPr lang="zh-TW" altLang="en-US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9671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640" y="2069604"/>
            <a:ext cx="7448872" cy="2718792"/>
          </a:xfrm>
        </p:spPr>
        <p:txBody>
          <a:bodyPr vert="horz" rtlCol="0">
            <a:normAutofit/>
          </a:bodyPr>
          <a:lstStyle/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本課程所要教學的章節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與進階參考章節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41262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5257800"/>
          </a:xfrm>
        </p:spPr>
        <p:txBody>
          <a:bodyPr>
            <a:normAutofit lnSpcReduction="10000"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1</a:t>
            </a:r>
            <a:r>
              <a:rPr lang="zh-TW" altLang="en-US" sz="1800" b="1" dirty="0">
                <a:solidFill>
                  <a:srgbClr val="7030A0"/>
                </a:solidFill>
              </a:rPr>
              <a:t>章 數字與變數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2</a:t>
            </a:r>
            <a:r>
              <a:rPr lang="zh-TW" altLang="en-US" sz="1800" b="1" dirty="0">
                <a:solidFill>
                  <a:srgbClr val="7030A0"/>
                </a:solidFill>
              </a:rPr>
              <a:t>章 字串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章 串列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4</a:t>
            </a:r>
            <a:r>
              <a:rPr lang="zh-TW" altLang="en-US" sz="1800" b="1" dirty="0">
                <a:solidFill>
                  <a:srgbClr val="7030A0"/>
                </a:solidFill>
              </a:rPr>
              <a:t>章 迴圈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5</a:t>
            </a:r>
            <a:r>
              <a:rPr lang="zh-TW" altLang="en-US" sz="1800" b="1" dirty="0">
                <a:solidFill>
                  <a:srgbClr val="7030A0"/>
                </a:solidFill>
              </a:rPr>
              <a:t>章 字典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6</a:t>
            </a:r>
            <a:r>
              <a:rPr lang="zh-TW" altLang="en-US" sz="1800" b="1" dirty="0">
                <a:solidFill>
                  <a:srgbClr val="7030A0"/>
                </a:solidFill>
              </a:rPr>
              <a:t>章 邏輯判斷</a:t>
            </a:r>
          </a:p>
          <a:p>
            <a:r>
              <a:rPr lang="zh-TW" altLang="en-US" sz="1800" b="1" dirty="0">
                <a:solidFill>
                  <a:srgbClr val="7030A0"/>
                </a:solidFill>
              </a:rPr>
              <a:t>第</a:t>
            </a:r>
            <a:r>
              <a:rPr lang="en-US" altLang="zh-TW" sz="1800" b="1" dirty="0">
                <a:solidFill>
                  <a:srgbClr val="7030A0"/>
                </a:solidFill>
              </a:rPr>
              <a:t>7</a:t>
            </a:r>
            <a:r>
              <a:rPr lang="zh-TW" altLang="en-US" sz="1800" b="1" dirty="0">
                <a:solidFill>
                  <a:srgbClr val="7030A0"/>
                </a:solidFill>
              </a:rPr>
              <a:t>章 </a:t>
            </a:r>
            <a:r>
              <a:rPr lang="en-US" altLang="zh-TW" sz="1800" b="1" dirty="0">
                <a:solidFill>
                  <a:srgbClr val="7030A0"/>
                </a:solidFill>
              </a:rPr>
              <a:t>Python</a:t>
            </a:r>
            <a:r>
              <a:rPr lang="zh-TW" altLang="en-US" sz="1800" b="1" dirty="0">
                <a:solidFill>
                  <a:srgbClr val="7030A0"/>
                </a:solidFill>
              </a:rPr>
              <a:t>的套件與模組</a:t>
            </a:r>
          </a:p>
          <a:p>
            <a:endParaRPr lang="zh-TW" altLang="en-US" sz="1800" b="1" dirty="0"/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8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</a:t>
            </a:r>
            <a:r>
              <a:rPr lang="zh-TW" altLang="en-US" sz="1800" b="1" dirty="0">
                <a:solidFill>
                  <a:srgbClr val="C00000"/>
                </a:solidFill>
              </a:rPr>
              <a:t>套件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9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 </a:t>
            </a:r>
            <a:r>
              <a:rPr lang="en-US" altLang="zh-TW" sz="1800" b="1" dirty="0" err="1">
                <a:solidFill>
                  <a:srgbClr val="C00000"/>
                </a:solidFill>
              </a:rPr>
              <a:t>DataFrame</a:t>
            </a:r>
            <a:r>
              <a:rPr lang="zh-TW" altLang="en-US" sz="1800" b="1" dirty="0">
                <a:solidFill>
                  <a:srgbClr val="C00000"/>
                </a:solidFill>
              </a:rPr>
              <a:t>介紹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10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 </a:t>
            </a:r>
            <a:r>
              <a:rPr lang="zh-TW" altLang="en-US" sz="1800" b="1" dirty="0">
                <a:solidFill>
                  <a:srgbClr val="C00000"/>
                </a:solidFill>
              </a:rPr>
              <a:t>繪圖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11</a:t>
            </a:r>
            <a:r>
              <a:rPr lang="zh-TW" altLang="en-US" sz="1800" b="1" dirty="0">
                <a:solidFill>
                  <a:srgbClr val="C00000"/>
                </a:solidFill>
              </a:rPr>
              <a:t>章 多層級索引鍵</a:t>
            </a:r>
          </a:p>
          <a:p>
            <a:r>
              <a:rPr lang="zh-TW" altLang="en-US" sz="1800" b="1" dirty="0">
                <a:solidFill>
                  <a:srgbClr val="C00000"/>
                </a:solidFill>
              </a:rPr>
              <a:t>第</a:t>
            </a:r>
            <a:r>
              <a:rPr lang="en-US" altLang="zh-TW" sz="1800" b="1" dirty="0">
                <a:solidFill>
                  <a:srgbClr val="C00000"/>
                </a:solidFill>
              </a:rPr>
              <a:t>17</a:t>
            </a:r>
            <a:r>
              <a:rPr lang="zh-TW" altLang="en-US" sz="1800" b="1" dirty="0">
                <a:solidFill>
                  <a:srgbClr val="C00000"/>
                </a:solidFill>
              </a:rPr>
              <a:t>章 </a:t>
            </a:r>
            <a:r>
              <a:rPr lang="en-US" altLang="zh-TW" sz="1800" b="1" dirty="0">
                <a:solidFill>
                  <a:srgbClr val="C00000"/>
                </a:solidFill>
              </a:rPr>
              <a:t>pandas──</a:t>
            </a:r>
            <a:r>
              <a:rPr lang="zh-TW" altLang="en-US" sz="1800" b="1" dirty="0">
                <a:solidFill>
                  <a:srgbClr val="C00000"/>
                </a:solidFill>
              </a:rPr>
              <a:t>字串處理</a:t>
            </a:r>
          </a:p>
          <a:p>
            <a:endParaRPr lang="en-US" altLang="zh-TW" sz="1800" b="1" dirty="0"/>
          </a:p>
          <a:p>
            <a:pPr lvl="1"/>
            <a:endParaRPr lang="zh-TW" altLang="en-US" sz="1800" b="1" dirty="0"/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104456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b="1" dirty="0"/>
              <a:t>第</a:t>
            </a:r>
            <a:r>
              <a:rPr lang="en-US" altLang="zh-CN" sz="1800" b="1" dirty="0"/>
              <a:t>12</a:t>
            </a:r>
            <a:r>
              <a:rPr lang="zh-CN" altLang="en-US" sz="1800" b="1" dirty="0"/>
              <a:t>章 鐵達尼號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13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系所生源分析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14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業務銷售分析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15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股市分析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章 </a:t>
            </a:r>
            <a:r>
              <a:rPr lang="en-US" altLang="zh-TW" sz="1800" b="1" dirty="0"/>
              <a:t>pandas──</a:t>
            </a:r>
            <a:r>
              <a:rPr lang="zh-CN" altLang="en-US" sz="1800" b="1" dirty="0"/>
              <a:t>問卷資料分析</a:t>
            </a:r>
          </a:p>
          <a:p>
            <a:r>
              <a:rPr lang="zh-CN" altLang="en-US" sz="1800" b="1" dirty="0"/>
              <a:t>第</a:t>
            </a:r>
            <a:r>
              <a:rPr lang="en-US" altLang="zh-CN" sz="1800" b="1" dirty="0"/>
              <a:t>18</a:t>
            </a:r>
            <a:r>
              <a:rPr lang="zh-CN" altLang="en-US" sz="1800" b="1" dirty="0"/>
              <a:t>章　</a:t>
            </a:r>
            <a:r>
              <a:rPr lang="en-US" altLang="zh-TW" sz="1800" b="1" dirty="0"/>
              <a:t>pandas</a:t>
            </a:r>
            <a:r>
              <a:rPr lang="zh-CN" altLang="en-US" sz="1800" b="1" dirty="0"/>
              <a:t>禪</a:t>
            </a: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  <p:sp>
        <p:nvSpPr>
          <p:cNvPr id="5" name="想法泡泡: 雲朵 4">
            <a:extLst>
              <a:ext uri="{FF2B5EF4-FFF2-40B4-BE49-F238E27FC236}">
                <a16:creationId xmlns:a16="http://schemas.microsoft.com/office/drawing/2014/main" id="{3AFA3563-A45F-47A3-AEE4-548A548AB166}"/>
              </a:ext>
            </a:extLst>
          </p:cNvPr>
          <p:cNvSpPr/>
          <p:nvPr/>
        </p:nvSpPr>
        <p:spPr>
          <a:xfrm>
            <a:off x="2915816" y="2636912"/>
            <a:ext cx="1584176" cy="1008112"/>
          </a:xfrm>
          <a:prstGeom prst="cloudCallout">
            <a:avLst>
              <a:gd name="adj1" fmla="val -121951"/>
              <a:gd name="adj2" fmla="val -1938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需要時再重點提醒</a:t>
            </a:r>
            <a:endParaRPr lang="zh-TW" altLang="en-US" dirty="0"/>
          </a:p>
        </p:txBody>
      </p:sp>
      <p:sp>
        <p:nvSpPr>
          <p:cNvPr id="6" name="想法泡泡: 雲朵 5">
            <a:extLst>
              <a:ext uri="{FF2B5EF4-FFF2-40B4-BE49-F238E27FC236}">
                <a16:creationId xmlns:a16="http://schemas.microsoft.com/office/drawing/2014/main" id="{2EF988ED-F79F-452A-ABF6-0E4060D5A28D}"/>
              </a:ext>
            </a:extLst>
          </p:cNvPr>
          <p:cNvSpPr/>
          <p:nvPr/>
        </p:nvSpPr>
        <p:spPr>
          <a:xfrm>
            <a:off x="3995936" y="5289004"/>
            <a:ext cx="1584176" cy="1008112"/>
          </a:xfrm>
          <a:prstGeom prst="cloudCallout">
            <a:avLst>
              <a:gd name="adj1" fmla="val -171334"/>
              <a:gd name="adj2" fmla="val 1084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上課主要核心</a:t>
            </a:r>
            <a:endParaRPr lang="zh-TW" altLang="en-US" dirty="0"/>
          </a:p>
        </p:txBody>
      </p:sp>
      <p:sp>
        <p:nvSpPr>
          <p:cNvPr id="7" name="想法泡泡: 雲朵 6">
            <a:extLst>
              <a:ext uri="{FF2B5EF4-FFF2-40B4-BE49-F238E27FC236}">
                <a16:creationId xmlns:a16="http://schemas.microsoft.com/office/drawing/2014/main" id="{C4489DE4-1E0C-4511-A271-4DEF387F7633}"/>
              </a:ext>
            </a:extLst>
          </p:cNvPr>
          <p:cNvSpPr/>
          <p:nvPr/>
        </p:nvSpPr>
        <p:spPr>
          <a:xfrm>
            <a:off x="7308304" y="4653136"/>
            <a:ext cx="1378496" cy="1008112"/>
          </a:xfrm>
          <a:prstGeom prst="cloudCallout">
            <a:avLst>
              <a:gd name="adj1" fmla="val -59634"/>
              <a:gd name="adj2" fmla="val -15292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作業，考試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9022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392488" cy="52578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chp11.</a:t>
            </a:r>
            <a:r>
              <a:rPr lang="zh-TW" altLang="en-US" sz="1800" b="1" dirty="0">
                <a:solidFill>
                  <a:srgbClr val="C00000"/>
                </a:solidFill>
              </a:rPr>
              <a:t>讀取各種資料庫檔案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chp11-1.noSQL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csv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chp11-2.noSQL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json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chp11-3.noSQL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xml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chp11-4.noSQL</a:t>
            </a:r>
            <a:r>
              <a:rPr lang="zh-TW" altLang="en-US" sz="1800" b="1" dirty="0">
                <a:solidFill>
                  <a:srgbClr val="7030A0"/>
                </a:solidFill>
              </a:rPr>
              <a:t>：字典</a:t>
            </a:r>
            <a:r>
              <a:rPr lang="en-US" altLang="zh-TW" sz="1800" b="1" dirty="0" err="1">
                <a:solidFill>
                  <a:srgbClr val="7030A0"/>
                </a:solidFill>
              </a:rPr>
              <a:t>dict</a:t>
            </a:r>
            <a:r>
              <a:rPr lang="en-US" altLang="zh-TW" sz="1800" b="1" dirty="0">
                <a:solidFill>
                  <a:srgbClr val="7030A0"/>
                </a:solidFill>
              </a:rPr>
              <a:t>,</a:t>
            </a:r>
            <a:r>
              <a:rPr lang="zh-TW" altLang="en-US" sz="1800" b="1" dirty="0">
                <a:solidFill>
                  <a:srgbClr val="7030A0"/>
                </a:solidFill>
              </a:rPr>
              <a:t>串列</a:t>
            </a:r>
            <a:r>
              <a:rPr lang="en-US" altLang="zh-TW" sz="1800" b="1" dirty="0">
                <a:solidFill>
                  <a:srgbClr val="7030A0"/>
                </a:solidFill>
              </a:rPr>
              <a:t>list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chp11-5.noSQL</a:t>
            </a:r>
            <a:r>
              <a:rPr lang="zh-TW" altLang="en-US" sz="1800" b="1" dirty="0">
                <a:solidFill>
                  <a:srgbClr val="7030A0"/>
                </a:solidFill>
              </a:rPr>
              <a:t>：資料集</a:t>
            </a:r>
            <a:r>
              <a:rPr lang="en-US" altLang="zh-TW" sz="1800" b="1" dirty="0">
                <a:solidFill>
                  <a:srgbClr val="7030A0"/>
                </a:solidFill>
              </a:rPr>
              <a:t>dataset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chp11-6.noSQL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>
                <a:solidFill>
                  <a:srgbClr val="7030A0"/>
                </a:solidFill>
              </a:rPr>
              <a:t>SQLite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chp11-7.SQL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chp11-8.noSQL</a:t>
            </a:r>
            <a:r>
              <a:rPr lang="zh-TW" altLang="en-US" sz="1800" b="1" dirty="0">
                <a:solidFill>
                  <a:srgbClr val="7030A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MongoDb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chp11-9.noSQL</a:t>
            </a:r>
            <a:r>
              <a:rPr lang="zh-TW" altLang="en-US" sz="1800" b="1" dirty="0">
                <a:solidFill>
                  <a:srgbClr val="7030A0"/>
                </a:solidFill>
              </a:rPr>
              <a:t>：網頁</a:t>
            </a:r>
          </a:p>
          <a:p>
            <a:pPr lvl="1"/>
            <a:endParaRPr lang="en-US" altLang="zh-TW" sz="18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老師補充資料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860032" y="1700808"/>
            <a:ext cx="4536504" cy="5257800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1800" b="1" dirty="0">
                <a:solidFill>
                  <a:srgbClr val="C00000"/>
                </a:solidFill>
              </a:rPr>
              <a:t>chp12.</a:t>
            </a:r>
            <a:r>
              <a:rPr lang="zh-TW" altLang="en-US" sz="1800" b="1" dirty="0">
                <a:solidFill>
                  <a:srgbClr val="C00000"/>
                </a:solidFill>
              </a:rPr>
              <a:t>網路爬蟲：</a:t>
            </a:r>
            <a:r>
              <a:rPr lang="en-US" altLang="zh-TW" sz="1800" b="1" dirty="0">
                <a:solidFill>
                  <a:srgbClr val="C00000"/>
                </a:solidFill>
              </a:rPr>
              <a:t>web crawler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chp12-1.Pandas</a:t>
            </a:r>
            <a:r>
              <a:rPr lang="zh-TW" altLang="en-US" sz="1800" b="1" dirty="0">
                <a:solidFill>
                  <a:srgbClr val="7030A0"/>
                </a:solidFill>
              </a:rPr>
              <a:t>讀取網頁表格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chp12-2.</a:t>
            </a:r>
            <a:r>
              <a:rPr lang="zh-TW" altLang="en-US" sz="1800" b="1" dirty="0">
                <a:solidFill>
                  <a:srgbClr val="7030A0"/>
                </a:solidFill>
              </a:rPr>
              <a:t>讀取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網頁：</a:t>
            </a:r>
            <a:r>
              <a:rPr lang="en-US" altLang="zh-TW" sz="1800" b="1" dirty="0">
                <a:solidFill>
                  <a:srgbClr val="7030A0"/>
                </a:solidFill>
              </a:rPr>
              <a:t>Request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chp12-3.</a:t>
            </a:r>
            <a:r>
              <a:rPr lang="zh-TW" altLang="en-US" sz="1800" b="1" dirty="0">
                <a:solidFill>
                  <a:srgbClr val="7030A0"/>
                </a:solidFill>
              </a:rPr>
              <a:t>分析</a:t>
            </a:r>
            <a:r>
              <a:rPr lang="en-US" altLang="zh-TW" sz="1800" b="1" dirty="0">
                <a:solidFill>
                  <a:srgbClr val="7030A0"/>
                </a:solidFill>
              </a:rPr>
              <a:t>html</a:t>
            </a:r>
            <a:r>
              <a:rPr lang="zh-TW" altLang="en-US" sz="1800" b="1" dirty="0">
                <a:solidFill>
                  <a:srgbClr val="7030A0"/>
                </a:solidFill>
              </a:rPr>
              <a:t>標籤</a:t>
            </a:r>
            <a:r>
              <a:rPr lang="en-US" altLang="zh-TW" sz="1800" b="1" dirty="0">
                <a:solidFill>
                  <a:srgbClr val="7030A0"/>
                </a:solidFill>
              </a:rPr>
              <a:t>tag</a:t>
            </a:r>
            <a:r>
              <a:rPr lang="zh-TW" altLang="en-US" sz="1800" b="1" dirty="0">
                <a:solidFill>
                  <a:srgbClr val="7030A0"/>
                </a:solidFill>
              </a:rPr>
              <a:t>內容：</a:t>
            </a:r>
            <a:r>
              <a:rPr lang="en-US" altLang="zh-TW" sz="1800" b="1" dirty="0" err="1">
                <a:solidFill>
                  <a:srgbClr val="7030A0"/>
                </a:solidFill>
              </a:rPr>
              <a:t>BeautifulSoup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chp13.</a:t>
            </a:r>
            <a:r>
              <a:rPr lang="zh-TW" altLang="en-US" sz="1800" b="1" dirty="0">
                <a:solidFill>
                  <a:srgbClr val="C00000"/>
                </a:solidFill>
              </a:rPr>
              <a:t>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7030A0"/>
                </a:solidFill>
              </a:rPr>
              <a:t>pymysql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7030A0"/>
                </a:solidFill>
              </a:rPr>
              <a:t>--- SQL</a:t>
            </a:r>
            <a:r>
              <a:rPr lang="zh-TW" altLang="en-US" sz="1800" b="1" dirty="0">
                <a:solidFill>
                  <a:srgbClr val="7030A0"/>
                </a:solidFill>
              </a:rPr>
              <a:t>語法與</a:t>
            </a:r>
            <a:r>
              <a:rPr lang="en-US" altLang="zh-TW" sz="1800" b="1" dirty="0">
                <a:solidFill>
                  <a:srgbClr val="7030A0"/>
                </a:solidFill>
              </a:rPr>
              <a:t>Pandas</a:t>
            </a:r>
            <a:r>
              <a:rPr lang="zh-TW" altLang="en-US" sz="1800" b="1" dirty="0">
                <a:solidFill>
                  <a:srgbClr val="7030A0"/>
                </a:solidFill>
              </a:rPr>
              <a:t>的指令對照</a:t>
            </a:r>
            <a:endParaRPr lang="en-US" altLang="zh-TW" sz="1800" b="1" dirty="0">
              <a:solidFill>
                <a:srgbClr val="7030A0"/>
              </a:solidFill>
            </a:endParaRPr>
          </a:p>
          <a:p>
            <a:endParaRPr lang="zh-TW" altLang="en-US" sz="1800" b="1" dirty="0">
              <a:solidFill>
                <a:srgbClr val="7030A0"/>
              </a:solidFill>
            </a:endParaRPr>
          </a:p>
          <a:p>
            <a:r>
              <a:rPr lang="en-US" altLang="zh-TW" sz="1800" b="1" dirty="0">
                <a:solidFill>
                  <a:srgbClr val="C00000"/>
                </a:solidFill>
              </a:rPr>
              <a:t>chp14.</a:t>
            </a:r>
            <a:r>
              <a:rPr lang="zh-TW" altLang="en-US" sz="1800" b="1" dirty="0">
                <a:solidFill>
                  <a:srgbClr val="C00000"/>
                </a:solidFill>
              </a:rPr>
              <a:t>不需要寫</a:t>
            </a:r>
            <a:r>
              <a:rPr lang="en-US" altLang="zh-TW" sz="1800" b="1" dirty="0">
                <a:solidFill>
                  <a:srgbClr val="C00000"/>
                </a:solidFill>
              </a:rPr>
              <a:t>SQL</a:t>
            </a:r>
            <a:r>
              <a:rPr lang="zh-TW" altLang="en-US" sz="1800" b="1" dirty="0">
                <a:solidFill>
                  <a:srgbClr val="C00000"/>
                </a:solidFill>
              </a:rPr>
              <a:t>語法的連線</a:t>
            </a:r>
            <a:r>
              <a:rPr lang="en-US" altLang="zh-TW" sz="1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1800" b="1" dirty="0">
                <a:solidFill>
                  <a:srgbClr val="C00000"/>
                </a:solidFill>
              </a:rPr>
              <a:t>：</a:t>
            </a:r>
            <a:r>
              <a:rPr lang="en-US" altLang="zh-TW" sz="1800" b="1" dirty="0" err="1">
                <a:solidFill>
                  <a:srgbClr val="C00000"/>
                </a:solidFill>
              </a:rPr>
              <a:t>sqlalchemy</a:t>
            </a:r>
            <a:endParaRPr lang="zh-TW" altLang="en-US" sz="1800" b="1" dirty="0">
              <a:solidFill>
                <a:srgbClr val="C00000"/>
              </a:solidFill>
            </a:endParaRPr>
          </a:p>
          <a:p>
            <a:endParaRPr lang="zh-CN" altLang="en-US" sz="1800" b="1" dirty="0"/>
          </a:p>
          <a:p>
            <a:pPr lvl="1"/>
            <a:endParaRPr lang="zh-CN" altLang="en-US" sz="1800" b="1" dirty="0"/>
          </a:p>
          <a:p>
            <a:pPr lvl="1"/>
            <a:endParaRPr lang="zh-CN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278220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04457" cy="51054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chp30.</a:t>
            </a:r>
            <a:r>
              <a:rPr lang="zh-TW" altLang="en-US" sz="1800" b="1" dirty="0">
                <a:solidFill>
                  <a:srgbClr val="7030A0"/>
                </a:solidFill>
              </a:rPr>
              <a:t>電商數據分析：淘寶服飾店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年數據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chp31.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市場分析：市場佔有率分析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chp32.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市場分析：市場趨勢分析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chp33.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市場分析：細分市場分析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chp34.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市場分析：消費者需求分析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chp35.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運營分析：店鋪數據化運營的</a:t>
            </a:r>
            <a:r>
              <a:rPr lang="en-US" altLang="zh-TW" sz="1800" b="1" dirty="0">
                <a:solidFill>
                  <a:srgbClr val="7030A0"/>
                </a:solidFill>
              </a:rPr>
              <a:t>SEO</a:t>
            </a:r>
            <a:r>
              <a:rPr lang="zh-TW" altLang="en-US" sz="1800" b="1" dirty="0">
                <a:solidFill>
                  <a:srgbClr val="7030A0"/>
                </a:solidFill>
              </a:rPr>
              <a:t>關鍵字詞根與統計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chp36.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運營分析：商品推廣方案分析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chp37.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運營分析：競品分析</a:t>
            </a:r>
            <a:r>
              <a:rPr lang="en-US" altLang="zh-TW" sz="1800" b="1" dirty="0">
                <a:solidFill>
                  <a:srgbClr val="7030A0"/>
                </a:solidFill>
              </a:rPr>
              <a:t>(</a:t>
            </a:r>
            <a:r>
              <a:rPr lang="zh-TW" altLang="en-US" sz="1800" b="1" dirty="0">
                <a:solidFill>
                  <a:srgbClr val="7030A0"/>
                </a:solidFill>
              </a:rPr>
              <a:t>追踪競爭對手的</a:t>
            </a:r>
            <a:r>
              <a:rPr lang="en-US" altLang="zh-TW" sz="1800" b="1" dirty="0">
                <a:solidFill>
                  <a:srgbClr val="7030A0"/>
                </a:solidFill>
              </a:rPr>
              <a:t>SKU</a:t>
            </a:r>
            <a:r>
              <a:rPr lang="zh-TW" altLang="en-US" sz="1800" b="1" dirty="0">
                <a:solidFill>
                  <a:srgbClr val="7030A0"/>
                </a:solidFill>
              </a:rPr>
              <a:t>庫存價格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進階課程，都是預測分析，演算法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283969" y="1417638"/>
            <a:ext cx="4536503" cy="5440362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>
                <a:solidFill>
                  <a:srgbClr val="7030A0"/>
                </a:solidFill>
              </a:rPr>
              <a:t>chp38.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基於關聯規則的產品推薦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chp39.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基於聚類演算法的商品推薦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chp40.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基於協同過濾演算法的產品推薦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chp41.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基於業務邏輯的預測演算法模型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chp42.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基於時序演算法預測庫存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chp43.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電商的庫存預測演算法建模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chp44.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用戶成單預測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chp45.</a:t>
            </a:r>
            <a:r>
              <a:rPr lang="zh-TW" altLang="en-US" sz="2000" b="1" dirty="0">
                <a:solidFill>
                  <a:srgbClr val="7030A0"/>
                </a:solidFill>
              </a:rPr>
              <a:t>用戶預測：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用戶流失預測</a:t>
            </a:r>
            <a:endParaRPr lang="zh-CN" altLang="en-US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endParaRPr lang="zh-CN" altLang="en-US" sz="20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766566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650" y="1916832"/>
            <a:ext cx="6400800" cy="1752600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7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評分方式</a:t>
            </a:r>
            <a:endParaRPr lang="en-US" altLang="zh-CN" sz="7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45750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本學期的評分方式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600200"/>
            <a:ext cx="8892480" cy="5257800"/>
          </a:xfrm>
        </p:spPr>
        <p:txBody>
          <a:bodyPr>
            <a:norm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上課分數，作業分數：</a:t>
            </a:r>
            <a:endParaRPr lang="en-US" altLang="zh-CN" b="1" dirty="0"/>
          </a:p>
          <a:p>
            <a:pPr lvl="1"/>
            <a:r>
              <a:rPr lang="zh-CN" altLang="en-US" b="1" dirty="0"/>
              <a:t>上課來跟著老師做範例就有加分（使用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來加分）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50%</a:t>
            </a:r>
          </a:p>
          <a:p>
            <a:pPr lvl="1"/>
            <a:r>
              <a:rPr lang="zh-CN" altLang="en-US" b="1" dirty="0"/>
              <a:t>做練習範例：作業（大多參考自課本範例）（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上傳）</a:t>
            </a:r>
            <a:endParaRPr lang="en-US" altLang="zh-CN" b="1" dirty="0"/>
          </a:p>
          <a:p>
            <a:pPr lvl="1"/>
            <a:r>
              <a:rPr lang="zh-CN" altLang="en-US" b="1" dirty="0"/>
              <a:t>作業是上課考試題庫來源，有寫作業，考試一定會</a:t>
            </a:r>
            <a:endParaRPr lang="en-US" altLang="zh-TW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期中考分數（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上傳，或</a:t>
            </a:r>
            <a:r>
              <a:rPr lang="en-US" altLang="zh-CN" b="1" dirty="0" err="1">
                <a:highlight>
                  <a:srgbClr val="FFFF00"/>
                </a:highlight>
              </a:rPr>
              <a:t>i</a:t>
            </a:r>
            <a:r>
              <a:rPr lang="zh-CN" altLang="en-US" b="1" dirty="0">
                <a:highlight>
                  <a:srgbClr val="FFFF00"/>
                </a:highlight>
              </a:rPr>
              <a:t>學園</a:t>
            </a:r>
            <a:r>
              <a:rPr lang="en-US" altLang="zh-CN" b="1" dirty="0">
                <a:highlight>
                  <a:srgbClr val="FFFF00"/>
                </a:highlight>
              </a:rPr>
              <a:t>PLUS</a:t>
            </a:r>
            <a:r>
              <a:rPr lang="zh-CN" altLang="en-US" b="1" dirty="0"/>
              <a:t>上傳）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25%</a:t>
            </a:r>
          </a:p>
          <a:p>
            <a:r>
              <a:rPr lang="en-US" altLang="zh-TW" b="1" dirty="0"/>
              <a:t>3.</a:t>
            </a:r>
            <a:r>
              <a:rPr lang="zh-CN" altLang="en-US" b="1" dirty="0"/>
              <a:t>期末考分數（</a:t>
            </a:r>
            <a:r>
              <a:rPr lang="en-US" altLang="zh-CN" b="1" dirty="0" err="1">
                <a:highlight>
                  <a:srgbClr val="FFFF00"/>
                </a:highlight>
              </a:rPr>
              <a:t>Zuvio</a:t>
            </a:r>
            <a:r>
              <a:rPr lang="zh-CN" altLang="en-US" b="1" dirty="0"/>
              <a:t>上傳，或</a:t>
            </a:r>
            <a:r>
              <a:rPr lang="en-US" altLang="zh-CN" b="1" dirty="0" err="1">
                <a:highlight>
                  <a:srgbClr val="FFFF00"/>
                </a:highlight>
              </a:rPr>
              <a:t>i</a:t>
            </a:r>
            <a:r>
              <a:rPr lang="zh-CN" altLang="en-US" b="1" dirty="0">
                <a:highlight>
                  <a:srgbClr val="FFFF00"/>
                </a:highlight>
              </a:rPr>
              <a:t>學園</a:t>
            </a:r>
            <a:r>
              <a:rPr lang="en-US" altLang="zh-CN" b="1" dirty="0">
                <a:highlight>
                  <a:srgbClr val="FFFF00"/>
                </a:highlight>
              </a:rPr>
              <a:t>PLUS</a:t>
            </a:r>
            <a:r>
              <a:rPr lang="zh-CN" altLang="en-US" b="1" dirty="0"/>
              <a:t>上傳）</a:t>
            </a:r>
            <a:endParaRPr lang="en-US" altLang="zh-CN" b="1" dirty="0"/>
          </a:p>
          <a:p>
            <a:pPr lvl="1"/>
            <a:r>
              <a:rPr lang="zh-CN" altLang="en-US" b="1" dirty="0"/>
              <a:t>考作業練習過的範例，或課本指定範例</a:t>
            </a:r>
            <a:endParaRPr lang="en-US" altLang="zh-CN" b="1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945240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869160"/>
          </a:xfrm>
        </p:spPr>
        <p:txBody>
          <a:bodyPr>
            <a:normAutofit/>
          </a:bodyPr>
          <a:lstStyle/>
          <a:p>
            <a:r>
              <a:rPr lang="zh-CN" altLang="en-US" sz="4000" b="1" dirty="0"/>
              <a:t>電子書（第一版）</a:t>
            </a:r>
            <a:endParaRPr lang="en-US" altLang="zh-CN" sz="4000" b="1" dirty="0"/>
          </a:p>
          <a:p>
            <a:r>
              <a:rPr lang="zh-CN" altLang="en-US" sz="4000" b="1" dirty="0"/>
              <a:t>紙本（第二版），書商聯絡人</a:t>
            </a:r>
            <a:endParaRPr lang="en-US" altLang="zh-CN" sz="4000" b="1" dirty="0"/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全華出版社，書商聯絡人：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黃文珍</a:t>
            </a:r>
            <a:r>
              <a:rPr lang="zh-CN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endParaRPr lang="en-US" altLang="zh-TW" sz="3600" b="1" dirty="0"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查詢：</a:t>
            </a:r>
            <a:r>
              <a:rPr lang="en-US" altLang="zh-TW" sz="3600" b="1" dirty="0"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0958008962</a:t>
            </a:r>
            <a:endParaRPr lang="en-US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sz="3600" b="1" dirty="0"/>
          </a:p>
          <a:p>
            <a:pPr lvl="1"/>
            <a:endParaRPr lang="en-US" altLang="zh-TW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zh-CN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教科書：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一行指令學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－用</a:t>
            </a:r>
            <a:r>
              <a:rPr lang="en-US" altLang="zh-TW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掌握商務大數據分析</a:t>
            </a:r>
          </a:p>
        </p:txBody>
      </p:sp>
    </p:spTree>
    <p:extLst>
      <p:ext uri="{BB962C8B-B14F-4D97-AF65-F5344CB8AC3E}">
        <p14:creationId xmlns:p14="http://schemas.microsoft.com/office/powerpoint/2010/main" val="17303211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經營管理系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所規劃的資訊相關課程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576485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401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783406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大一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網頁設計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程式設計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python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大二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SQL</a:t>
                      </a:r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</a:t>
                      </a:r>
                      <a:endParaRPr lang="en-US" altLang="zh-CN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Power BI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商用多媒體設計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大三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網站流量分析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大數據分析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pandas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大四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系上所規劃的</a:t>
            </a:r>
            <a:br>
              <a:rPr lang="en-US" altLang="zh-CN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3785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435280" cy="5105401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effectLst/>
              </a:rPr>
              <a:t>資訊課程，包括</a:t>
            </a:r>
            <a:r>
              <a:rPr lang="en-US" altLang="zh-CN" sz="4400" b="1" dirty="0">
                <a:effectLst/>
              </a:rPr>
              <a:t>2</a:t>
            </a:r>
            <a:r>
              <a:rPr lang="zh-CN" altLang="en-US" sz="4400" b="1" dirty="0">
                <a:effectLst/>
              </a:rPr>
              <a:t>個系列單元：</a:t>
            </a:r>
            <a:endParaRPr lang="en-US" altLang="zh-CN" sz="4400" b="1" dirty="0">
              <a:effectLst/>
            </a:endParaRPr>
          </a:p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1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商業數據程式分析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en-US" altLang="zh-CN" sz="2000" b="1" dirty="0">
                <a:effectLst/>
              </a:rPr>
              <a:t>Python</a:t>
            </a:r>
            <a:r>
              <a:rPr lang="zh-CN" altLang="en-US" sz="2000" b="1" dirty="0">
                <a:effectLst/>
              </a:rPr>
              <a:t>程式設計</a:t>
            </a:r>
            <a:endParaRPr lang="en-US" altLang="zh-CN" sz="2000" b="1" dirty="0">
              <a:effectLst/>
            </a:endParaRPr>
          </a:p>
          <a:p>
            <a:pPr lvl="1"/>
            <a:r>
              <a:rPr lang="en-US" altLang="zh-CN" sz="2000" b="1" dirty="0">
                <a:effectLst/>
              </a:rPr>
              <a:t>SQL</a:t>
            </a:r>
            <a:r>
              <a:rPr lang="zh-CN" altLang="en-US" sz="2000" b="1" dirty="0">
                <a:effectLst/>
              </a:rPr>
              <a:t>資料庫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大數據分析</a:t>
            </a:r>
            <a:endParaRPr lang="en-US" altLang="zh-CN" sz="2000" b="1" dirty="0">
              <a:effectLst/>
            </a:endParaRPr>
          </a:p>
          <a:p>
            <a:pPr lvl="1"/>
            <a:r>
              <a:rPr lang="en-US" altLang="zh-CN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endParaRPr lang="en-US" altLang="zh-CN" sz="2000" b="1" dirty="0">
              <a:effectLst/>
            </a:endParaRPr>
          </a:p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2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網站流量分析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網頁設計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商用多媒體設計</a:t>
            </a:r>
            <a:endParaRPr lang="en-US" altLang="zh-CN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網路流量分析</a:t>
            </a:r>
            <a:endParaRPr lang="en-US" altLang="zh-TW" sz="2000" b="1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系上所規劃的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資訊相關課程</a:t>
            </a:r>
            <a:endParaRPr lang="zh-TW" altLang="zh-TW" sz="4400" b="1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0652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536" y="1628800"/>
            <a:ext cx="8496944" cy="2952328"/>
          </a:xfrm>
        </p:spPr>
        <p:txBody>
          <a:bodyPr>
            <a:normAutofit/>
          </a:bodyPr>
          <a:lstStyle/>
          <a:p>
            <a:pPr algn="ctr"/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完整的商業資料程式分析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包括二個部分</a:t>
            </a:r>
            <a:endParaRPr lang="zh-TW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825250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199"/>
            <a:ext cx="8435280" cy="5105401"/>
          </a:xfrm>
        </p:spPr>
        <p:txBody>
          <a:bodyPr>
            <a:normAutofit/>
          </a:bodyPr>
          <a:lstStyle/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1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商業數據程式分析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en-US" altLang="zh-CN" sz="2000" b="1" dirty="0">
                <a:effectLst/>
              </a:rPr>
              <a:t>Python</a:t>
            </a:r>
            <a:r>
              <a:rPr lang="zh-CN" altLang="en-US" sz="2000" b="1" dirty="0">
                <a:effectLst/>
              </a:rPr>
              <a:t>程式設計</a:t>
            </a:r>
            <a:r>
              <a:rPr lang="en-US" altLang="zh-CN" sz="2000" b="1" dirty="0">
                <a:effectLst/>
              </a:rPr>
              <a:t>(</a:t>
            </a:r>
            <a:r>
              <a:rPr lang="en-US" altLang="zh-CN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pandas</a:t>
            </a:r>
            <a:r>
              <a:rPr lang="en-US" altLang="zh-CN" sz="2000" b="1" dirty="0">
                <a:effectLst/>
              </a:rPr>
              <a:t>)</a:t>
            </a:r>
          </a:p>
          <a:p>
            <a:pPr lvl="1"/>
            <a:r>
              <a:rPr lang="en-US" altLang="zh-CN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SQL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資料庫</a:t>
            </a:r>
            <a:endParaRPr lang="en-US" altLang="zh-CN" sz="2000" b="1" dirty="0">
              <a:solidFill>
                <a:srgbClr val="C00000"/>
              </a:solidFill>
              <a:effectLst/>
              <a:highlight>
                <a:srgbClr val="FFFF00"/>
              </a:highlight>
            </a:endParaRPr>
          </a:p>
          <a:p>
            <a:pPr lvl="1"/>
            <a:r>
              <a:rPr lang="en-US" altLang="zh-CN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endParaRPr lang="en-US" altLang="zh-CN" sz="2000" b="1" dirty="0">
              <a:effectLst/>
            </a:endParaRPr>
          </a:p>
          <a:p>
            <a:r>
              <a:rPr lang="zh-CN" altLang="en-US" sz="4400" b="1" dirty="0">
                <a:effectLst/>
              </a:rPr>
              <a:t>（</a:t>
            </a:r>
            <a:r>
              <a:rPr lang="en-US" altLang="zh-CN" sz="4400" b="1" dirty="0">
                <a:effectLst/>
              </a:rPr>
              <a:t>2</a:t>
            </a:r>
            <a:r>
              <a:rPr lang="zh-CN" altLang="en-US" sz="4400" b="1" dirty="0">
                <a:effectLst/>
              </a:rPr>
              <a:t>）</a:t>
            </a:r>
            <a:r>
              <a:rPr lang="zh-CN" altLang="en-US" sz="4400" b="1" dirty="0">
                <a:solidFill>
                  <a:srgbClr val="7030A0"/>
                </a:solidFill>
                <a:effectLst/>
              </a:rPr>
              <a:t>商業資料預測</a:t>
            </a:r>
            <a:endParaRPr lang="en-US" altLang="zh-CN" sz="4400" b="1" dirty="0">
              <a:solidFill>
                <a:srgbClr val="7030A0"/>
              </a:solidFill>
              <a:effectLst/>
            </a:endParaRPr>
          </a:p>
          <a:p>
            <a:pPr lvl="1"/>
            <a:r>
              <a:rPr lang="zh-TW" altLang="en-US" sz="2000" b="1" dirty="0">
                <a:effectLst/>
              </a:rPr>
              <a:t>線性</a:t>
            </a:r>
            <a:r>
              <a:rPr lang="zh-TW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迴歸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分析</a:t>
            </a:r>
            <a:endParaRPr lang="en-US" altLang="zh-TW" sz="2000" b="1" dirty="0">
              <a:solidFill>
                <a:srgbClr val="C00000"/>
              </a:solidFill>
              <a:effectLst/>
              <a:highlight>
                <a:srgbClr val="FFFF00"/>
              </a:highlight>
            </a:endParaRPr>
          </a:p>
          <a:p>
            <a:pPr lvl="1"/>
            <a:r>
              <a:rPr lang="zh-TW" altLang="en-US" sz="2000" b="1" dirty="0">
                <a:effectLst/>
              </a:rPr>
              <a:t>一元線性迴歸</a:t>
            </a:r>
            <a:r>
              <a:rPr lang="zh-CN" altLang="en-US" sz="2000" b="1" dirty="0">
                <a:effectLst/>
              </a:rPr>
              <a:t>，</a:t>
            </a:r>
            <a:r>
              <a:rPr lang="zh-TW" altLang="en-US" sz="2000" b="1" dirty="0">
                <a:effectLst/>
              </a:rPr>
              <a:t>多元線性迴歸</a:t>
            </a:r>
            <a:endParaRPr lang="en-US" altLang="zh-TW" sz="2000" b="1" dirty="0">
              <a:effectLst/>
            </a:endParaRPr>
          </a:p>
          <a:p>
            <a:pPr lvl="1"/>
            <a:r>
              <a:rPr lang="zh-TW" altLang="en-US" sz="2000" b="1" dirty="0">
                <a:effectLst/>
              </a:rPr>
              <a:t>非線性迴歸</a:t>
            </a:r>
            <a:r>
              <a:rPr lang="zh-CN" altLang="en-US" sz="2000" b="1" dirty="0">
                <a:effectLst/>
              </a:rPr>
              <a:t>，</a:t>
            </a:r>
            <a:r>
              <a:rPr lang="zh-TW" altLang="en-US" sz="2000" b="1" dirty="0">
                <a:effectLst/>
              </a:rPr>
              <a:t>多項式迴歸</a:t>
            </a:r>
            <a:endParaRPr lang="en-US" altLang="zh-TW" sz="2000" b="1" dirty="0">
              <a:effectLst/>
            </a:endParaRPr>
          </a:p>
          <a:p>
            <a:pPr lvl="1"/>
            <a:r>
              <a:rPr lang="en-US" altLang="zh-TW" sz="20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Scikit</a:t>
            </a:r>
            <a:r>
              <a:rPr lang="en-US" altLang="zh-TW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-learn(</a:t>
            </a:r>
            <a:r>
              <a:rPr lang="en-US" altLang="zh-TW" sz="20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SKlearn</a:t>
            </a:r>
            <a:r>
              <a:rPr lang="en-US" altLang="zh-TW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)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套件</a:t>
            </a:r>
            <a:r>
              <a:rPr lang="zh-CN" altLang="en-US" sz="2000" b="1" dirty="0">
                <a:effectLst/>
              </a:rPr>
              <a:t>：一種實用</a:t>
            </a:r>
            <a:r>
              <a:rPr lang="zh-TW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機器學習演算法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包含</a:t>
            </a:r>
            <a:r>
              <a:rPr lang="zh-CN" altLang="en-US" sz="2000" b="1" dirty="0">
                <a:effectLst/>
              </a:rPr>
              <a:t>：</a:t>
            </a:r>
            <a:r>
              <a:rPr lang="zh-TW" altLang="en-US" sz="2000" b="1" dirty="0">
                <a:effectLst/>
              </a:rPr>
              <a:t>分類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回歸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分群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降維</a:t>
            </a:r>
            <a:r>
              <a:rPr lang="en-US" altLang="zh-TW" sz="2000" b="1" dirty="0">
                <a:effectLst/>
              </a:rPr>
              <a:t>, </a:t>
            </a:r>
            <a:r>
              <a:rPr lang="zh-TW" altLang="en-US" sz="2000" b="1" dirty="0">
                <a:effectLst/>
              </a:rPr>
              <a:t>隨機森林</a:t>
            </a:r>
            <a:endParaRPr lang="en-US" altLang="zh-TW" sz="2000" b="1" dirty="0">
              <a:effectLst/>
            </a:endParaRPr>
          </a:p>
          <a:p>
            <a:pPr lvl="1"/>
            <a:r>
              <a:rPr lang="en-US" altLang="zh-TW" sz="2000" b="1" dirty="0" err="1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Keras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套件</a:t>
            </a:r>
            <a:r>
              <a:rPr lang="zh-CN" altLang="en-US" sz="2000" b="1" dirty="0">
                <a:effectLst/>
              </a:rPr>
              <a:t>：</a:t>
            </a:r>
            <a:r>
              <a:rPr lang="zh-CN" altLang="en-US" sz="20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深度學習</a:t>
            </a:r>
            <a:r>
              <a:rPr lang="zh-CN" altLang="en-US" sz="2000" b="1" dirty="0">
                <a:effectLst/>
              </a:rPr>
              <a:t>，自動學習，人工智慧</a:t>
            </a:r>
            <a:endParaRPr lang="en-US" altLang="zh-TW" sz="2000" b="1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完整的</a:t>
            </a:r>
            <a:r>
              <a:rPr lang="zh-CN" altLang="en-US" sz="4400" b="1" dirty="0">
                <a:solidFill>
                  <a:srgbClr val="C00000"/>
                </a:solidFill>
                <a:highlight>
                  <a:srgbClr val="FFFF00"/>
                </a:highlight>
                <a:latin typeface="標楷體" panose="03000509000000000000" pitchFamily="65" charset="-120"/>
                <a:ea typeface="標楷體" panose="03000509000000000000" pitchFamily="65" charset="-120"/>
              </a:rPr>
              <a:t>商業程式分析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包括二個部分</a:t>
            </a:r>
            <a:endParaRPr lang="zh-TW" altLang="zh-TW" sz="4400" b="1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436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A58D250-C1FB-4A5B-BD1C-2FCA52471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600200"/>
            <a:ext cx="4104457" cy="5105400"/>
          </a:xfrm>
        </p:spPr>
        <p:txBody>
          <a:bodyPr>
            <a:normAutofit/>
          </a:bodyPr>
          <a:lstStyle/>
          <a:p>
            <a:r>
              <a:rPr lang="zh-CN" altLang="en-US" sz="2000" b="1" dirty="0"/>
              <a:t>章節</a:t>
            </a:r>
            <a:endParaRPr lang="en-US" altLang="zh-CN" sz="2000" b="1" dirty="0"/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chp30.</a:t>
            </a:r>
            <a:r>
              <a:rPr lang="zh-TW" altLang="en-US" sz="1800" b="1" dirty="0">
                <a:solidFill>
                  <a:srgbClr val="7030A0"/>
                </a:solidFill>
              </a:rPr>
              <a:t>電商數據分析：淘寶服飾店</a:t>
            </a:r>
            <a:r>
              <a:rPr lang="en-US" altLang="zh-TW" sz="1800" b="1" dirty="0">
                <a:solidFill>
                  <a:srgbClr val="7030A0"/>
                </a:solidFill>
              </a:rPr>
              <a:t>3</a:t>
            </a:r>
            <a:r>
              <a:rPr lang="zh-TW" altLang="en-US" sz="1800" b="1" dirty="0">
                <a:solidFill>
                  <a:srgbClr val="7030A0"/>
                </a:solidFill>
              </a:rPr>
              <a:t>年數據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chp31.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市場分析：市場佔有率分析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chp32.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市場分析：市場趨勢分析</a:t>
            </a:r>
            <a:r>
              <a:rPr lang="en-US" altLang="zh-TW" sz="1800" b="1" dirty="0">
                <a:solidFill>
                  <a:srgbClr val="7030A0"/>
                </a:solidFill>
              </a:rPr>
              <a:t>(3</a:t>
            </a:r>
            <a:r>
              <a:rPr lang="zh-TW" altLang="en-US" sz="1800" b="1" dirty="0">
                <a:solidFill>
                  <a:srgbClr val="7030A0"/>
                </a:solidFill>
              </a:rPr>
              <a:t>年驅蟲劑數據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chp33.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市場分析：細分市場分析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chp34.</a:t>
            </a:r>
            <a:r>
              <a:rPr lang="zh-TW" altLang="en-US" sz="1800" b="1" dirty="0">
                <a:solidFill>
                  <a:srgbClr val="7030A0"/>
                </a:solidFill>
              </a:rPr>
              <a:t>市場分析：消費者需求分析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chp35.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運營分析：店鋪數據化運營的</a:t>
            </a:r>
            <a:r>
              <a:rPr lang="en-US" altLang="zh-TW" sz="1800" b="1" dirty="0">
                <a:solidFill>
                  <a:srgbClr val="7030A0"/>
                </a:solidFill>
              </a:rPr>
              <a:t>SEO</a:t>
            </a:r>
            <a:r>
              <a:rPr lang="zh-TW" altLang="en-US" sz="1800" b="1" dirty="0">
                <a:solidFill>
                  <a:srgbClr val="7030A0"/>
                </a:solidFill>
              </a:rPr>
              <a:t>關鍵字詞根與統計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chp36.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運營分析：商品推廣方案分析</a:t>
            </a:r>
          </a:p>
          <a:p>
            <a:r>
              <a:rPr lang="en-US" altLang="zh-TW" sz="1800" b="1" dirty="0">
                <a:solidFill>
                  <a:srgbClr val="7030A0"/>
                </a:solidFill>
              </a:rPr>
              <a:t>chp37.</a:t>
            </a:r>
            <a:r>
              <a:rPr lang="zh-TW" altLang="en-US" sz="1800" b="1" dirty="0">
                <a:solidFill>
                  <a:srgbClr val="7030A0"/>
                </a:solidFill>
              </a:rPr>
              <a:t>運營分析：競品分析</a:t>
            </a:r>
            <a:r>
              <a:rPr lang="en-US" altLang="zh-TW" sz="1800" b="1" dirty="0">
                <a:solidFill>
                  <a:srgbClr val="7030A0"/>
                </a:solidFill>
              </a:rPr>
              <a:t>(</a:t>
            </a:r>
            <a:r>
              <a:rPr lang="zh-TW" altLang="en-US" sz="1800" b="1" dirty="0">
                <a:solidFill>
                  <a:srgbClr val="7030A0"/>
                </a:solidFill>
              </a:rPr>
              <a:t>追踪競爭對手的</a:t>
            </a:r>
            <a:r>
              <a:rPr lang="en-US" altLang="zh-TW" sz="1800" b="1" dirty="0">
                <a:solidFill>
                  <a:srgbClr val="7030A0"/>
                </a:solidFill>
              </a:rPr>
              <a:t>SKU</a:t>
            </a:r>
            <a:r>
              <a:rPr lang="zh-TW" altLang="en-US" sz="1800" b="1" dirty="0">
                <a:solidFill>
                  <a:srgbClr val="7030A0"/>
                </a:solidFill>
              </a:rPr>
              <a:t>庫存價格</a:t>
            </a:r>
            <a:r>
              <a:rPr lang="en-US" altLang="zh-TW" sz="1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B0C77A1-4805-41EE-A19C-53B5F1AA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1" algn="ctr"/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進階課程，都是預測分析，演算法</a:t>
            </a:r>
            <a:endParaRPr lang="zh-TW" altLang="en-US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D5F54572-A457-431D-BF93-73F77773F7DA}"/>
              </a:ext>
            </a:extLst>
          </p:cNvPr>
          <p:cNvSpPr txBox="1">
            <a:spLocks/>
          </p:cNvSpPr>
          <p:nvPr/>
        </p:nvSpPr>
        <p:spPr>
          <a:xfrm>
            <a:off x="4283969" y="1417638"/>
            <a:ext cx="4536503" cy="5440362"/>
          </a:xfrm>
          <a:prstGeom prst="rect">
            <a:avLst/>
          </a:prstGeom>
        </p:spPr>
        <p:txBody>
          <a:bodyPr vert="horz" rtlCol="0">
            <a:normAutofit/>
          </a:bodyPr>
          <a:lstStyle>
            <a:lvl1pPr marL="342900" indent="-342900" algn="l" rtl="0" eaLnBrk="1" latinLnBrk="0" hangingPunct="1">
              <a:spcBef>
                <a:spcPct val="20000"/>
              </a:spcBef>
              <a:spcAft>
                <a:spcPts val="400"/>
              </a:spcAft>
              <a:buFont typeface="Arial"/>
              <a:buChar char="•"/>
              <a:defRPr lang="zh-TW" sz="2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1" latinLnBrk="0" hangingPunct="1">
              <a:spcBef>
                <a:spcPct val="20000"/>
              </a:spcBef>
              <a:buFont typeface="Arial"/>
              <a:buChar char="–"/>
              <a:defRPr lang="zh-TW" sz="24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1" latinLnBrk="0" hangingPunct="1">
              <a:spcBef>
                <a:spcPct val="20000"/>
              </a:spcBef>
              <a:buFont typeface="Arial"/>
              <a:buChar char="–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1" latinLnBrk="0" hangingPunct="1">
              <a:spcBef>
                <a:spcPct val="20000"/>
              </a:spcBef>
              <a:buFont typeface="Arial"/>
              <a:buChar char="»"/>
              <a:defRPr lang="zh-TW" sz="1800" kern="1200">
                <a:solidFill>
                  <a:schemeClr val="tx1"/>
                </a:solidFill>
                <a:effectLst>
                  <a:outerShdw blurRad="50800" dist="50800" dir="2700000" algn="tl" rotWithShape="0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/>
              <a:buChar char="•"/>
              <a:defRPr lang="zh-TW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000" b="1" dirty="0">
                <a:solidFill>
                  <a:srgbClr val="7030A0"/>
                </a:solidFill>
              </a:rPr>
              <a:t>chp38.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基於關聯規則的產品推薦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chp39.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基於聚類演算法的商品推薦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chp40.</a:t>
            </a:r>
            <a:r>
              <a:rPr lang="zh-TW" altLang="en-US" sz="2000" b="1" dirty="0">
                <a:solidFill>
                  <a:srgbClr val="7030A0"/>
                </a:solidFill>
              </a:rPr>
              <a:t>電商行銷：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基於協同過濾演算法的產品推薦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chp41.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基於業務邏輯的預測演算法模型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chp42.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基於時序演算法預測庫存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chp43.</a:t>
            </a:r>
            <a:r>
              <a:rPr lang="zh-TW" altLang="en-US" sz="2000" b="1" dirty="0">
                <a:solidFill>
                  <a:srgbClr val="7030A0"/>
                </a:solidFill>
              </a:rPr>
              <a:t>庫存預測：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電商的庫存預測演算法建模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chp44.</a:t>
            </a:r>
            <a:r>
              <a:rPr lang="zh-TW" altLang="en-US" sz="2000" b="1" dirty="0">
                <a:solidFill>
                  <a:srgbClr val="7030A0"/>
                </a:solidFill>
              </a:rPr>
              <a:t>銷售預測：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用戶成單預測</a:t>
            </a:r>
          </a:p>
          <a:p>
            <a:r>
              <a:rPr lang="en-US" altLang="zh-TW" sz="2000" b="1" dirty="0">
                <a:solidFill>
                  <a:srgbClr val="7030A0"/>
                </a:solidFill>
              </a:rPr>
              <a:t>chp45.</a:t>
            </a:r>
            <a:r>
              <a:rPr lang="zh-TW" altLang="en-US" sz="2000" b="1" dirty="0">
                <a:solidFill>
                  <a:srgbClr val="7030A0"/>
                </a:solidFill>
              </a:rPr>
              <a:t>用戶預測：</a:t>
            </a:r>
            <a:r>
              <a:rPr lang="zh-TW" altLang="en-US" sz="2000" b="1" dirty="0">
                <a:solidFill>
                  <a:srgbClr val="C00000"/>
                </a:solidFill>
                <a:highlight>
                  <a:srgbClr val="FFFF00"/>
                </a:highlight>
              </a:rPr>
              <a:t>用戶流失預測</a:t>
            </a:r>
            <a:endParaRPr lang="zh-CN" altLang="en-US" sz="2000" b="1" dirty="0">
              <a:solidFill>
                <a:srgbClr val="C00000"/>
              </a:solidFill>
              <a:highlight>
                <a:srgbClr val="FFFF00"/>
              </a:highlight>
            </a:endParaRPr>
          </a:p>
          <a:p>
            <a:pPr lvl="1"/>
            <a:endParaRPr lang="zh-CN" altLang="en-US" sz="2000" b="1" dirty="0"/>
          </a:p>
          <a:p>
            <a:pPr lvl="1"/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001295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199"/>
            <a:ext cx="9144000" cy="5105401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b="1" dirty="0">
                <a:effectLst/>
              </a:rPr>
              <a:t>範例：台大課程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2"/>
              </a:rPr>
              <a:t>https://tw.coursera.org/learn/pbc2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3"/>
              </a:rPr>
              <a:t>https://tw.coursera.org/learn/pbc2/home/week/4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CN" b="1" dirty="0">
                <a:effectLst/>
                <a:hlinkClick r:id="rId4"/>
              </a:rPr>
              <a:t>https://www.classcentral.com/course/pbc3-11205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TW" sz="1000" b="1" dirty="0">
                <a:effectLst/>
                <a:hlinkClick r:id="rId5"/>
              </a:rPr>
              <a:t>https://medium.com/%E5%B1%95%E9%96%8B%E6%95%B8%E6%93%9A%E4%BA%BA%E7%94%9F/python%E6%A9%9F%E5%99%A8%E5%AD%B8%E7%BF%92%E5%85%A5%E9%96%80-%E4%BA%8C-bbc8414d4632</a:t>
            </a:r>
            <a:endParaRPr lang="en-US" altLang="zh-TW" sz="1000" b="1" dirty="0">
              <a:effectLst/>
            </a:endParaRPr>
          </a:p>
          <a:p>
            <a:r>
              <a:rPr lang="zh-CN" altLang="en-US" b="1" dirty="0">
                <a:effectLst/>
              </a:rPr>
              <a:t>付費課程：</a:t>
            </a:r>
            <a:endParaRPr lang="en-US" altLang="zh-CN" b="1" dirty="0">
              <a:effectLst/>
            </a:endParaRPr>
          </a:p>
          <a:p>
            <a:pPr lvl="1"/>
            <a:r>
              <a:rPr lang="en-US" altLang="zh-TW" b="1" dirty="0">
                <a:effectLst/>
              </a:rPr>
              <a:t>Python</a:t>
            </a:r>
            <a:r>
              <a:rPr lang="zh-TW" altLang="en-US" b="1" dirty="0">
                <a:effectLst/>
              </a:rPr>
              <a:t>工業連續製程分析大師：參數指標、預測建模</a:t>
            </a:r>
          </a:p>
          <a:p>
            <a:pPr lvl="1"/>
            <a:r>
              <a:rPr lang="en-US" altLang="zh-TW" sz="2200" b="1" u="sng" dirty="0">
                <a:effectLst/>
                <a:hlinkClick r:id="rId6"/>
              </a:rPr>
              <a:t>https://college.itri.org.tw/Home/LessonData/0A72A944-1D56-49DB-8B18-00FF1568D1C0</a:t>
            </a:r>
            <a:endParaRPr lang="en-US" altLang="zh-TW" sz="2200" b="1" u="sng" dirty="0">
              <a:effectLst/>
            </a:endParaRPr>
          </a:p>
          <a:p>
            <a:pPr lvl="1"/>
            <a:r>
              <a:rPr lang="en-US" altLang="zh-TW" sz="2200" b="1" u="sng" dirty="0">
                <a:effectLst/>
                <a:hlinkClick r:id="rId7"/>
              </a:rPr>
              <a:t>https://college.itri.org.tw/Home/LessonData/7765E126-C587-49CB-8320-4026A3CF8117</a:t>
            </a:r>
            <a:endParaRPr lang="en-US" altLang="zh-TW" sz="2200" b="1" u="sng" dirty="0">
              <a:effectLst/>
            </a:endParaRPr>
          </a:p>
          <a:p>
            <a:r>
              <a:rPr lang="zh-CN" altLang="en-US" b="1" dirty="0">
                <a:effectLst/>
              </a:rPr>
              <a:t>中山課程，</a:t>
            </a:r>
            <a:r>
              <a:rPr lang="zh-TW" altLang="en-US" b="1" dirty="0">
                <a:effectLst/>
              </a:rPr>
              <a:t>預測性模型</a:t>
            </a:r>
          </a:p>
          <a:p>
            <a:pPr lvl="1"/>
            <a:r>
              <a:rPr lang="en-US" altLang="zh-TW" sz="2600" b="1" u="sng" dirty="0">
                <a:effectLst/>
                <a:hlinkClick r:id="rId8"/>
              </a:rPr>
              <a:t>https://bap2.cm.nsysu.edu.tw/?page_id=1694</a:t>
            </a:r>
            <a:endParaRPr lang="en-US" altLang="zh-TW" sz="2600" b="1" u="sng" dirty="0">
              <a:effectLst/>
            </a:endParaRPr>
          </a:p>
          <a:p>
            <a:pPr lvl="1"/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商業數據預測的相關課程</a:t>
            </a:r>
            <a: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付費</a:t>
            </a:r>
            <a: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69491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583812"/>
            <a:ext cx="8928992" cy="513556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sz="3200" b="1" dirty="0">
                <a:effectLst/>
              </a:rPr>
              <a:t>這</a:t>
            </a:r>
            <a:r>
              <a:rPr lang="en-US" altLang="zh-CN" sz="3200" b="1" dirty="0">
                <a:effectLst/>
              </a:rPr>
              <a:t>3</a:t>
            </a:r>
            <a:r>
              <a:rPr lang="zh-CN" altLang="en-US" sz="3200" b="1" dirty="0">
                <a:effectLst/>
              </a:rPr>
              <a:t>個名詞，最早來自</a:t>
            </a:r>
            <a:r>
              <a:rPr lang="en-US" altLang="zh-CN" sz="3200" b="1" dirty="0">
                <a:effectLst/>
              </a:rPr>
              <a:t>google</a:t>
            </a:r>
            <a:r>
              <a:rPr lang="zh-TW" altLang="zh-TW" sz="3200" b="1" dirty="0">
                <a:effectLst/>
              </a:rPr>
              <a:t>內部</a:t>
            </a:r>
            <a:r>
              <a:rPr lang="zh-CN" altLang="en-US" sz="3200" b="1" dirty="0">
                <a:effectLst/>
              </a:rPr>
              <a:t>的</a:t>
            </a:r>
            <a:r>
              <a:rPr lang="zh-TW" altLang="zh-TW" sz="3200" b="1" dirty="0">
                <a:effectLst/>
              </a:rPr>
              <a:t>三類技術</a:t>
            </a:r>
            <a:r>
              <a:rPr lang="zh-CN" altLang="en-US" sz="3200" b="1" dirty="0">
                <a:effectLst/>
              </a:rPr>
              <a:t>職缺</a:t>
            </a:r>
            <a:endParaRPr lang="en-US" altLang="zh-CN" sz="3200" b="1" dirty="0">
              <a:effectLst/>
            </a:endParaRPr>
          </a:p>
          <a:p>
            <a:r>
              <a:rPr lang="zh-CN" altLang="en-US" sz="3200" b="1" dirty="0">
                <a:effectLst/>
              </a:rPr>
              <a:t>（</a:t>
            </a:r>
            <a:r>
              <a:rPr lang="en-US" altLang="zh-CN" sz="3200" b="1" dirty="0">
                <a:effectLst/>
              </a:rPr>
              <a:t>1</a:t>
            </a:r>
            <a:r>
              <a:rPr lang="zh-CN" altLang="en-US" sz="3200" b="1" dirty="0">
                <a:effectLst/>
              </a:rPr>
              <a:t>）</a:t>
            </a:r>
            <a:r>
              <a:rPr lang="zh-CN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數據</a:t>
            </a:r>
            <a:r>
              <a:rPr lang="zh-TW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工程師</a:t>
            </a:r>
            <a:r>
              <a:rPr lang="en-US" altLang="zh-CN" sz="3200" b="1" dirty="0">
                <a:effectLst/>
              </a:rPr>
              <a:t>/</a:t>
            </a:r>
            <a:r>
              <a:rPr lang="en-US" altLang="zh-TW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Data Engineer</a:t>
            </a:r>
            <a:r>
              <a:rPr lang="zh-TW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 </a:t>
            </a:r>
            <a:endParaRPr lang="en-US" altLang="zh-TW" sz="3200" b="1" dirty="0">
              <a:solidFill>
                <a:srgbClr val="C00000"/>
              </a:solidFill>
              <a:effectLst/>
              <a:highlight>
                <a:srgbClr val="FFFF00"/>
              </a:highlight>
            </a:endParaRPr>
          </a:p>
          <a:p>
            <a:pPr lvl="1"/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前線的職位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CN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職缺多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需要經常寫</a:t>
            </a:r>
            <a:r>
              <a:rPr lang="en-US" altLang="zh-TW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Code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，開發軟件和系統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CN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0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主要用來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收集各式各樣的數據</a:t>
            </a:r>
            <a:endParaRPr lang="en-US" altLang="zh-TW" sz="20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數據分析師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負責協助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蒐集數據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，至於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分析就會交由</a:t>
            </a:r>
            <a:r>
              <a:rPr lang="en-US" altLang="zh-TW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Analyst</a:t>
            </a:r>
            <a:r>
              <a:rPr lang="zh-TW" altLang="en-US" sz="2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Data Scientist</a:t>
            </a:r>
            <a:r>
              <a:rPr lang="zh-TW" altLang="en-US" sz="2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負責</a:t>
            </a:r>
            <a:endParaRPr lang="en-US" altLang="zh-CN" sz="32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CN" altLang="en-US" sz="3200" b="1" dirty="0">
                <a:effectLst/>
              </a:rPr>
              <a:t>（</a:t>
            </a:r>
            <a:r>
              <a:rPr lang="en-US" altLang="zh-CN" sz="3200" b="1" dirty="0">
                <a:effectLst/>
              </a:rPr>
              <a:t>2</a:t>
            </a:r>
            <a:r>
              <a:rPr lang="zh-CN" altLang="en-US" sz="3200" b="1" dirty="0">
                <a:effectLst/>
              </a:rPr>
              <a:t>）</a:t>
            </a:r>
            <a:r>
              <a:rPr lang="zh-CN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商業分析師</a:t>
            </a:r>
            <a:r>
              <a:rPr lang="en-US" altLang="zh-CN" sz="3200" b="1" dirty="0">
                <a:effectLst/>
              </a:rPr>
              <a:t>/</a:t>
            </a:r>
            <a:r>
              <a:rPr lang="zh-CN" altLang="en-US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資料分析師</a:t>
            </a:r>
            <a:r>
              <a:rPr lang="en-US" altLang="zh-CN" sz="3200" b="1" dirty="0">
                <a:effectLst/>
              </a:rPr>
              <a:t>/</a:t>
            </a:r>
            <a:r>
              <a:rPr lang="en-US" altLang="zh-TW" sz="32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Data Analyst</a:t>
            </a:r>
          </a:p>
          <a:p>
            <a:pPr lvl="1"/>
            <a:r>
              <a:rPr lang="en-US" altLang="zh-TW" sz="2000" b="1" dirty="0">
                <a:effectLst/>
              </a:rPr>
              <a:t>Data Engineer</a:t>
            </a:r>
            <a:r>
              <a:rPr lang="zh-TW" altLang="zh-TW" sz="2000" b="1" dirty="0">
                <a:effectLst/>
              </a:rPr>
              <a:t>首先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跑資料（大多用</a:t>
            </a:r>
            <a:r>
              <a:rPr lang="en-US" altLang="zh-TW" sz="2000" b="1" dirty="0">
                <a:solidFill>
                  <a:srgbClr val="C00000"/>
                </a:solidFill>
                <a:effectLst/>
              </a:rPr>
              <a:t>SQL</a:t>
            </a:r>
            <a:r>
              <a:rPr lang="en-US" altLang="zh-CN" sz="2000" b="1" dirty="0">
                <a:solidFill>
                  <a:srgbClr val="C00000"/>
                </a:solidFill>
                <a:effectLst/>
              </a:rPr>
              <a:t>/python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）</a:t>
            </a:r>
            <a:r>
              <a:rPr lang="zh-TW" altLang="zh-TW" sz="2000" b="1" dirty="0">
                <a:effectLst/>
              </a:rPr>
              <a:t>。</a:t>
            </a:r>
            <a:endParaRPr lang="en-US" altLang="zh-TW" sz="2000" b="1" dirty="0">
              <a:effectLst/>
            </a:endParaRPr>
          </a:p>
          <a:p>
            <a:pPr lvl="1"/>
            <a:r>
              <a:rPr lang="zh-TW" altLang="zh-TW" sz="2000" b="1" dirty="0">
                <a:effectLst/>
              </a:rPr>
              <a:t>隨後</a:t>
            </a:r>
            <a:r>
              <a:rPr lang="en-US" altLang="zh-TW" sz="2000" b="1" dirty="0">
                <a:effectLst/>
              </a:rPr>
              <a:t>Data Analyst</a:t>
            </a:r>
            <a:r>
              <a:rPr lang="zh-TW" altLang="zh-TW" sz="2000" b="1" dirty="0">
                <a:effectLst/>
              </a:rPr>
              <a:t>會把這些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提取出的資料轉化為“生產力</a:t>
            </a:r>
            <a:r>
              <a:rPr lang="zh-TW" altLang="zh-TW" sz="2000" b="1" dirty="0">
                <a:effectLst/>
              </a:rPr>
              <a:t>“，能夠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指導商業或者產品的建議</a:t>
            </a:r>
            <a:r>
              <a:rPr lang="zh-TW" altLang="zh-TW" sz="2000" b="1" dirty="0">
                <a:effectLst/>
              </a:rPr>
              <a:t>。</a:t>
            </a:r>
            <a:endParaRPr lang="en-US" altLang="zh-TW" sz="2000" b="1" dirty="0">
              <a:effectLst/>
            </a:endParaRPr>
          </a:p>
          <a:p>
            <a:pPr lvl="1"/>
            <a:r>
              <a:rPr lang="zh-CN" altLang="en-US" sz="2000" b="1" dirty="0">
                <a:effectLst/>
              </a:rPr>
              <a:t>範例</a:t>
            </a:r>
            <a:r>
              <a:rPr lang="zh-TW" altLang="zh-TW" sz="2000" b="1" dirty="0">
                <a:effectLst/>
              </a:rPr>
              <a:t>：產品經理上線一款產品，產品運行的怎麼樣？有多少人訪問？有多少人購買？購買人數始終上不去是什麼原因？</a:t>
            </a:r>
            <a:endParaRPr lang="en-US" altLang="zh-TW" sz="2000" b="1" dirty="0">
              <a:effectLst/>
            </a:endParaRPr>
          </a:p>
          <a:p>
            <a:pPr lvl="1"/>
            <a:r>
              <a:rPr lang="zh-TW" altLang="zh-TW" sz="2000" b="1" dirty="0">
                <a:effectLst/>
              </a:rPr>
              <a:t>如何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發掘購買人數降低的原理</a:t>
            </a:r>
            <a:r>
              <a:rPr lang="zh-TW" altLang="zh-TW" sz="2000" b="1" dirty="0">
                <a:effectLst/>
              </a:rPr>
              <a:t>然後</a:t>
            </a:r>
            <a:r>
              <a:rPr lang="zh-TW" altLang="zh-TW" sz="2000" b="1" dirty="0">
                <a:solidFill>
                  <a:srgbClr val="C00000"/>
                </a:solidFill>
                <a:effectLst/>
              </a:rPr>
              <a:t>針對這些原因進行有目的的處理</a:t>
            </a:r>
            <a:r>
              <a:rPr lang="zh-TW" altLang="zh-TW" sz="2000" b="1" dirty="0">
                <a:effectLst/>
              </a:rPr>
              <a:t>？這些都是通過分析產品產生的資料得到的</a:t>
            </a:r>
            <a:endParaRPr lang="en-US" altLang="zh-TW" sz="3200" b="1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zh-TW" altLang="en-US" sz="32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63" y="152400"/>
            <a:ext cx="8278837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對應的工作職缺</a:t>
            </a:r>
            <a:br>
              <a:rPr lang="en-US" altLang="zh-CN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Data Engineer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Analyst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Scientist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4798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48056"/>
            <a:ext cx="8229600" cy="4796654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sz="3500" b="1" dirty="0">
                <a:effectLst/>
              </a:rPr>
              <a:t>（</a:t>
            </a:r>
            <a:r>
              <a:rPr lang="en-US" altLang="zh-CN" sz="3500" b="1" dirty="0">
                <a:effectLst/>
              </a:rPr>
              <a:t>3</a:t>
            </a:r>
            <a:r>
              <a:rPr lang="zh-CN" altLang="en-US" sz="3500" b="1" dirty="0">
                <a:effectLst/>
              </a:rPr>
              <a:t>）</a:t>
            </a:r>
            <a:r>
              <a:rPr lang="zh-TW" altLang="en-US" sz="35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資料科學家</a:t>
            </a:r>
            <a:r>
              <a:rPr lang="en-US" altLang="zh-CN" sz="3500" b="1" dirty="0">
                <a:effectLst/>
              </a:rPr>
              <a:t>/</a:t>
            </a:r>
            <a:r>
              <a:rPr lang="en-US" altLang="zh-TW" sz="35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Data Scientist</a:t>
            </a:r>
          </a:p>
          <a:p>
            <a:pPr lvl="1"/>
            <a:r>
              <a:rPr lang="zh-CN" altLang="en-US" sz="3000" b="1" dirty="0">
                <a:effectLst/>
              </a:rPr>
              <a:t>要有程式能力，</a:t>
            </a:r>
            <a:r>
              <a:rPr lang="zh-CN" altLang="en-US" sz="3000" b="1" dirty="0">
                <a:solidFill>
                  <a:srgbClr val="C00000"/>
                </a:solidFill>
                <a:effectLst/>
              </a:rPr>
              <a:t>建模型能力</a:t>
            </a:r>
            <a:endParaRPr lang="en-US" altLang="zh-CN" sz="30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zh-TW" altLang="en-US" sz="3000" b="1" dirty="0">
                <a:effectLst/>
              </a:rPr>
              <a:t>一般需要掌握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機器學習</a:t>
            </a:r>
            <a:r>
              <a:rPr lang="zh-TW" altLang="en-US" sz="3000" b="1" dirty="0">
                <a:effectLst/>
              </a:rPr>
              <a:t>和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人工</a:t>
            </a:r>
            <a:r>
              <a:rPr lang="zh-CN" altLang="en-US" sz="3000" b="1" dirty="0">
                <a:solidFill>
                  <a:srgbClr val="C00000"/>
                </a:solidFill>
                <a:effectLst/>
              </a:rPr>
              <a:t>智慧</a:t>
            </a:r>
            <a:r>
              <a:rPr lang="zh-TW" altLang="en-US" sz="3000" b="1" dirty="0">
                <a:effectLst/>
              </a:rPr>
              <a:t>的技術，而且要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統計學很好</a:t>
            </a:r>
            <a:r>
              <a:rPr lang="zh-TW" altLang="en-US" sz="3000" b="1" dirty="0">
                <a:effectLst/>
              </a:rPr>
              <a:t>，能夠</a:t>
            </a:r>
            <a:r>
              <a:rPr lang="zh-TW" altLang="en-US" sz="3000" b="1" dirty="0">
                <a:solidFill>
                  <a:srgbClr val="C00000"/>
                </a:solidFill>
                <a:effectLst/>
              </a:rPr>
              <a:t>建立數據分析模型</a:t>
            </a:r>
            <a:r>
              <a:rPr lang="zh-TW" altLang="en-US" sz="3000" b="1" dirty="0">
                <a:effectLst/>
              </a:rPr>
              <a:t>，根據演算法開發程式，利用程式分析數據和</a:t>
            </a:r>
            <a:r>
              <a:rPr lang="zh-TW" altLang="en-US" sz="43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作出</a:t>
            </a:r>
            <a:r>
              <a:rPr lang="zh-CN" altLang="en-US" sz="4300" b="1" dirty="0">
                <a:solidFill>
                  <a:srgbClr val="C00000"/>
                </a:solidFill>
                <a:effectLst/>
                <a:highlight>
                  <a:srgbClr val="FFFF00"/>
                </a:highlight>
              </a:rPr>
              <a:t>預測</a:t>
            </a:r>
            <a:endParaRPr lang="en-US" altLang="zh-TW" sz="3500" b="1" u="sng" dirty="0">
              <a:effectLst/>
            </a:endParaRPr>
          </a:p>
          <a:p>
            <a:endParaRPr lang="en-US" altLang="zh-CN" sz="3600" b="1" dirty="0">
              <a:effectLst/>
            </a:endParaRPr>
          </a:p>
          <a:p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>
                <a:effectLst/>
              </a:rPr>
              <a:t>4</a:t>
            </a:r>
            <a:r>
              <a:rPr lang="zh-CN" altLang="en-US" sz="3600" b="1" dirty="0">
                <a:effectLst/>
              </a:rPr>
              <a:t>）範例：找職缺工作：</a:t>
            </a:r>
            <a:endParaRPr lang="en-US" altLang="zh-CN" sz="3600" b="1" dirty="0">
              <a:effectLst/>
            </a:endParaRPr>
          </a:p>
          <a:p>
            <a:r>
              <a:rPr lang="en-US" altLang="zh-TW" sz="1400" b="1" dirty="0">
                <a:effectLst/>
              </a:rPr>
              <a:t>https://www.google.com/search?q=data+analyst+data+scientist+data+engineer&amp;oq=&amp;aqs=chrome.2.35i39i362l8.3253038400j0j15&amp;sourceid=chrome&amp;ie=UTF-8&amp;ibp=htl;jobs&amp;sa=X&amp;ved=2ahUKEwif2q_wtJb9AhWHBN4KHaVXBNYQudcGKAF6BAgJECc&amp;sxsrf=AJOqlzV4KK48QHT7kE2Es-z5LE0DjAzy1g:1676425829288#htivrt=jobs&amp;htidocid=cGCSKl7iCZoAAAAAAAAAAA%3D%3D&amp;fpstate=tldetail</a:t>
            </a: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對應的工作職缺</a:t>
            </a:r>
            <a:br>
              <a:rPr lang="en-US" altLang="zh-CN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Data Engineer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Analyst</a:t>
            </a:r>
            <a:r>
              <a:rPr lang="zh-CN" altLang="en-US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2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 Data Scientist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69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86A1DD0C-FB1D-4160-B13A-4049011A491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457200" y="1600200"/>
          <a:ext cx="8229600" cy="4401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42295958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67839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530145649"/>
                    </a:ext>
                  </a:extLst>
                </a:gridCol>
              </a:tblGrid>
              <a:tr h="783406"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下學期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8245850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大一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網頁設計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程式設計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python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244086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大二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SQL</a:t>
                      </a:r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</a:t>
                      </a:r>
                      <a:endParaRPr lang="en-US" altLang="zh-CN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algn="ctr"/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Power BI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商用多媒體設計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735222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大三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網站流量分析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大數據分析</a:t>
                      </a:r>
                      <a:r>
                        <a:rPr lang="en-US" altLang="zh-CN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pandas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981333"/>
                  </a:ext>
                </a:extLst>
              </a:tr>
              <a:tr h="78340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大四</a:t>
                      </a:r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777328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F663B3D-B6A5-452C-BFEA-830EA3A5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>
                <a:latin typeface="標楷體" panose="03000509000000000000" pitchFamily="65" charset="-120"/>
                <a:ea typeface="標楷體" panose="03000509000000000000" pitchFamily="65" charset="-120"/>
              </a:rPr>
              <a:t>系上所規劃的資訊相關課程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1724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32" y="1747338"/>
            <a:ext cx="7893768" cy="511066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）</a:t>
            </a:r>
            <a:r>
              <a:rPr lang="en-US" altLang="zh-TW" sz="3600" b="1" dirty="0">
                <a:effectLst/>
              </a:rPr>
              <a:t>Data Analyst</a:t>
            </a: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現在演化的工作職缺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60d29cc33f302efdc61d0567_dYMsQqM.png (800×494)">
            <a:extLst>
              <a:ext uri="{FF2B5EF4-FFF2-40B4-BE49-F238E27FC236}">
                <a16:creationId xmlns:a16="http://schemas.microsoft.com/office/drawing/2014/main" id="{965CB9F7-1BB3-4AE2-A232-673E0708D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260" y="1417638"/>
            <a:ext cx="9252520" cy="5713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530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2E1BC5A2-5075-4E91-9595-FBDFDBEE9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32" y="1747338"/>
            <a:ext cx="7893768" cy="5110662"/>
          </a:xfrm>
        </p:spPr>
        <p:txBody>
          <a:bodyPr>
            <a:normAutofit/>
          </a:bodyPr>
          <a:lstStyle/>
          <a:p>
            <a:r>
              <a:rPr lang="zh-CN" altLang="en-US" sz="3600" b="1" dirty="0">
                <a:effectLst/>
              </a:rPr>
              <a:t>（</a:t>
            </a:r>
            <a:r>
              <a:rPr lang="en-US" altLang="zh-CN" sz="3600" b="1" dirty="0">
                <a:effectLst/>
              </a:rPr>
              <a:t>1</a:t>
            </a:r>
            <a:r>
              <a:rPr lang="zh-CN" altLang="en-US" sz="3600" b="1" dirty="0">
                <a:effectLst/>
              </a:rPr>
              <a:t>）</a:t>
            </a:r>
            <a:r>
              <a:rPr lang="en-US" altLang="zh-TW" sz="3600" b="1" dirty="0">
                <a:effectLst/>
              </a:rPr>
              <a:t>Data Analyst</a:t>
            </a: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2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en-US" altLang="zh-TW" sz="3600" b="1" u="sng" dirty="0">
              <a:effectLst/>
            </a:endParaRPr>
          </a:p>
          <a:p>
            <a:endParaRPr lang="zh-TW" altLang="en-US" sz="3600" b="1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4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現在演化的工作職缺</a:t>
            </a:r>
            <a:endParaRPr lang="zh-TW" altLang="zh-TW" sz="4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6B109F8-5D7C-47E1-AA20-8AFAF7AC1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FEA2B6F-0BC6-404C-9312-68447FA97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8479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F3A3D43-EF6B-4F95-AA24-C04D95C90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2006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99670F97-1435-495F-8B62-ECA3FAA2E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4580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TW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endParaRPr kumimoji="0" lang="en-US" altLang="zh-TW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i0.wp.com/tw.alphacamp.co/wp-content/uploads/2022/12/60d29cc33f302e13e91d0568_oXXKHos.png?w=800&amp;ssl=1">
            <a:extLst>
              <a:ext uri="{FF2B5EF4-FFF2-40B4-BE49-F238E27FC236}">
                <a16:creationId xmlns:a16="http://schemas.microsoft.com/office/drawing/2014/main" id="{B04980C1-021B-4A0B-8C19-0C2A6D4E0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07" y="1439876"/>
            <a:ext cx="9341593" cy="5418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2617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1628800"/>
            <a:ext cx="7016824" cy="3456384"/>
          </a:xfrm>
        </p:spPr>
        <p:txBody>
          <a:bodyPr vert="horz" rtlCol="0">
            <a:normAutofit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比較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SQL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CN" sz="5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buNone/>
            </a:pP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CN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BI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593992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1. Excel</a:t>
            </a:r>
            <a:r>
              <a:rPr lang="zh-CN" altLang="en-US" sz="3200" b="1" dirty="0"/>
              <a:t>，</a:t>
            </a:r>
            <a:r>
              <a:rPr lang="en-US" altLang="zh-CN" sz="3200" b="1" dirty="0"/>
              <a:t>BI</a:t>
            </a:r>
            <a:r>
              <a:rPr lang="zh-CN" altLang="en-US" sz="3200" b="1" dirty="0"/>
              <a:t>可以做的，</a:t>
            </a:r>
            <a:r>
              <a:rPr lang="en-US" altLang="zh-CN" sz="3200" b="1" dirty="0"/>
              <a:t>python</a:t>
            </a:r>
            <a:r>
              <a:rPr lang="zh-CN" altLang="en-US" sz="3200" b="1" dirty="0"/>
              <a:t>都可以做。</a:t>
            </a:r>
            <a:endParaRPr lang="en-US" altLang="zh-CN" sz="3200" b="1" dirty="0"/>
          </a:p>
          <a:p>
            <a:pPr lvl="1"/>
            <a:r>
              <a:rPr lang="en-US" altLang="zh-CN" sz="2800" b="1" dirty="0"/>
              <a:t> SQL</a:t>
            </a:r>
            <a:r>
              <a:rPr lang="zh-CN" altLang="en-US" sz="2800" b="1" dirty="0"/>
              <a:t>可以做的，</a:t>
            </a:r>
            <a:r>
              <a:rPr lang="en-US" altLang="zh-CN" sz="2800" b="1" dirty="0"/>
              <a:t>python</a:t>
            </a:r>
            <a:r>
              <a:rPr lang="zh-CN" altLang="en-US" sz="2800" b="1" dirty="0"/>
              <a:t>都可以做。</a:t>
            </a:r>
          </a:p>
          <a:p>
            <a:pPr lvl="1"/>
            <a:r>
              <a:rPr lang="en-US" altLang="zh-CN" sz="2800" b="1" dirty="0"/>
              <a:t> </a:t>
            </a:r>
            <a:r>
              <a:rPr lang="en-US" altLang="zh-CN" sz="2800" b="1" dirty="0" err="1">
                <a:solidFill>
                  <a:srgbClr val="C00000"/>
                </a:solidFill>
              </a:rPr>
              <a:t>pythn</a:t>
            </a:r>
            <a:r>
              <a:rPr lang="zh-CN" altLang="en-US" sz="2800" b="1" dirty="0">
                <a:solidFill>
                  <a:srgbClr val="C00000"/>
                </a:solidFill>
              </a:rPr>
              <a:t>可以做的，</a:t>
            </a:r>
            <a:r>
              <a:rPr lang="en-US" altLang="zh-CN" sz="2800" b="1" dirty="0">
                <a:solidFill>
                  <a:srgbClr val="C00000"/>
                </a:solidFill>
              </a:rPr>
              <a:t>Excel</a:t>
            </a:r>
            <a:r>
              <a:rPr lang="zh-CN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CN" sz="2800" b="1" dirty="0">
                <a:solidFill>
                  <a:srgbClr val="C00000"/>
                </a:solidFill>
              </a:rPr>
              <a:t>BI</a:t>
            </a:r>
            <a:r>
              <a:rPr lang="zh-CN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CN" sz="2800" b="1" dirty="0" err="1">
                <a:solidFill>
                  <a:srgbClr val="C00000"/>
                </a:solidFill>
              </a:rPr>
              <a:t>SQl</a:t>
            </a:r>
            <a:r>
              <a:rPr lang="zh-CN" altLang="en-US" sz="2800" b="1" dirty="0">
                <a:solidFill>
                  <a:srgbClr val="C00000"/>
                </a:solidFill>
              </a:rPr>
              <a:t>不一定可做到</a:t>
            </a:r>
            <a:endParaRPr lang="en-US" altLang="zh-CN" sz="2800" b="1" dirty="0">
              <a:solidFill>
                <a:srgbClr val="C00000"/>
              </a:solidFill>
            </a:endParaRPr>
          </a:p>
          <a:p>
            <a:pPr lvl="1"/>
            <a:endParaRPr lang="en-US" altLang="zh-CN" sz="2800" b="1" dirty="0">
              <a:solidFill>
                <a:srgbClr val="C00000"/>
              </a:solidFill>
            </a:endParaRPr>
          </a:p>
          <a:p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2.python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讀取的資料，沒有太多的限制，有極高的自由度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solidFill>
                  <a:srgbClr val="C00000"/>
                </a:solidFill>
              </a:rPr>
              <a:t>網頁，</a:t>
            </a:r>
            <a:r>
              <a:rPr lang="en-US" altLang="zh-TW" sz="2800" b="1" dirty="0">
                <a:solidFill>
                  <a:srgbClr val="C00000"/>
                </a:solidFill>
              </a:rPr>
              <a:t>json</a:t>
            </a:r>
            <a:r>
              <a:rPr lang="zh-TW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TW" sz="2800" b="1" dirty="0">
                <a:solidFill>
                  <a:srgbClr val="C00000"/>
                </a:solidFill>
              </a:rPr>
              <a:t>xml, txt</a:t>
            </a:r>
            <a:r>
              <a:rPr lang="zh-TW" altLang="en-US" sz="2800" b="1" dirty="0">
                <a:solidFill>
                  <a:srgbClr val="C00000"/>
                </a:solidFill>
              </a:rPr>
              <a:t>， </a:t>
            </a:r>
            <a:r>
              <a:rPr lang="en-US" altLang="zh-TW" sz="2800" b="1" dirty="0">
                <a:solidFill>
                  <a:srgbClr val="C00000"/>
                </a:solidFill>
              </a:rPr>
              <a:t>csv, excel</a:t>
            </a:r>
            <a:r>
              <a:rPr lang="zh-TW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TW" sz="2800" b="1" dirty="0" err="1">
                <a:solidFill>
                  <a:srgbClr val="C00000"/>
                </a:solidFill>
              </a:rPr>
              <a:t>mySQL</a:t>
            </a:r>
            <a:r>
              <a:rPr lang="zh-TW" altLang="en-US" sz="2800" b="1" dirty="0">
                <a:solidFill>
                  <a:srgbClr val="C00000"/>
                </a:solidFill>
              </a:rPr>
              <a:t>，</a:t>
            </a:r>
            <a:r>
              <a:rPr lang="en-US" altLang="zh-TW" sz="2800" b="1" dirty="0" err="1">
                <a:solidFill>
                  <a:srgbClr val="C00000"/>
                </a:solidFill>
              </a:rPr>
              <a:t>noSQL</a:t>
            </a:r>
            <a:r>
              <a:rPr lang="zh-TW" altLang="en-US" sz="2800" b="1" dirty="0">
                <a:solidFill>
                  <a:srgbClr val="C00000"/>
                </a:solidFill>
              </a:rPr>
              <a:t>，字典</a:t>
            </a:r>
            <a:r>
              <a:rPr lang="en-US" altLang="zh-TW" sz="2800" b="1" dirty="0" err="1">
                <a:solidFill>
                  <a:srgbClr val="C00000"/>
                </a:solidFill>
              </a:rPr>
              <a:t>dict</a:t>
            </a:r>
            <a:r>
              <a:rPr lang="zh-TW" altLang="en-US" sz="2800" b="1" dirty="0">
                <a:solidFill>
                  <a:srgbClr val="C00000"/>
                </a:solidFill>
              </a:rPr>
              <a:t>，串列</a:t>
            </a:r>
            <a:r>
              <a:rPr lang="en-US" altLang="zh-TW" sz="2800" b="1" dirty="0">
                <a:solidFill>
                  <a:srgbClr val="C00000"/>
                </a:solidFill>
              </a:rPr>
              <a:t>list</a:t>
            </a:r>
          </a:p>
          <a:p>
            <a:pPr lvl="1"/>
            <a:r>
              <a:rPr lang="zh-TW" altLang="en-US" sz="2800" b="1" dirty="0">
                <a:solidFill>
                  <a:srgbClr val="C00000"/>
                </a:solidFill>
              </a:rPr>
              <a:t>可以輕鬆採集各種</a:t>
            </a:r>
            <a:r>
              <a:rPr lang="zh-CN" altLang="en-US" sz="2800" b="1" dirty="0">
                <a:solidFill>
                  <a:srgbClr val="C00000"/>
                </a:solidFill>
              </a:rPr>
              <a:t>大數據</a:t>
            </a:r>
            <a:r>
              <a:rPr lang="zh-TW" altLang="en-US" sz="2800" b="1" dirty="0">
                <a:solidFill>
                  <a:srgbClr val="C00000"/>
                </a:solidFill>
              </a:rPr>
              <a:t>資料。</a:t>
            </a:r>
            <a:endParaRPr lang="en-US" altLang="zh-CN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8445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3. </a:t>
            </a:r>
            <a:r>
              <a:rPr lang="en-US" altLang="zh-TW" sz="3200" b="1" dirty="0">
                <a:solidFill>
                  <a:srgbClr val="C00000"/>
                </a:solidFill>
              </a:rPr>
              <a:t>python</a:t>
            </a:r>
            <a:r>
              <a:rPr lang="zh-TW" altLang="en-US" sz="3200" b="1" dirty="0"/>
              <a:t>相對於傳統的程式語言（</a:t>
            </a:r>
            <a:r>
              <a:rPr lang="en-US" altLang="zh-TW" sz="3200" b="1" dirty="0" err="1"/>
              <a:t>c,java,vb</a:t>
            </a:r>
            <a:r>
              <a:rPr lang="zh-TW" altLang="en-US" sz="3200" b="1" dirty="0"/>
              <a:t>），程式碼的量已經明顯下降，</a:t>
            </a:r>
            <a:endParaRPr lang="en-US" altLang="zh-TW" sz="3200" b="1" dirty="0"/>
          </a:p>
          <a:p>
            <a:pPr lvl="1"/>
            <a:r>
              <a:rPr lang="zh-TW" altLang="en-US" sz="2800" b="1" dirty="0"/>
              <a:t>所以可以縮短開發週期，</a:t>
            </a:r>
            <a:endParaRPr lang="en-US" altLang="zh-TW" sz="2800" b="1" dirty="0"/>
          </a:p>
          <a:p>
            <a:pPr lvl="1"/>
            <a:r>
              <a:rPr lang="zh-TW" altLang="en-US" sz="2800" b="1" dirty="0"/>
              <a:t>變得更簡單容易，減輕負擔。</a:t>
            </a:r>
            <a:endParaRPr lang="en-US" altLang="zh-TW" sz="2800" b="1" dirty="0"/>
          </a:p>
          <a:p>
            <a:pPr lvl="1"/>
            <a:endParaRPr lang="en-US" altLang="zh-TW" sz="2800" b="1" dirty="0"/>
          </a:p>
          <a:p>
            <a:r>
              <a:rPr lang="en-US" altLang="zh-CN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pandas</a:t>
            </a:r>
            <a:r>
              <a:rPr lang="zh-TW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模組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，能夠更精簡地縮短程式碼，</a:t>
            </a:r>
            <a:endParaRPr lang="en-US" altLang="zh-TW" sz="3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en-US" altLang="zh-CN" b="1" dirty="0">
                <a:solidFill>
                  <a:srgbClr val="C00000"/>
                </a:solidFill>
              </a:rPr>
              <a:t>Pandas</a:t>
            </a:r>
            <a:r>
              <a:rPr lang="zh-CN" altLang="en-US" b="1" dirty="0">
                <a:solidFill>
                  <a:srgbClr val="C00000"/>
                </a:solidFill>
              </a:rPr>
              <a:t>更把</a:t>
            </a:r>
            <a:r>
              <a:rPr lang="en-US" altLang="zh-CN" b="1" dirty="0" err="1">
                <a:solidFill>
                  <a:srgbClr val="C00000"/>
                </a:solidFill>
              </a:rPr>
              <a:t>pyhton</a:t>
            </a:r>
            <a:r>
              <a:rPr lang="zh-CN" altLang="en-US" b="1" dirty="0">
                <a:solidFill>
                  <a:srgbClr val="C00000"/>
                </a:solidFill>
              </a:rPr>
              <a:t>更進一步精簡，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～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行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r>
              <a:rPr lang="zh-CN" altLang="en-US" b="1" dirty="0">
                <a:solidFill>
                  <a:srgbClr val="C00000"/>
                </a:solidFill>
              </a:rPr>
              <a:t>就好像</a:t>
            </a:r>
            <a:r>
              <a:rPr lang="en-US" altLang="zh-CN" b="1" dirty="0">
                <a:solidFill>
                  <a:srgbClr val="C00000"/>
                </a:solidFill>
              </a:rPr>
              <a:t>SQL</a:t>
            </a:r>
            <a:r>
              <a:rPr lang="zh-CN" altLang="en-US" b="1" dirty="0">
                <a:solidFill>
                  <a:srgbClr val="C00000"/>
                </a:solidFill>
              </a:rPr>
              <a:t>語法，也是</a:t>
            </a:r>
            <a:r>
              <a:rPr lang="en-US" altLang="zh-CN" b="1" dirty="0">
                <a:solidFill>
                  <a:srgbClr val="C00000"/>
                </a:solidFill>
              </a:rPr>
              <a:t>1</a:t>
            </a:r>
            <a:r>
              <a:rPr lang="zh-CN" altLang="en-US" b="1" dirty="0">
                <a:solidFill>
                  <a:srgbClr val="C00000"/>
                </a:solidFill>
              </a:rPr>
              <a:t>～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行</a:t>
            </a:r>
            <a:endParaRPr lang="en-US" altLang="zh-CN" b="1" dirty="0">
              <a:solidFill>
                <a:srgbClr val="C00000"/>
              </a:solidFill>
            </a:endParaRPr>
          </a:p>
          <a:p>
            <a:pPr lvl="1"/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439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5. </a:t>
            </a:r>
            <a:r>
              <a:rPr lang="zh-TW" altLang="en-US" sz="3200" b="1" dirty="0"/>
              <a:t>相對於</a:t>
            </a:r>
            <a:r>
              <a:rPr lang="en-US" altLang="zh-TW" sz="3200" b="1" dirty="0"/>
              <a:t>excel</a:t>
            </a:r>
            <a:r>
              <a:rPr lang="en-US" altLang="zh-CN" sz="3200" b="1" dirty="0"/>
              <a:t>/</a:t>
            </a:r>
            <a:r>
              <a:rPr lang="en-US" altLang="zh-TW" sz="3200" b="1" dirty="0"/>
              <a:t>BI</a:t>
            </a:r>
            <a:r>
              <a:rPr lang="en-US" altLang="zh-CN" sz="3200" b="1" dirty="0"/>
              <a:t>/SQL</a:t>
            </a:r>
            <a:r>
              <a:rPr lang="zh-TW" altLang="en-US" sz="3200" b="1" dirty="0"/>
              <a:t>，</a:t>
            </a:r>
            <a:r>
              <a:rPr lang="en-US" altLang="zh-TW" sz="3200" b="1" dirty="0"/>
              <a:t>python</a:t>
            </a:r>
            <a:r>
              <a:rPr lang="zh-CN" altLang="en-US" sz="3200" b="1" dirty="0"/>
              <a:t>更</a:t>
            </a:r>
            <a:r>
              <a:rPr lang="zh-TW" altLang="en-US" sz="3200" b="1" dirty="0"/>
              <a:t>能夠提供</a:t>
            </a:r>
            <a:r>
              <a:rPr lang="zh-TW" altLang="en-US" sz="3200" b="1" dirty="0">
                <a:solidFill>
                  <a:srgbClr val="C00000"/>
                </a:solidFill>
              </a:rPr>
              <a:t>一體化的分析</a:t>
            </a:r>
            <a:r>
              <a:rPr lang="zh-TW" altLang="en-US" sz="3200" b="1" dirty="0"/>
              <a:t>。</a:t>
            </a:r>
          </a:p>
          <a:p>
            <a:pPr lvl="1"/>
            <a:r>
              <a:rPr lang="zh-CN" altLang="en-US" sz="2800" b="1" dirty="0"/>
              <a:t>數據分析的步驟</a:t>
            </a:r>
            <a:r>
              <a:rPr lang="zh-TW" altLang="en-US" sz="2800" b="1" dirty="0"/>
              <a:t>：</a:t>
            </a:r>
            <a:r>
              <a:rPr lang="zh-TW" altLang="en-US" sz="2800" b="1" dirty="0">
                <a:solidFill>
                  <a:srgbClr val="7030A0"/>
                </a:solidFill>
              </a:rPr>
              <a:t>數據採集，數據清洗，數據分析，數據挖掘，數據可視化</a:t>
            </a:r>
            <a:r>
              <a:rPr lang="zh-TW" altLang="en-US" sz="2800" b="1" dirty="0"/>
              <a:t>。</a:t>
            </a:r>
          </a:p>
          <a:p>
            <a:pPr lvl="1"/>
            <a:endParaRPr lang="en-US" altLang="zh-TW" sz="2800" b="1" dirty="0"/>
          </a:p>
          <a:p>
            <a:r>
              <a:rPr lang="en-US" altLang="zh-CN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r>
              <a:rPr lang="en-US" altLang="zh-TW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en-US" sz="3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提供各種齊全的</a:t>
            </a:r>
            <a:r>
              <a:rPr lang="zh-TW" altLang="en-US" sz="32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數學演算法</a:t>
            </a:r>
            <a:endParaRPr lang="en-US" altLang="zh-TW" sz="32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從</a:t>
            </a:r>
            <a:r>
              <a:rPr lang="zh-TW" altLang="en-US" sz="2800" b="1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一般數學，到微積分，工程數學，矩陣，人工智慧，統計函數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CN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可以做</a:t>
            </a:r>
            <a:r>
              <a:rPr lang="zh-CN" altLang="en-US" sz="2800" b="1" dirty="0">
                <a:solidFill>
                  <a:srgbClr val="C00000"/>
                </a:solidFill>
                <a:highlight>
                  <a:srgbClr val="FFFF00"/>
                </a:highlight>
                <a:latin typeface="微軟正黑體" panose="020B0604030504040204" pitchFamily="34" charset="-120"/>
                <a:ea typeface="微軟正黑體" panose="020B0604030504040204" pitchFamily="34" charset="-120"/>
              </a:rPr>
              <a:t>預測分析</a:t>
            </a:r>
            <a:endParaRPr lang="en-US" altLang="zh-CN" sz="2800" b="1" dirty="0">
              <a:solidFill>
                <a:srgbClr val="C00000"/>
              </a:solidFill>
              <a:highlight>
                <a:srgbClr val="FFFF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這是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BI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所無法媲美的。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2577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zh-TW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CN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</a:t>
            </a:r>
            <a:r>
              <a:rPr lang="zh-TW" altLang="en-US" sz="5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商業分析上的優勢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600200"/>
            <a:ext cx="8640960" cy="5257800"/>
          </a:xfrm>
        </p:spPr>
        <p:txBody>
          <a:bodyPr>
            <a:normAutofit/>
          </a:bodyPr>
          <a:lstStyle/>
          <a:p>
            <a:r>
              <a:rPr lang="en-US" altLang="zh-CN" sz="3200" b="1" dirty="0"/>
              <a:t>6.</a:t>
            </a:r>
            <a:r>
              <a:rPr lang="en-US" altLang="zh-TW" sz="3200" b="1" dirty="0"/>
              <a:t> Excel</a:t>
            </a:r>
            <a:r>
              <a:rPr lang="zh-TW" altLang="en-US" sz="3200" b="1" dirty="0"/>
              <a:t>優點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缺點</a:t>
            </a:r>
            <a:r>
              <a:rPr lang="zh-TW" altLang="en-US" sz="3200" b="1" dirty="0"/>
              <a:t>。</a:t>
            </a:r>
          </a:p>
          <a:p>
            <a:r>
              <a:rPr lang="en-US" altLang="zh-TW" sz="3200" b="1" dirty="0"/>
              <a:t> Excel</a:t>
            </a:r>
            <a:r>
              <a:rPr lang="zh-TW" altLang="en-US" sz="3200" b="1" dirty="0"/>
              <a:t>優點是</a:t>
            </a:r>
            <a:r>
              <a:rPr lang="zh-CN" altLang="en-US" sz="3200" b="1" dirty="0"/>
              <a:t>：</a:t>
            </a:r>
            <a:endParaRPr lang="en-US" altLang="zh-CN" sz="3200" b="1" dirty="0"/>
          </a:p>
          <a:p>
            <a:pPr lvl="1"/>
            <a:r>
              <a:rPr lang="zh-TW" altLang="en-US" sz="2800" b="1" dirty="0">
                <a:solidFill>
                  <a:srgbClr val="C00000"/>
                </a:solidFill>
              </a:rPr>
              <a:t>簡單直觀</a:t>
            </a:r>
            <a:r>
              <a:rPr lang="zh-TW" altLang="en-US" sz="2800" b="1" dirty="0"/>
              <a:t>。</a:t>
            </a:r>
          </a:p>
          <a:p>
            <a:r>
              <a:rPr lang="en-US" altLang="zh-TW" sz="3200" b="1" dirty="0"/>
              <a:t>Excel</a:t>
            </a:r>
            <a:r>
              <a:rPr lang="zh-TW" altLang="en-US" sz="3200" b="1" dirty="0"/>
              <a:t>缺點是：</a:t>
            </a:r>
            <a:endParaRPr lang="en-US" altLang="zh-TW" sz="3200" b="1" dirty="0"/>
          </a:p>
          <a:p>
            <a:pPr lvl="1"/>
            <a:r>
              <a:rPr lang="zh-TW" altLang="en-US" sz="2800" b="1" dirty="0"/>
              <a:t>無法支援</a:t>
            </a:r>
            <a:r>
              <a:rPr lang="zh-TW" altLang="en-US" sz="2800" b="1" dirty="0">
                <a:solidFill>
                  <a:srgbClr val="C00000"/>
                </a:solidFill>
              </a:rPr>
              <a:t>自訂分析的演算方法</a:t>
            </a:r>
            <a:r>
              <a:rPr lang="zh-TW" altLang="en-US" sz="2800" b="1" dirty="0"/>
              <a:t>，</a:t>
            </a:r>
          </a:p>
          <a:p>
            <a:pPr lvl="1"/>
            <a:r>
              <a:rPr lang="zh-TW" altLang="en-US" sz="2800" b="1" dirty="0"/>
              <a:t>無法提供</a:t>
            </a:r>
            <a:r>
              <a:rPr lang="zh-TW" altLang="en-US" sz="2800" b="1" dirty="0">
                <a:solidFill>
                  <a:srgbClr val="C00000"/>
                </a:solidFill>
              </a:rPr>
              <a:t>一體化的分析</a:t>
            </a:r>
            <a:r>
              <a:rPr lang="zh-TW" altLang="en-US" sz="2800" b="1" dirty="0"/>
              <a:t>（數據採集～數據挖掘，可視化）</a:t>
            </a:r>
          </a:p>
          <a:p>
            <a:pPr lvl="1"/>
            <a:r>
              <a:rPr lang="zh-TW" altLang="en-US" sz="2800" b="1" dirty="0"/>
              <a:t>無法</a:t>
            </a:r>
            <a:r>
              <a:rPr lang="zh-TW" altLang="en-US" sz="2800" b="1" dirty="0">
                <a:solidFill>
                  <a:srgbClr val="C00000"/>
                </a:solidFill>
              </a:rPr>
              <a:t>全流程的自動化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4981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B96D94E-93AF-4499-A077-7700FDD5A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560" y="1340768"/>
            <a:ext cx="7016824" cy="3816424"/>
          </a:xfrm>
        </p:spPr>
        <p:txBody>
          <a:bodyPr vert="horz" rtlCol="0">
            <a:normAutofit lnSpcReduction="10000"/>
          </a:bodyPr>
          <a:lstStyle/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商業數據的三種來源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第一方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第二方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 algn="ctr">
              <a:buNone/>
            </a:pPr>
            <a:r>
              <a:rPr lang="zh-CN" altLang="en-US" sz="54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第三方</a:t>
            </a:r>
            <a:endParaRPr lang="en-US" altLang="zh-CN" sz="54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8516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16832"/>
            <a:ext cx="8807896" cy="4644752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</a:rPr>
              <a:t>數據分析師</a:t>
            </a:r>
            <a:r>
              <a:rPr lang="zh-CN" altLang="en-US" sz="4000" b="1" dirty="0">
                <a:effectLst/>
              </a:rPr>
              <a:t>熱門的原因：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1.</a:t>
            </a:r>
            <a:r>
              <a:rPr lang="zh-CN" altLang="en-US" sz="4400" b="1" dirty="0">
                <a:effectLst/>
              </a:rPr>
              <a:t>資料量，以後只會越來越</a:t>
            </a:r>
            <a:r>
              <a:rPr lang="zh-CN" altLang="en-US" sz="4400" b="1" dirty="0">
                <a:solidFill>
                  <a:srgbClr val="C00000"/>
                </a:solidFill>
                <a:effectLst/>
              </a:rPr>
              <a:t>大量</a:t>
            </a:r>
            <a:endParaRPr lang="en-US" altLang="zh-TW" sz="4400" b="1" dirty="0">
              <a:solidFill>
                <a:srgbClr val="C00000"/>
              </a:solidFill>
              <a:effectLst/>
            </a:endParaRPr>
          </a:p>
          <a:p>
            <a:pPr lvl="1"/>
            <a:r>
              <a:rPr lang="en-US" altLang="zh-CN" sz="4400" b="1" dirty="0">
                <a:effectLst/>
              </a:rPr>
              <a:t>2.</a:t>
            </a:r>
            <a:r>
              <a:rPr lang="zh-TW" altLang="en-US" sz="4400" b="1" dirty="0">
                <a:effectLst/>
              </a:rPr>
              <a:t>現今企業如果想做數據蒐集的方法</a:t>
            </a:r>
            <a:r>
              <a:rPr lang="zh-CN" altLang="en-US" sz="4400" b="1" dirty="0">
                <a:effectLst/>
              </a:rPr>
              <a:t>，</a:t>
            </a:r>
            <a:r>
              <a:rPr lang="zh-TW" altLang="en-US" sz="4400" b="1" dirty="0">
                <a:effectLst/>
              </a:rPr>
              <a:t>變得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非常多元</a:t>
            </a:r>
            <a:r>
              <a:rPr lang="zh-CN" altLang="en-US" sz="4400" b="1" dirty="0">
                <a:effectLst/>
              </a:rPr>
              <a:t> </a:t>
            </a:r>
            <a:endParaRPr lang="en-US" altLang="zh-CN" sz="4400" b="1" dirty="0"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CN" altLang="en-US" sz="48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數據分析熱門的原因</a:t>
            </a:r>
            <a:endParaRPr lang="zh-TW" altLang="zh-TW" sz="48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99544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00808"/>
            <a:ext cx="8686800" cy="4860776"/>
          </a:xfrm>
        </p:spPr>
        <p:txBody>
          <a:bodyPr>
            <a:noAutofit/>
          </a:bodyPr>
          <a:lstStyle/>
          <a:p>
            <a:r>
              <a:rPr lang="zh-CN" altLang="en-US" sz="5400" b="1" dirty="0">
                <a:effectLst/>
              </a:rPr>
              <a:t>資料來源包括：</a:t>
            </a:r>
            <a:r>
              <a:rPr lang="en-US" altLang="zh-CN" sz="5400" b="1" dirty="0">
                <a:effectLst/>
              </a:rPr>
              <a:t>3</a:t>
            </a:r>
            <a:r>
              <a:rPr lang="zh-CN" altLang="en-US" sz="5400" b="1" dirty="0">
                <a:effectLst/>
              </a:rPr>
              <a:t>類</a:t>
            </a:r>
            <a:endParaRPr lang="en-US" altLang="zh-CN" sz="5400" b="1" dirty="0">
              <a:effectLst/>
            </a:endParaRPr>
          </a:p>
          <a:p>
            <a:pPr lvl="1"/>
            <a:r>
              <a:rPr lang="en-US" altLang="zh-CN" sz="4000" b="1" dirty="0">
                <a:effectLst/>
              </a:rPr>
              <a:t>1.</a:t>
            </a:r>
            <a:r>
              <a:rPr lang="zh-TW" altLang="en-US" sz="4000" b="1" dirty="0">
                <a:effectLst/>
              </a:rPr>
              <a:t>來自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用戶</a:t>
            </a:r>
            <a:r>
              <a:rPr lang="zh-TW" altLang="en-US" sz="4000" b="1" dirty="0">
                <a:effectLst/>
              </a:rPr>
              <a:t>的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第一方</a:t>
            </a:r>
            <a:r>
              <a:rPr lang="zh-TW" altLang="en-US" sz="4000" b="1" dirty="0">
                <a:effectLst/>
              </a:rPr>
              <a:t>數據</a:t>
            </a:r>
            <a:endParaRPr lang="en-US" altLang="zh-TW" sz="4000" b="1" dirty="0">
              <a:effectLst/>
            </a:endParaRPr>
          </a:p>
          <a:p>
            <a:pPr lvl="1"/>
            <a:r>
              <a:rPr lang="en-US" altLang="zh-CN" sz="4000" b="1" dirty="0">
                <a:effectLst/>
              </a:rPr>
              <a:t>2.</a:t>
            </a:r>
            <a:r>
              <a:rPr lang="zh-TW" altLang="en-US" sz="4000" b="1" dirty="0">
                <a:effectLst/>
              </a:rPr>
              <a:t>透過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交換共享</a:t>
            </a:r>
            <a:r>
              <a:rPr lang="zh-TW" altLang="en-US" sz="4000" b="1" dirty="0">
                <a:effectLst/>
              </a:rPr>
              <a:t>得到的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第二方</a:t>
            </a:r>
            <a:r>
              <a:rPr lang="zh-TW" altLang="en-US" sz="4000" b="1" dirty="0">
                <a:effectLst/>
              </a:rPr>
              <a:t>數據</a:t>
            </a:r>
            <a:endParaRPr lang="en-US" altLang="zh-TW" sz="4400" b="1" dirty="0">
              <a:effectLst/>
            </a:endParaRPr>
          </a:p>
          <a:p>
            <a:pPr lvl="1"/>
            <a:r>
              <a:rPr lang="en-US" altLang="zh-CN" sz="4000" b="1" dirty="0">
                <a:effectLst/>
              </a:rPr>
              <a:t>3.</a:t>
            </a:r>
            <a:r>
              <a:rPr lang="zh-TW" altLang="en-US" sz="4000" b="1" dirty="0">
                <a:effectLst/>
              </a:rPr>
              <a:t>任何與商業需求有關的</a:t>
            </a:r>
            <a:r>
              <a:rPr lang="zh-TW" altLang="en-US" sz="4000" b="1" dirty="0">
                <a:solidFill>
                  <a:srgbClr val="C00000"/>
                </a:solidFill>
                <a:effectLst/>
              </a:rPr>
              <a:t>第三方數據</a:t>
            </a:r>
            <a:endParaRPr lang="en-US" altLang="zh-TW" sz="4000" b="1" dirty="0">
              <a:solidFill>
                <a:srgbClr val="C00000"/>
              </a:solidFill>
              <a:effectLst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zh-TW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非常多元</a:t>
            </a:r>
            <a:r>
              <a:rPr lang="zh-CN" altLang="en-US" sz="66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的資料來源</a:t>
            </a:r>
            <a:endParaRPr lang="zh-TW" altLang="zh-TW" sz="66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6917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44824"/>
            <a:ext cx="8686800" cy="4716760"/>
          </a:xfrm>
        </p:spPr>
        <p:txBody>
          <a:bodyPr>
            <a:noAutofit/>
          </a:bodyPr>
          <a:lstStyle/>
          <a:p>
            <a:r>
              <a:rPr lang="zh-TW" altLang="en-US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CN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）來自</a:t>
            </a:r>
            <a:r>
              <a:rPr lang="zh-TW" altLang="en-US" sz="40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用戶</a:t>
            </a:r>
            <a:r>
              <a:rPr lang="zh-TW" altLang="en-US" sz="40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的第一方數據：</a:t>
            </a:r>
            <a:endParaRPr lang="en-US" altLang="zh-TW" sz="40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☎傳統的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用戶資料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建檔、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問卷調查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網頁的瀏覽行為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等的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數據追蹤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zh-CN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電商交易數據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en-US" altLang="zh-TW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應用程式瀏覽行為</a:t>
            </a:r>
            <a:r>
              <a:rPr lang="zh-CN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數據的追蹤、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☎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</a:t>
            </a:r>
            <a:r>
              <a:rPr lang="en-US" altLang="zh-TW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IoT</a:t>
            </a:r>
            <a:r>
              <a:rPr lang="zh-TW" altLang="en-US" sz="36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設備</a:t>
            </a:r>
            <a:r>
              <a:rPr lang="zh-TW" altLang="en-US" sz="36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傳遞的數據等，</a:t>
            </a:r>
            <a:endParaRPr lang="en-US" altLang="zh-TW" sz="3600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en-US" altLang="zh-CN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1.</a:t>
            </a:r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來自</a:t>
            </a:r>
            <a:r>
              <a:rPr lang="zh-TW" altLang="en-US" sz="4800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用戶</a:t>
            </a:r>
            <a:r>
              <a:rPr lang="zh-TW" altLang="en-US" sz="4800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的第一方數據</a:t>
            </a:r>
            <a:endParaRPr lang="zh-TW" altLang="zh-TW" sz="4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26303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700808"/>
            <a:ext cx="8686800" cy="4716760"/>
          </a:xfrm>
        </p:spPr>
        <p:txBody>
          <a:bodyPr>
            <a:noAutofit/>
          </a:bodyPr>
          <a:lstStyle/>
          <a:p>
            <a:r>
              <a:rPr lang="zh-TW" altLang="en-US" sz="3200" b="1" dirty="0">
                <a:effectLst/>
              </a:rPr>
              <a:t>☎第二方數據 </a:t>
            </a:r>
            <a:r>
              <a:rPr lang="zh-CN" altLang="en-US" sz="3200" b="1" dirty="0">
                <a:effectLst/>
              </a:rPr>
              <a:t>，</a:t>
            </a:r>
            <a:r>
              <a:rPr lang="zh-TW" altLang="en-US" sz="3200" b="1" dirty="0">
                <a:effectLst/>
              </a:rPr>
              <a:t>也稱為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第二方</a:t>
            </a:r>
            <a:r>
              <a:rPr lang="zh-CN" altLang="en-US" sz="3200" b="1" dirty="0">
                <a:effectLst/>
              </a:rPr>
              <a:t>，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或 </a:t>
            </a:r>
            <a:r>
              <a:rPr lang="en-US" altLang="zh-TW" sz="3200" b="1" dirty="0">
                <a:solidFill>
                  <a:srgbClr val="C00000"/>
                </a:solidFill>
                <a:effectLst/>
              </a:rPr>
              <a:t>2P 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數據</a:t>
            </a:r>
            <a:endParaRPr lang="en-US" altLang="zh-TW" sz="3200" b="1" dirty="0">
              <a:solidFill>
                <a:srgbClr val="C00000"/>
              </a:solidFill>
              <a:effectLst/>
            </a:endParaRPr>
          </a:p>
          <a:p>
            <a:r>
              <a:rPr lang="zh-TW" altLang="en-US" sz="3200" b="1" dirty="0">
                <a:effectLst/>
              </a:rPr>
              <a:t>☎是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另一個同行公司收集的數據</a:t>
            </a:r>
            <a:r>
              <a:rPr lang="zh-TW" altLang="en-US" sz="3200" b="1" dirty="0">
                <a:effectLst/>
              </a:rPr>
              <a:t>，但可由另一家公司通過購買或協作訪問。</a:t>
            </a:r>
            <a:endParaRPr lang="en-US" altLang="zh-TW" sz="3200" b="1" dirty="0">
              <a:effectLst/>
            </a:endParaRPr>
          </a:p>
          <a:p>
            <a:r>
              <a:rPr lang="zh-TW" altLang="en-US" sz="3200" dirty="0">
                <a:effectLst/>
              </a:rPr>
              <a:t>☎營銷人員在希望擴展其營銷資料庫以吸引新的潛在客戶時，通常會購買它。</a:t>
            </a:r>
            <a:endParaRPr lang="en-US" altLang="zh-TW" sz="3200" dirty="0">
              <a:effectLst/>
            </a:endParaRPr>
          </a:p>
          <a:p>
            <a:r>
              <a:rPr lang="zh-TW" altLang="en-US" sz="3200" b="1" dirty="0">
                <a:effectLst/>
              </a:rPr>
              <a:t>☎例如</a:t>
            </a:r>
            <a:r>
              <a:rPr lang="zh-TW" altLang="en-US" sz="3200" dirty="0">
                <a:effectLst/>
              </a:rPr>
              <a:t>，如果一個為女性製作的服裝品牌決定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增加一個男裝系列</a:t>
            </a:r>
            <a:r>
              <a:rPr lang="zh-TW" altLang="en-US" sz="3200" dirty="0">
                <a:effectLst/>
              </a:rPr>
              <a:t>，並且需要相關的目標來行銷，就可以向外同行公司購買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男裝的數據資料庫</a:t>
            </a:r>
            <a:endParaRPr lang="en-US" altLang="zh-TW" sz="44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229600" cy="1265238"/>
          </a:xfrm>
        </p:spPr>
        <p:txBody>
          <a:bodyPr>
            <a:noAutofit/>
          </a:bodyPr>
          <a:lstStyle/>
          <a:p>
            <a:pPr algn="ctr"/>
            <a:r>
              <a:rPr lang="en-US" altLang="zh-CN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2.</a:t>
            </a:r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透過交換共享得到的第二方數據</a:t>
            </a:r>
            <a:endParaRPr lang="zh-TW" altLang="zh-TW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652942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72816"/>
            <a:ext cx="8686800" cy="4716760"/>
          </a:xfrm>
        </p:spPr>
        <p:txBody>
          <a:bodyPr>
            <a:noAutofit/>
          </a:bodyPr>
          <a:lstStyle/>
          <a:p>
            <a:r>
              <a:rPr lang="zh-TW" altLang="en-US" sz="3600" b="1" dirty="0">
                <a:effectLst/>
              </a:rPr>
              <a:t>☎第三方數據 </a:t>
            </a:r>
            <a:r>
              <a:rPr lang="zh-CN" altLang="en-US" sz="3600" b="1" dirty="0">
                <a:effectLst/>
              </a:rPr>
              <a:t>，</a:t>
            </a:r>
            <a:r>
              <a:rPr lang="zh-TW" altLang="en-US" sz="3600" b="1" dirty="0">
                <a:effectLst/>
              </a:rPr>
              <a:t>也稱為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第三方</a:t>
            </a:r>
            <a:r>
              <a:rPr lang="zh-CN" altLang="en-US" sz="3600" b="1" dirty="0">
                <a:effectLst/>
              </a:rPr>
              <a:t>，</a:t>
            </a:r>
            <a:r>
              <a:rPr lang="zh-TW" altLang="en-US" sz="3600" b="1" dirty="0">
                <a:effectLst/>
              </a:rPr>
              <a:t>或</a:t>
            </a:r>
            <a:r>
              <a:rPr lang="en-US" altLang="zh-TW" sz="3600" b="1" dirty="0">
                <a:solidFill>
                  <a:srgbClr val="C00000"/>
                </a:solidFill>
                <a:effectLst/>
              </a:rPr>
              <a:t>3P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數據</a:t>
            </a:r>
            <a:endParaRPr lang="en-US" altLang="zh-TW" sz="3600" b="1" dirty="0">
              <a:solidFill>
                <a:srgbClr val="C00000"/>
              </a:solidFill>
              <a:effectLst/>
            </a:endParaRPr>
          </a:p>
          <a:p>
            <a:r>
              <a:rPr lang="zh-TW" altLang="en-US" sz="3600" b="1" dirty="0">
                <a:effectLst/>
              </a:rPr>
              <a:t>是來自第三方的數據，該第三方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已聚合了多個數據源</a:t>
            </a:r>
            <a:r>
              <a:rPr lang="zh-TW" altLang="en-US" sz="3600" b="1" dirty="0">
                <a:effectLst/>
              </a:rPr>
              <a:t>並使其可供購買。</a:t>
            </a:r>
            <a:endParaRPr lang="en-US" altLang="zh-TW" sz="3600" b="1" dirty="0">
              <a:effectLst/>
            </a:endParaRPr>
          </a:p>
          <a:p>
            <a:r>
              <a:rPr lang="zh-TW" altLang="en-US" sz="3600" b="1" dirty="0">
                <a:effectLst/>
              </a:rPr>
              <a:t>☎第三方數據的缺點：</a:t>
            </a:r>
            <a:endParaRPr lang="en-US" altLang="zh-TW" sz="36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是它可能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缺乏準確性和品質</a:t>
            </a:r>
            <a:r>
              <a:rPr lang="zh-TW" altLang="en-US" sz="3200" b="1" dirty="0">
                <a:effectLst/>
              </a:rPr>
              <a:t>，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因此重要的是了解數據來自何處以及數據使用年限</a:t>
            </a:r>
            <a:r>
              <a:rPr lang="en-US" altLang="zh-TW" sz="3200" b="1" dirty="0">
                <a:effectLst/>
              </a:rPr>
              <a:t>.</a:t>
            </a:r>
            <a:endParaRPr lang="en-US" altLang="zh-TW" sz="50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045"/>
            <a:ext cx="8458200" cy="1265238"/>
          </a:xfrm>
        </p:spPr>
        <p:txBody>
          <a:bodyPr>
            <a:noAutofit/>
          </a:bodyPr>
          <a:lstStyle/>
          <a:p>
            <a:pPr algn="ctr"/>
            <a:r>
              <a:rPr lang="en-US" altLang="zh-CN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3.</a:t>
            </a:r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任何與商業需求有關的</a:t>
            </a:r>
            <a:r>
              <a:rPr lang="zh-TW" altLang="en-US" b="1" dirty="0">
                <a:solidFill>
                  <a:srgbClr val="C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第三方</a:t>
            </a:r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數據</a:t>
            </a:r>
            <a:endParaRPr lang="zh-TW" altLang="zh-TW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352571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542B6F7D-B2E5-4750-97E7-85CC0770C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20" y="1556792"/>
            <a:ext cx="8942359" cy="4716760"/>
          </a:xfrm>
        </p:spPr>
        <p:txBody>
          <a:bodyPr>
            <a:noAutofit/>
          </a:bodyPr>
          <a:lstStyle/>
          <a:p>
            <a:r>
              <a:rPr lang="zh-TW" altLang="en-US" sz="3600" b="1" dirty="0">
                <a:effectLst/>
              </a:rPr>
              <a:t>方數據之間的</a:t>
            </a:r>
            <a:r>
              <a:rPr lang="zh-TW" altLang="en-US" sz="3600" b="1" dirty="0">
                <a:solidFill>
                  <a:srgbClr val="C00000"/>
                </a:solidFill>
                <a:effectLst/>
              </a:rPr>
              <a:t>主要區別</a:t>
            </a:r>
            <a:r>
              <a:rPr lang="zh-TW" altLang="en-US" sz="3600" b="1" dirty="0">
                <a:effectLst/>
              </a:rPr>
              <a:t>在於：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4400" b="1" dirty="0">
                <a:solidFill>
                  <a:srgbClr val="C00000"/>
                </a:solidFill>
                <a:effectLst/>
              </a:rPr>
              <a:t>來源</a:t>
            </a:r>
            <a:r>
              <a:rPr lang="en-US" altLang="zh-TW" sz="3200" b="1" dirty="0">
                <a:effectLst/>
              </a:rPr>
              <a:t>』</a:t>
            </a:r>
            <a:r>
              <a:rPr lang="zh-CN" altLang="en-US" sz="3200" b="1" dirty="0">
                <a:effectLst/>
              </a:rPr>
              <a:t>：</a:t>
            </a:r>
            <a:endParaRPr lang="en-US" altLang="zh-CN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☎第一方數據：由其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存儲</a:t>
            </a:r>
            <a:r>
              <a:rPr lang="en-US" altLang="zh-TW" sz="3200" b="1" dirty="0">
                <a:solidFill>
                  <a:srgbClr val="C00000"/>
                </a:solidFill>
                <a:effectLst/>
              </a:rPr>
              <a:t>/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擁有的公司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收集。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☎第二方數據：由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同行公司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收集，並由另一家公司購買（或通過合作協定與他們共用）</a:t>
            </a:r>
            <a:endParaRPr lang="en-US" altLang="zh-TW" sz="3200" b="1" dirty="0">
              <a:effectLst/>
            </a:endParaRPr>
          </a:p>
          <a:p>
            <a:pPr lvl="1"/>
            <a:r>
              <a:rPr lang="zh-TW" altLang="en-US" sz="3200" b="1" dirty="0">
                <a:effectLst/>
              </a:rPr>
              <a:t>☎第三方數據：是從</a:t>
            </a:r>
            <a:r>
              <a:rPr lang="en-US" altLang="zh-TW" sz="3200" b="1" dirty="0">
                <a:effectLst/>
              </a:rPr>
              <a:t>『</a:t>
            </a:r>
            <a:r>
              <a:rPr lang="zh-TW" altLang="en-US" sz="3200" b="1" dirty="0">
                <a:solidFill>
                  <a:srgbClr val="C00000"/>
                </a:solidFill>
                <a:effectLst/>
              </a:rPr>
              <a:t>多個未知來源</a:t>
            </a:r>
            <a:r>
              <a:rPr lang="en-US" altLang="zh-TW" sz="3200" b="1" dirty="0">
                <a:effectLst/>
              </a:rPr>
              <a:t>』</a:t>
            </a:r>
            <a:r>
              <a:rPr lang="zh-TW" altLang="en-US" sz="3200" b="1" dirty="0">
                <a:effectLst/>
              </a:rPr>
              <a:t>收集的，並由一家公司購買。</a:t>
            </a:r>
            <a:endParaRPr lang="en-US" altLang="zh-TW" sz="5400" b="1" dirty="0">
              <a:solidFill>
                <a:srgbClr val="C00000"/>
              </a:solidFill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F039D5-DDD1-4C24-9CBA-93DEDAE20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6415"/>
            <a:ext cx="8458200" cy="944777"/>
          </a:xfrm>
        </p:spPr>
        <p:txBody>
          <a:bodyPr>
            <a:noAutofit/>
          </a:bodyPr>
          <a:lstStyle/>
          <a:p>
            <a:pPr algn="ctr"/>
            <a:r>
              <a:rPr lang="zh-TW" altLang="en-US" b="1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比較：第一方、第二方和第三方數據之間的差別</a:t>
            </a:r>
            <a:endParaRPr lang="zh-TW" altLang="zh-TW" b="1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6869305"/>
      </p:ext>
    </p:extLst>
  </p:cSld>
  <p:clrMapOvr>
    <a:masterClrMapping/>
  </p:clrMapOvr>
</p:sld>
</file>

<file path=ppt/theme/theme1.xml><?xml version="1.0" encoding="utf-8"?>
<a:theme xmlns:a="http://schemas.openxmlformats.org/drawingml/2006/main" name="EdBackToSchl(2)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21873A"/>
      </a:hlink>
      <a:folHlink>
        <a:srgbClr val="717E00"/>
      </a:folHlink>
    </a:clrScheme>
    <a:fontScheme name="School Presentation">
      <a:majorFont>
        <a:latin typeface="Bookman Old Style"/>
        <a:ea typeface=""/>
        <a:cs typeface=""/>
      </a:majorFont>
      <a:minorFont>
        <a:latin typeface="Segoe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A7A3A1A-66C2-44A9-B26B-C232E3FA40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EdBackToSchl(2)</Template>
  <TotalTime>0</TotalTime>
  <Words>3264</Words>
  <Application>Microsoft Office PowerPoint</Application>
  <PresentationFormat>如螢幕大小 (4:3)</PresentationFormat>
  <Paragraphs>462</Paragraphs>
  <Slides>53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62" baseType="lpstr">
      <vt:lpstr>Segoe Condensed</vt:lpstr>
      <vt:lpstr>微軟正黑體</vt:lpstr>
      <vt:lpstr>標楷體</vt:lpstr>
      <vt:lpstr>Arial</vt:lpstr>
      <vt:lpstr>Arial</vt:lpstr>
      <vt:lpstr>Bookman Old Style</vt:lpstr>
      <vt:lpstr>Calibri</vt:lpstr>
      <vt:lpstr>Times New Roman</vt:lpstr>
      <vt:lpstr>EdBackToSchl(2)</vt:lpstr>
      <vt:lpstr>台北科技大學，經管系，陳擎文 </vt:lpstr>
      <vt:lpstr>PowerPoint 簡報</vt:lpstr>
      <vt:lpstr>PowerPoint 簡報</vt:lpstr>
      <vt:lpstr>PowerPoint 簡報</vt:lpstr>
      <vt:lpstr>近年來熱門的職業</vt:lpstr>
      <vt:lpstr>熱門的原因</vt:lpstr>
      <vt:lpstr>PowerPoint 簡報</vt:lpstr>
      <vt:lpstr>PowerPoint 簡報</vt:lpstr>
      <vt:lpstr>數據分析師Data Analyst </vt:lpstr>
      <vt:lpstr>數據分析師Data Analyst </vt:lpstr>
      <vt:lpstr>數據分析師Data Analyst </vt:lpstr>
      <vt:lpstr>數據分析師Data Analyst </vt:lpstr>
      <vt:lpstr>數據分析師Data Analyst </vt:lpstr>
      <vt:lpstr>美國的職業評比排名</vt:lpstr>
      <vt:lpstr>美國的職業評比排名</vt:lpstr>
      <vt:lpstr>PowerPoint 簡報</vt:lpstr>
      <vt:lpstr>商業數據分析的2種主要技術：</vt:lpstr>
      <vt:lpstr>PowerPoint 簡報</vt:lpstr>
      <vt:lpstr>學習python分析數據的2種方式</vt:lpstr>
      <vt:lpstr>PowerPoint 簡報</vt:lpstr>
      <vt:lpstr>python分析數據的2種方式</vt:lpstr>
      <vt:lpstr>數據分析的進階參考書</vt:lpstr>
      <vt:lpstr>PowerPoint 簡報</vt:lpstr>
      <vt:lpstr>教科書：一行指令學Python－用Pandas掌握商務大數據分析</vt:lpstr>
      <vt:lpstr>老師補充資料</vt:lpstr>
      <vt:lpstr>進階課程，都是預測分析，演算法</vt:lpstr>
      <vt:lpstr>PowerPoint 簡報</vt:lpstr>
      <vt:lpstr>本學期的評分方式</vt:lpstr>
      <vt:lpstr>教科書：一行指令學Python－用Pandas掌握商務大數據分析</vt:lpstr>
      <vt:lpstr>PowerPoint 簡報</vt:lpstr>
      <vt:lpstr>系上所規劃的 資訊相關課程</vt:lpstr>
      <vt:lpstr>系上所規劃的 資訊相關課程</vt:lpstr>
      <vt:lpstr>PowerPoint 簡報</vt:lpstr>
      <vt:lpstr>完整的商業程式分析 包括二個部分</vt:lpstr>
      <vt:lpstr>進階課程，都是預測分析，演算法</vt:lpstr>
      <vt:lpstr>商業數據預測的相關課程(付費)</vt:lpstr>
      <vt:lpstr>對應的工作職缺 Data Engineer， Data Analyst， Data Scientist</vt:lpstr>
      <vt:lpstr>對應的工作職缺 Data Engineer， Data Analyst， Data Scientist</vt:lpstr>
      <vt:lpstr>系上所規劃的資訊相關課程</vt:lpstr>
      <vt:lpstr>現在演化的工作職缺</vt:lpstr>
      <vt:lpstr>現在演化的工作職缺</vt:lpstr>
      <vt:lpstr>PowerPoint 簡報</vt:lpstr>
      <vt:lpstr>Python在商業分析上的優勢</vt:lpstr>
      <vt:lpstr>Python在商業分析上的優勢</vt:lpstr>
      <vt:lpstr>Python在商業分析上的優勢</vt:lpstr>
      <vt:lpstr>Python在商業分析上的優勢</vt:lpstr>
      <vt:lpstr>PowerPoint 簡報</vt:lpstr>
      <vt:lpstr>數據分析熱門的原因</vt:lpstr>
      <vt:lpstr>非常多元的資料來源</vt:lpstr>
      <vt:lpstr>1.來自用戶的第一方數據</vt:lpstr>
      <vt:lpstr>2. 透過交換共享得到的第二方數據</vt:lpstr>
      <vt:lpstr>3. 任何與商業需求有關的第三方數據</vt:lpstr>
      <vt:lpstr>比較：第一方、第二方和第三方數據之間的差別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2012-02-02T03:26:32Z</dcterms:created>
  <dcterms:modified xsi:type="dcterms:W3CDTF">2023-05-21T19:43:02Z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TC101659619990</vt:lpwstr>
  </property>
</Properties>
</file>