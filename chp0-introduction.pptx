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2"/>
  </p:sldMasterIdLst>
  <p:notesMasterIdLst>
    <p:notesMasterId r:id="rId79"/>
  </p:notesMasterIdLst>
  <p:handoutMasterIdLst>
    <p:handoutMasterId r:id="rId80"/>
  </p:handoutMasterIdLst>
  <p:sldIdLst>
    <p:sldId id="256" r:id="rId3"/>
    <p:sldId id="973" r:id="rId4"/>
    <p:sldId id="565" r:id="rId5"/>
    <p:sldId id="575" r:id="rId6"/>
    <p:sldId id="576" r:id="rId7"/>
    <p:sldId id="577" r:id="rId8"/>
    <p:sldId id="1023" r:id="rId9"/>
    <p:sldId id="1033" r:id="rId10"/>
    <p:sldId id="1026" r:id="rId11"/>
    <p:sldId id="1027" r:id="rId12"/>
    <p:sldId id="1028" r:id="rId13"/>
    <p:sldId id="1030" r:id="rId14"/>
    <p:sldId id="1029" r:id="rId15"/>
    <p:sldId id="1034" r:id="rId16"/>
    <p:sldId id="860" r:id="rId17"/>
    <p:sldId id="862" r:id="rId18"/>
    <p:sldId id="861" r:id="rId19"/>
    <p:sldId id="865" r:id="rId20"/>
    <p:sldId id="1032" r:id="rId21"/>
    <p:sldId id="863" r:id="rId22"/>
    <p:sldId id="566" r:id="rId23"/>
    <p:sldId id="929" r:id="rId24"/>
    <p:sldId id="578" r:id="rId25"/>
    <p:sldId id="579" r:id="rId26"/>
    <p:sldId id="968" r:id="rId27"/>
    <p:sldId id="965" r:id="rId28"/>
    <p:sldId id="846" r:id="rId29"/>
    <p:sldId id="847" r:id="rId30"/>
    <p:sldId id="945" r:id="rId31"/>
    <p:sldId id="966" r:id="rId32"/>
    <p:sldId id="946" r:id="rId33"/>
    <p:sldId id="967" r:id="rId34"/>
    <p:sldId id="947" r:id="rId35"/>
    <p:sldId id="969" r:id="rId36"/>
    <p:sldId id="928" r:id="rId37"/>
    <p:sldId id="587" r:id="rId38"/>
    <p:sldId id="588" r:id="rId39"/>
    <p:sldId id="971" r:id="rId40"/>
    <p:sldId id="1004" r:id="rId41"/>
    <p:sldId id="970" r:id="rId42"/>
    <p:sldId id="989" r:id="rId43"/>
    <p:sldId id="991" r:id="rId44"/>
    <p:sldId id="992" r:id="rId45"/>
    <p:sldId id="993" r:id="rId46"/>
    <p:sldId id="994" r:id="rId47"/>
    <p:sldId id="995" r:id="rId48"/>
    <p:sldId id="998" r:id="rId49"/>
    <p:sldId id="999" r:id="rId50"/>
    <p:sldId id="1000" r:id="rId51"/>
    <p:sldId id="1001" r:id="rId52"/>
    <p:sldId id="1017" r:id="rId53"/>
    <p:sldId id="1018" r:id="rId54"/>
    <p:sldId id="1019" r:id="rId55"/>
    <p:sldId id="1020" r:id="rId56"/>
    <p:sldId id="1021" r:id="rId57"/>
    <p:sldId id="1022" r:id="rId58"/>
    <p:sldId id="981" r:id="rId59"/>
    <p:sldId id="982" r:id="rId60"/>
    <p:sldId id="619" r:id="rId61"/>
    <p:sldId id="517" r:id="rId62"/>
    <p:sldId id="1035" r:id="rId63"/>
    <p:sldId id="1037" r:id="rId64"/>
    <p:sldId id="1036" r:id="rId65"/>
    <p:sldId id="1038" r:id="rId66"/>
    <p:sldId id="1042" r:id="rId67"/>
    <p:sldId id="1040" r:id="rId68"/>
    <p:sldId id="983" r:id="rId69"/>
    <p:sldId id="661" r:id="rId70"/>
    <p:sldId id="662" r:id="rId71"/>
    <p:sldId id="663" r:id="rId72"/>
    <p:sldId id="664" r:id="rId73"/>
    <p:sldId id="665" r:id="rId74"/>
    <p:sldId id="580" r:id="rId75"/>
    <p:sldId id="1041" r:id="rId76"/>
    <p:sldId id="586" r:id="rId77"/>
    <p:sldId id="842" r:id="rId78"/>
  </p:sldIdLst>
  <p:sldSz cx="9144000" cy="6858000" type="screen4x3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 autoAdjust="0"/>
    <p:restoredTop sz="93977" autoAdjust="0"/>
  </p:normalViewPr>
  <p:slideViewPr>
    <p:cSldViewPr>
      <p:cViewPr varScale="1">
        <p:scale>
          <a:sx n="65" d="100"/>
          <a:sy n="65" d="100"/>
        </p:scale>
        <p:origin x="11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579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3" name="Rectangl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9472DD5C-B6A9-4714-908F-0B8F74738B98}" type="datetimeFigureOut">
              <a:rPr lang="en-US" altLang="zh-TW" smtClean="0"/>
              <a:pPr/>
              <a:t>2/24/2025</a:t>
            </a:fld>
            <a:endParaRPr lang="zh-TW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7C1C90DE-A98B-4173-B17E-434F189FC4DB}" type="slidenum">
              <a:rPr 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Rectangl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193366E8-8A22-4400-BBA2-8D322280A6E8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4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3792D2CF-A01B-4515-8B40-3DC34258267A}" type="slidenum">
              <a:rPr/>
              <a:pPr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zh-TW" smtClean="0"/>
              <a:pPr/>
              <a:t>1</a:t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4000" cy="6858000"/>
            <a:chOff x="-1574" y="0"/>
            <a:chExt cx="914400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/>
                <a:srgbClr val="FFFFFF"/>
              </a:duotone>
              <a:lum bright="-10000"/>
            </a:blip>
            <a:stretch>
              <a:fillRect/>
            </a:stretch>
          </p:blipFill>
          <p:spPr>
            <a:xfrm>
              <a:off x="-1574" y="381000"/>
              <a:ext cx="9144000" cy="6093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hape 20"/>
          <p:cNvSpPr>
            <a:spLocks noGrp="1"/>
          </p:cNvSpPr>
          <p:nvPr>
            <p:ph type="title"/>
          </p:nvPr>
        </p:nvSpPr>
        <p:spPr>
          <a:xfrm>
            <a:off x="704850" y="4495800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 anchor="b" anchorCtr="0"/>
          <a:lstStyle>
            <a:lvl1pPr marL="0" indent="0" algn="ctr" latinLnBrk="0">
              <a:buNone/>
              <a:defRPr lang="zh-TW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小節標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5574" cy="6858000"/>
            <a:chOff x="-1574" y="0"/>
            <a:chExt cx="9145574" cy="6858000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381000"/>
              <a:ext cx="9144000" cy="6096000"/>
            </a:xfrm>
            <a:prstGeom prst="rect">
              <a:avLst/>
            </a:prstGeom>
            <a:gradFill>
              <a:gsLst>
                <a:gs pos="0">
                  <a:schemeClr val="accent1">
                    <a:tint val="40000"/>
                  </a:schemeClr>
                </a:gs>
                <a:gs pos="100000">
                  <a:schemeClr val="accent1">
                    <a:shade val="75000"/>
                  </a:schemeClr>
                </a:gs>
              </a:gsLst>
              <a:path path="circle">
                <a:fillToRect l="100000" t="100000" r="100000" b="100000"/>
              </a:path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4505325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 latinLnBrk="0">
              <a:buNone/>
              <a:defRPr lang="zh-TW" sz="2800">
                <a:solidFill>
                  <a:schemeClr val="tx1"/>
                </a:solidFill>
              </a:defRPr>
            </a:lvl1pPr>
            <a:lvl2pPr marL="457200" indent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對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575050" y="1600201"/>
            <a:ext cx="5111750" cy="4525963"/>
          </a:xfrm>
        </p:spPr>
        <p:txBody>
          <a:bodyPr/>
          <a:lstStyle>
            <a:lvl1pPr latinLnBrk="0">
              <a:defRPr lang="zh-TW" sz="3200">
                <a:solidFill>
                  <a:schemeClr val="tx1"/>
                </a:solidFill>
              </a:defRPr>
            </a:lvl1pPr>
            <a:lvl2pPr>
              <a:defRPr lang="zh-TW" sz="2800"/>
            </a:lvl2pPr>
            <a:lvl3pPr>
              <a:defRPr lang="zh-TW" sz="2400"/>
            </a:lvl3pPr>
            <a:lvl4pPr>
              <a:defRPr lang="zh-TW" sz="2000"/>
            </a:lvl4pPr>
            <a:lvl5pPr>
              <a:defRPr lang="zh-TW" sz="2000"/>
            </a:lvl5pPr>
            <a:lvl6pPr>
              <a:defRPr lang="zh-TW" sz="2000"/>
            </a:lvl6pPr>
            <a:lvl7pPr>
              <a:defRPr lang="zh-TW" sz="2000"/>
            </a:lvl7pPr>
            <a:lvl8pPr>
              <a:defRPr lang="zh-TW" sz="2000"/>
            </a:lvl8pPr>
            <a:lvl9pPr>
              <a:defRPr lang="zh-TW"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457201" y="1600201"/>
            <a:ext cx="3008313" cy="4525963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 latinLnBrk="0">
              <a:defRPr lang="zh-TW" sz="2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latinLnBrk="0">
              <a:buNone/>
              <a:defRPr lang="zh-TW" sz="3200"/>
            </a:lvl1pPr>
            <a:lvl2pPr marL="457200" indent="0">
              <a:buNone/>
              <a:defRPr lang="zh-TW" sz="2800"/>
            </a:lvl2pPr>
            <a:lvl3pPr marL="914400" indent="0">
              <a:buNone/>
              <a:defRPr lang="zh-TW" sz="2400"/>
            </a:lvl3pPr>
            <a:lvl4pPr marL="1371600" indent="0">
              <a:buNone/>
              <a:defRPr lang="zh-TW" sz="2000"/>
            </a:lvl4pPr>
            <a:lvl5pPr marL="1828800" indent="0">
              <a:buNone/>
              <a:defRPr lang="zh-TW" sz="2000"/>
            </a:lvl5pPr>
            <a:lvl6pPr marL="2286000" indent="0">
              <a:buNone/>
              <a:defRPr lang="zh-TW" sz="2000"/>
            </a:lvl6pPr>
            <a:lvl7pPr marL="2743200" indent="0">
              <a:buNone/>
              <a:defRPr lang="zh-TW" sz="2000"/>
            </a:lvl7pPr>
            <a:lvl8pPr marL="3200400" indent="0">
              <a:buNone/>
              <a:defRPr lang="zh-TW" sz="2000"/>
            </a:lvl8pPr>
            <a:lvl9pPr marL="3657600" indent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1506538"/>
            <a:chOff x="0" y="0"/>
            <a:chExt cx="9144000" cy="1506538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1"/>
                <a:srgbClr val="FFFFFF"/>
              </a:duotone>
            </a:blip>
            <a:srcRect/>
            <a:stretch>
              <a:fillRect/>
            </a:stretch>
          </p:blipFill>
          <p:spPr>
            <a:xfrm>
              <a:off x="0" y="1"/>
              <a:ext cx="9144000" cy="1419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 userDrawn="1"/>
          </p:nvSpPr>
          <p:spPr>
            <a:xfrm>
              <a:off x="0" y="0"/>
              <a:ext cx="9144000" cy="14478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tint val="20000"/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142875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1504950"/>
              <a:ext cx="9144000" cy="1588"/>
            </a:xfrm>
            <a:prstGeom prst="line">
              <a:avLst/>
            </a:prstGeom>
            <a:ln w="15875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D0AA-A564-40E6-BDF9-FE3371FD07B4}" type="datetimeFigureOut">
              <a:rPr lang="zh-TW" altLang="en-US"/>
              <a:pPr/>
              <a:t>2025/2/24</a:t>
            </a:fld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3" name="Rectangle 1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zh-TW" sz="4000" b="0" u="none" strike="noStrike" kern="1200" cap="none" spc="0" normalizeH="0" baseline="0">
          <a:ln>
            <a:noFill/>
          </a:ln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uLnTx/>
          <a:uFillTx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spcAft>
          <a:spcPts val="400"/>
        </a:spcAft>
        <a:buFont typeface="Arial"/>
        <a:buChar char="•"/>
        <a:defRPr lang="zh-TW" sz="2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lang="zh-TW" sz="24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tin1NkVeV6G0owFqjUML0UvR-EhJa_mc?usp=sharing" TargetMode="External"/><Relationship Id="rId2" Type="http://schemas.openxmlformats.org/officeDocument/2006/relationships/hyperlink" Target="https://colab.research.google.com/drive/1OA5RY5QL8lt0FlAxcGM3tfnhP0BKew8I?usp=sharing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oaa.ntut.edu.tw/var/file/8/1008/img/2880/AVW_.pdf" TargetMode="External"/><Relationship Id="rId2" Type="http://schemas.openxmlformats.org/officeDocument/2006/relationships/hyperlink" Target="https://oaa.ntut.edu.tw/p/412-1008-17153.php?Lang=zh-tw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oaa.ntut.edu.tw/var/file/8/1008/img/2880/AVY_.pdf" TargetMode="External"/><Relationship Id="rId2" Type="http://schemas.openxmlformats.org/officeDocument/2006/relationships/hyperlink" Target="https://oaa.ntut.edu.tw/var/file/8/1008/img/2880/AV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aa.ntut.edu.tw/p/412-1008-13057.php" TargetMode="External"/><Relationship Id="rId4" Type="http://schemas.openxmlformats.org/officeDocument/2006/relationships/hyperlink" Target="https://oaa.ntut.edu.tw/var/file/8/1008/img/2880/AVY_apply.odt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611929" y="1570112"/>
            <a:ext cx="7848872" cy="250696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6600" b="1" dirty="0"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en-US" altLang="zh-CN" sz="66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人工智慧跨域經營管理之應用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台北科技大學，經管系，陳擎文</a:t>
            </a:r>
            <a:br>
              <a:rPr lang="en-US" altLang="zh-CN" b="1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數據分析有三部曲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effectLst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9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76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DC79735-EC88-4CE3-A6F9-C7178881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8D31B93-51BB-492F-A8E2-28B71180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andas/pic/scope12.png">
            <a:extLst>
              <a:ext uri="{FF2B5EF4-FFF2-40B4-BE49-F238E27FC236}">
                <a16:creationId xmlns:a16="http://schemas.microsoft.com/office/drawing/2014/main" id="{652F37D9-395D-4790-B535-863F8963D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66" y="0"/>
            <a:ext cx="659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8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effectLst/>
              </a:rPr>
              <a:t>數據分析的</a:t>
            </a:r>
            <a:r>
              <a:rPr lang="en-US" altLang="zh-TW" sz="5400" b="1" dirty="0">
                <a:effectLst/>
              </a:rPr>
              <a:t>3</a:t>
            </a:r>
            <a:r>
              <a:rPr lang="zh-TW" altLang="en-US" sz="5400" b="1" dirty="0">
                <a:effectLst/>
              </a:rPr>
              <a:t>步驟圖：</a:t>
            </a:r>
            <a:endParaRPr lang="en-US" altLang="zh-TW" sz="5400" b="1" dirty="0">
              <a:effectLst/>
            </a:endParaRP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進階數據分析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zh-TW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每個路徑點，都要相對應的工作職缺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88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355FDBD-85A6-4541-AE96-313EFFB83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101" y="1484784"/>
            <a:ext cx="9144000" cy="2548880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/>
              </a:rPr>
              <a:t>☎工作職稱：</a:t>
            </a:r>
            <a:r>
              <a:rPr lang="en-US" altLang="zh-TW" b="1" dirty="0">
                <a:effectLst/>
              </a:rPr>
              <a:t>DA/BA/DS/DE</a:t>
            </a:r>
            <a:r>
              <a:rPr lang="zh-TW" altLang="en-US" b="1" dirty="0">
                <a:effectLst/>
              </a:rPr>
              <a:t>：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BA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Business Analyst</a:t>
            </a:r>
            <a:r>
              <a:rPr lang="zh-TW" altLang="en-US" b="1" dirty="0">
                <a:effectLst/>
              </a:rPr>
              <a:t>商業分析師（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商業決策建議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DE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Engineer</a:t>
            </a:r>
            <a:r>
              <a:rPr lang="zh-TW" altLang="en-US" b="1" dirty="0">
                <a:effectLst/>
              </a:rPr>
              <a:t>數據工程師</a:t>
            </a:r>
            <a:r>
              <a:rPr lang="en-US" altLang="zh-TW" b="1" dirty="0">
                <a:effectLst/>
              </a:rPr>
              <a:t>(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語法</a:t>
            </a:r>
            <a:r>
              <a:rPr lang="en-US" altLang="zh-TW" b="1" dirty="0">
                <a:effectLst/>
              </a:rPr>
              <a:t>)</a:t>
            </a:r>
            <a:br>
              <a:rPr lang="zh-TW" altLang="en-US" b="1" dirty="0">
                <a:effectLst/>
              </a:rPr>
            </a:b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Analyst</a:t>
            </a:r>
            <a:r>
              <a:rPr lang="zh-TW" altLang="en-US" b="1" dirty="0">
                <a:effectLst/>
              </a:rPr>
              <a:t>資料分析師（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，</a:t>
            </a: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DS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Scientist</a:t>
            </a:r>
            <a:r>
              <a:rPr lang="zh-TW" altLang="en-US" b="1" dirty="0">
                <a:effectLst/>
              </a:rPr>
              <a:t>資料科學家（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預測</a:t>
            </a:r>
            <a:r>
              <a:rPr lang="zh-TW" altLang="en-US" b="1" dirty="0">
                <a:effectLst/>
              </a:rPr>
              <a:t>）</a:t>
            </a: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D4A907C-D083-469C-9414-407A218C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-4010"/>
            <a:ext cx="8229600" cy="1265238"/>
          </a:xfrm>
        </p:spPr>
        <p:txBody>
          <a:bodyPr>
            <a:normAutofit fontScale="90000"/>
          </a:bodyPr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資料分析相關的工作職稱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scope3.png (1118×362)">
            <a:extLst>
              <a:ext uri="{FF2B5EF4-FFF2-40B4-BE49-F238E27FC236}">
                <a16:creationId xmlns:a16="http://schemas.microsoft.com/office/drawing/2014/main" id="{FC0CB41A-3215-4164-8BB0-690737531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" y="3897313"/>
            <a:ext cx="9144000" cy="2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91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16824" cy="2880320"/>
          </a:xfrm>
        </p:spPr>
        <p:txBody>
          <a:bodyPr vert="horz" rtlCol="0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altLang="zh-CN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年來自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一位經管系學姐回報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去業界工作的感受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7600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B5CDE98-D669-2460-F32C-659BD4F39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3" y="1600200"/>
            <a:ext cx="4227299" cy="5121275"/>
          </a:xfrm>
        </p:spPr>
        <p:txBody>
          <a:bodyPr>
            <a:normAutofit/>
          </a:bodyPr>
          <a:lstStyle/>
          <a:p>
            <a:r>
              <a:rPr lang="zh-CN" altLang="en-US" sz="4000" b="1" dirty="0"/>
              <a:t>業界資訊公司</a:t>
            </a:r>
            <a:endParaRPr lang="en-US" altLang="zh-CN" sz="4000" b="1" dirty="0"/>
          </a:p>
          <a:p>
            <a:r>
              <a:rPr lang="zh-CN" altLang="en-US" sz="4000" b="1" dirty="0"/>
              <a:t>主動找經管系學生去工作</a:t>
            </a:r>
            <a:endParaRPr lang="zh-TW" altLang="en-US" sz="40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9651CD9-0CEE-74C7-A586-F2C3E7C71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071" y="0"/>
            <a:ext cx="3937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6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7E75FD4-D982-2FCA-5616-37A982DF1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A70E471-8816-B355-CA1F-97690173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56320"/>
          </a:xfrm>
        </p:spPr>
        <p:txBody>
          <a:bodyPr>
            <a:normAutofit fontScale="90000"/>
          </a:bodyPr>
          <a:lstStyle/>
          <a:p>
            <a:pPr marL="0" indent="0" algn="ctr"/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經管系大四生回報去業界工作的感受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61C398D-845E-2FEF-7A75-1A25BBC5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24" y="1052736"/>
            <a:ext cx="8780952" cy="565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6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15108E4-48BC-A64D-CFED-A596DD37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5105400"/>
          </a:xfrm>
        </p:spPr>
        <p:txBody>
          <a:bodyPr/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由於這家公司近期需要將公司系統和產品的所有圖表改用</a:t>
            </a:r>
            <a:r>
              <a:rPr lang="en-US" altLang="zh-TW" sz="3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呈現，因此我主要工作會用到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將資料表做整理，再用</a:t>
            </a:r>
            <a:r>
              <a:rPr lang="en-US" altLang="zh-TW" sz="36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做視覺化</a:t>
            </a:r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在受訓的過程中，有上到</a:t>
            </a:r>
            <a:r>
              <a:rPr lang="en-US" altLang="zh-CN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、網頁設計、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MVC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等等的前端和後端課程</a:t>
            </a:r>
            <a:r>
              <a:rPr lang="en-US" altLang="zh-CN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A64E62-C474-4E99-2F0B-9DBCCC0D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經管系學姐回報去業界工作的感受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519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15108E4-48BC-A64D-CFED-A596DD37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5105400"/>
          </a:xfrm>
        </p:spPr>
        <p:txBody>
          <a:bodyPr>
            <a:normAutofit lnSpcReduction="10000"/>
          </a:bodyPr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之前在老師教授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課程裡，打下了扎實的實作基礎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，所以能夠快速完成受訓期間的作業要求，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然後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更高階的用法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像是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stored procedure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T-SQL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等等的用法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，多花點時間也能看懂並寫出來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受訓期間，我的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主管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認為我學的很快，也</a:t>
            </a:r>
            <a:r>
              <a:rPr lang="zh-TW" alt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認為我的</a:t>
            </a:r>
            <a:r>
              <a:rPr lang="en-US" altLang="zh-TW" sz="3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程度和其他資管、資工的學生可以相比</a:t>
            </a:r>
            <a:endParaRPr lang="en-US" altLang="zh-TW" sz="3600" b="1" dirty="0">
              <a:solidFill>
                <a:srgbClr val="C00000"/>
              </a:solidFill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A64E62-C474-4E99-2F0B-9DBCCC0D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經管系學姐回報去業界工作的感受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3286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15108E4-48BC-A64D-CFED-A596DD37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5105400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已經進到部門工作兩個禮拜，大致上就是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看前人所寫好的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函式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他們會將一個要求封裝成一個函式，要使用時在呼叫函式就好，然而那些函式真的很複雜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...)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了解結構後自己再整理出需要的資料表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並到</a:t>
            </a:r>
            <a:r>
              <a:rPr lang="en-US" altLang="zh-TW" sz="36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PowerBI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做關聯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、處理和視覺化呈現，最後將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圖表透過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MVC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嵌到公司的網頁</a:t>
            </a:r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我覺得最有挑戰性的，就是看前人寫的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，因為他們用的寫法讓我看得很吃力，也讓我覺得很複雜，</a:t>
            </a:r>
            <a:r>
              <a:rPr lang="zh-TW" alt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不過當我釐清後，就豁然開朗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A64E62-C474-4E99-2F0B-9DBCCC0D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經管系學姐回報去業界工作的感受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556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15108E4-48BC-A64D-CFED-A596DD37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5105400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而這份實習讓我有所體悟，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老師之前的</a:t>
            </a:r>
            <a:r>
              <a:rPr lang="en-US" altLang="zh-TW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課程真的為我打下很扎實的基礎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3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讓我有內化的能力並產出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3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而實務上雖然有更多艱深的用法，但這若沒有之前的基礎也是無法學習的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A64E62-C474-4E99-2F0B-9DBCCC0D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經管系學姐回報去業界工作的感受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03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D91EEB4-1E96-9BCF-DF80-435860BF8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這是大四</a:t>
            </a:r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年半前開始修我的每一門資訊應用相關課程，每學期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都有修，推甄上中央大學企管研究所</a:t>
            </a:r>
          </a:p>
          <a:p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業界主管認為她的程度可以與資工系的學生相比，</a:t>
            </a:r>
          </a:p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這是對她的最大肯定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187347A-8B4C-28BD-79C0-CADF8736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結論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5171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16824" cy="2592288"/>
          </a:xfrm>
        </p:spPr>
        <p:txBody>
          <a:bodyPr vert="horz" rtlCol="0">
            <a:normAutofit fontScale="92500"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資訊軟體工具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相關實作課程規劃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3110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3B944D2-8C85-4B93-8B2D-5638A2E5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5105400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CN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下：</a:t>
            </a:r>
            <a:r>
              <a:rPr lang="en-US" altLang="zh-CN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</a:t>
            </a:r>
            <a:endParaRPr lang="en-US" altLang="zh-CN" sz="58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5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CN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二上</a:t>
            </a:r>
            <a:r>
              <a:rPr lang="zh-TW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資料庫管理與應用</a:t>
            </a:r>
            <a:endParaRPr lang="en-US" altLang="zh-CN" sz="58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</a:t>
            </a:r>
            <a:r>
              <a:rPr lang="en-US" altLang="zh-CN" sz="51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Mysql</a:t>
            </a:r>
            <a:r>
              <a:rPr lang="zh-CN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資料庫，與相關數據分析</a:t>
            </a:r>
            <a:endParaRPr lang="en-US" altLang="zh-CN" sz="5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5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大二下：人工智慧在經營管理應用</a:t>
            </a:r>
          </a:p>
          <a:p>
            <a:pPr lvl="1"/>
            <a:r>
              <a:rPr lang="zh-TW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</a:t>
            </a:r>
            <a:r>
              <a:rPr lang="en-US" altLang="zh-TW" sz="5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5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商業數據分析</a:t>
            </a:r>
            <a:endParaRPr lang="en-US" altLang="zh-TW" sz="5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5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大三上：人工智慧在商情預測應用</a:t>
            </a:r>
          </a:p>
          <a:p>
            <a:pPr lvl="1"/>
            <a:r>
              <a:rPr lang="zh-TW" altLang="en-US" sz="5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</a:t>
            </a:r>
            <a:r>
              <a:rPr lang="en-US" altLang="zh-TW" sz="5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5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機器學習，深度學習，商情預測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727EB79-FE31-4C8F-9F87-EFD2D712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ctr" rtl="0" eaLnBrk="1" latinLnBrk="0" hangingPunct="1">
              <a:spcBef>
                <a:spcPts val="1608"/>
              </a:spcBef>
              <a:spcAft>
                <a:spcPts val="400"/>
              </a:spcAft>
            </a:pPr>
            <a:r>
              <a:rPr lang="zh-CN" altLang="zh-TW" sz="4000" b="1" kern="1200" dirty="0">
                <a:solidFill>
                  <a:srgbClr val="4F27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資訊軟體工具</a:t>
            </a:r>
            <a:br>
              <a:rPr lang="zh-TW" altLang="zh-TW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zh-TW" sz="4000" b="1" kern="1200" dirty="0">
                <a:solidFill>
                  <a:srgbClr val="4F27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相關實作課程規劃</a:t>
            </a:r>
            <a:endParaRPr lang="zh-TW" altLang="en-US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3541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3B944D2-8C85-4B93-8B2D-5638A2E5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507288" cy="4997152"/>
          </a:xfrm>
        </p:spPr>
        <p:txBody>
          <a:bodyPr>
            <a:normAutofit lnSpcReduction="10000"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en-US" altLang="zh-TW" sz="3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大三下：網際網路行銷</a:t>
            </a: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SEO</a:t>
            </a:r>
            <a:r>
              <a:rPr lang="zh-CN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網站流量分析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客戶行為追蹤</a:t>
            </a:r>
            <a:r>
              <a:rPr lang="zh-CN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與代碼管理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GTM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工具快速開發內容行銷廣告影片</a:t>
            </a:r>
          </a:p>
          <a:p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en-US" altLang="zh-TW" sz="3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大四上：客戶關係管理</a:t>
            </a: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其中，大四上的客戶關係管理，是老師教的課程裡面最重要的一門課，非常非常重要</a:t>
            </a: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它也是實作課程，會教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SPSS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軟體來做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精準行銷，精準產品開發，精準服務，精準市場定位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727EB79-FE31-4C8F-9F87-EFD2D712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algn="ctr" rtl="0" eaLnBrk="1" latinLnBrk="0" hangingPunct="1">
              <a:spcBef>
                <a:spcPts val="1608"/>
              </a:spcBef>
              <a:spcAft>
                <a:spcPts val="400"/>
              </a:spcAft>
            </a:pPr>
            <a:r>
              <a:rPr lang="zh-CN" altLang="zh-TW" sz="4000" b="1" kern="1200" dirty="0">
                <a:solidFill>
                  <a:srgbClr val="4F27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資訊軟體工具</a:t>
            </a:r>
            <a:br>
              <a:rPr lang="zh-TW" altLang="zh-TW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zh-TW" sz="4000" b="1" kern="1200" dirty="0">
                <a:solidFill>
                  <a:srgbClr val="4F27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相關實作課程規劃</a:t>
            </a:r>
            <a:endParaRPr lang="zh-TW" altLang="en-US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278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3B944D2-8C85-4B93-8B2D-5638A2E5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579296" cy="499715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en-US" altLang="zh-TW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大四上：客戶關係管理</a:t>
            </a:r>
          </a:p>
          <a:p>
            <a:r>
              <a:rPr lang="en-US" altLang="zh-CN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en-US" altLang="zh-TW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大三下：網際網路行銷</a:t>
            </a:r>
            <a:endParaRPr lang="en-US" altLang="zh-TW" sz="35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大二下：人工智慧在經營管理應用</a:t>
            </a:r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(Pandas</a:t>
            </a:r>
            <a:r>
              <a:rPr lang="zh-TW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商業數據分析</a:t>
            </a:r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CN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CN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二上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資料庫管理與應用</a:t>
            </a:r>
            <a:r>
              <a:rPr lang="en-US" altLang="zh-CN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CN" sz="35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Mysql</a:t>
            </a:r>
            <a:r>
              <a:rPr lang="zh-CN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資料庫分析</a:t>
            </a:r>
            <a:r>
              <a:rPr lang="en-US" altLang="zh-CN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CN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大三上：人工智慧在商情預測應用</a:t>
            </a:r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(AI</a:t>
            </a:r>
            <a:r>
              <a:rPr lang="zh-TW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機器學習，深度學習，商情預測</a:t>
            </a:r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5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CN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下：</a:t>
            </a:r>
            <a:r>
              <a:rPr lang="en-US" altLang="zh-CN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</a:t>
            </a:r>
            <a:endParaRPr lang="en-US" altLang="zh-CN" sz="35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600" dirty="0"/>
          </a:p>
          <a:p>
            <a:endParaRPr lang="zh-TW" altLang="en-US" dirty="0">
              <a:solidFill>
                <a:srgbClr val="7030A0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727EB79-FE31-4C8F-9F87-EFD2D712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 rtl="0" eaLnBrk="1" latinLnBrk="0" hangingPunct="1">
              <a:spcBef>
                <a:spcPts val="1608"/>
              </a:spcBef>
              <a:spcAft>
                <a:spcPts val="400"/>
              </a:spcAft>
            </a:pPr>
            <a:r>
              <a:rPr lang="zh-CN" altLang="en-US" sz="4800" b="1" kern="1200" dirty="0">
                <a:solidFill>
                  <a:srgbClr val="4F271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課程</a:t>
            </a:r>
            <a:r>
              <a:rPr lang="en-US" altLang="zh-CN" sz="4800" b="1" kern="1200" dirty="0">
                <a:solidFill>
                  <a:srgbClr val="4F271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CP</a:t>
            </a:r>
            <a:r>
              <a:rPr lang="zh-CN" altLang="en-US" sz="4800" b="1" kern="1200" dirty="0">
                <a:solidFill>
                  <a:srgbClr val="4F271C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價值排行</a:t>
            </a:r>
            <a:endParaRPr lang="zh-TW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80067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3B944D2-8C85-4B93-8B2D-5638A2E5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579296" cy="499715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與全國企管</a:t>
            </a:r>
            <a:r>
              <a:rPr lang="zh-CN" altLang="en-US" sz="4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相關科系比較</a:t>
            </a:r>
            <a:endParaRPr lang="en-US" altLang="zh-CN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今年的研究所報考人數</a:t>
            </a:r>
            <a:endParaRPr lang="en-US" altLang="zh-CN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系的聲譽與你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solidFill>
                <a:srgbClr val="7030A0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727EB79-FE31-4C8F-9F87-EFD2D7123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 rtl="0" eaLnBrk="1" latinLnBrk="0" hangingPunct="1">
              <a:spcBef>
                <a:spcPts val="1608"/>
              </a:spcBef>
              <a:spcAft>
                <a:spcPts val="400"/>
              </a:spcAft>
            </a:pPr>
            <a:r>
              <a:rPr lang="zh-CN" altLang="en-US" sz="5400" b="1" dirty="0">
                <a:solidFill>
                  <a:srgbClr val="4F27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資訊應用</a:t>
            </a:r>
            <a:r>
              <a:rPr lang="zh-CN" altLang="en-US" sz="5400" b="1" kern="1200" dirty="0">
                <a:solidFill>
                  <a:srgbClr val="4F27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課程</a:t>
            </a:r>
            <a:endParaRPr lang="zh-TW" altLang="en-US" sz="1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6235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916832"/>
            <a:ext cx="7416824" cy="2592288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這門課的價值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1356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2889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85000" lnSpcReduction="1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8000" b="1" dirty="0"/>
              <a:t>才能夠活用</a:t>
            </a:r>
            <a:r>
              <a:rPr lang="en-US" altLang="zh-CN" sz="8000" b="1" dirty="0" err="1"/>
              <a:t>ChatGPT</a:t>
            </a:r>
            <a:r>
              <a:rPr lang="zh-CN" altLang="en-US" sz="8000" b="1" dirty="0"/>
              <a:t>的數據分析功能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1944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en-US" altLang="zh-CN" sz="5400" b="1" dirty="0">
                <a:effectLst/>
              </a:rPr>
              <a:t>/Gemini</a:t>
            </a:r>
            <a:r>
              <a:rPr lang="zh-CN" altLang="en-US" sz="5400" b="1" dirty="0">
                <a:effectLst/>
              </a:rPr>
              <a:t>的三大功能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1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生成文本（對話，回答問題）</a:t>
            </a:r>
            <a:endParaRPr lang="en-US" altLang="zh-TW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2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生成圖片</a:t>
            </a:r>
            <a:endParaRPr lang="en-US" altLang="zh-CN" sz="40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3</a:t>
            </a:r>
            <a:r>
              <a:rPr lang="zh-CN" altLang="en-US" sz="4000" b="1" dirty="0">
                <a:effectLst/>
              </a:rPr>
              <a:t>：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數據分析（上傳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excel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數據，</a:t>
            </a:r>
            <a:r>
              <a:rPr lang="en-US" altLang="zh-CN" sz="4000" b="1" dirty="0" err="1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chatpgt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可以幫你分析數據，自動畫圖視覺化，並給你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的程式碼）</a:t>
            </a:r>
            <a:endParaRPr lang="en-US" altLang="zh-CN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876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zh-CN" altLang="en-US" sz="5400" b="1" dirty="0">
                <a:effectLst/>
              </a:rPr>
              <a:t>幫你數據分析的</a:t>
            </a:r>
            <a:r>
              <a:rPr lang="zh-CN" altLang="en-US" sz="5400" b="1" dirty="0">
                <a:solidFill>
                  <a:srgbClr val="7030A0"/>
                </a:solidFill>
                <a:effectLst/>
              </a:rPr>
              <a:t>程式碼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pPr lvl="1"/>
            <a:r>
              <a:rPr lang="zh-CN" altLang="en-US" sz="5000" b="1" dirty="0">
                <a:effectLst/>
              </a:rPr>
              <a:t>就是</a:t>
            </a:r>
            <a:r>
              <a:rPr lang="en-US" altLang="zh-CN" sz="9600" b="1" dirty="0">
                <a:solidFill>
                  <a:srgbClr val="7030A0"/>
                </a:solidFill>
                <a:effectLst/>
              </a:rPr>
              <a:t>pandas</a:t>
            </a:r>
            <a:endParaRPr lang="en-US" altLang="zh-TW" sz="9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045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7D364C8-A345-49DC-8E2F-5FCAC91C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A8D5755-B98C-4A28-9D6A-53C8E525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C2C62F-5F61-43DF-8816-E8734D53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" y="-228020"/>
            <a:ext cx="7869560" cy="70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79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4D490ED-9193-4104-8656-CADE4582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52400"/>
            <a:ext cx="8496944" cy="959229"/>
          </a:xfrm>
        </p:spPr>
        <p:txBody>
          <a:bodyPr>
            <a:normAutofit/>
          </a:bodyPr>
          <a:lstStyle/>
          <a:p>
            <a:r>
              <a:rPr lang="zh-CN" altLang="en-US" b="1" dirty="0"/>
              <a:t>不同性別的銷售數量，銷售金額</a:t>
            </a:r>
            <a:endParaRPr lang="zh-TW" altLang="en-US" b="1" dirty="0"/>
          </a:p>
        </p:txBody>
      </p:sp>
      <p:pic>
        <p:nvPicPr>
          <p:cNvPr id="21506" name="Picture 2" descr="https://files.oaiusercontent.com/file-GCXfF1PnHy5TmPyUrSoWjC6d?se=2023-10-24T10%3A27%3A05Z&amp;sp=r&amp;sv=2021-08-06&amp;sr=b&amp;rscc=max-age%3D3599%2C%20immutable&amp;rscd=attachment%3B%20filename%3D2059eecb-0b3c-47f4-8fa3-79350bb3ee28&amp;sig=nCP5szoQAVtkqRLmhpd0SyrBb/1kVEGno3sniPg19gQ%3D">
            <a:extLst>
              <a:ext uri="{FF2B5EF4-FFF2-40B4-BE49-F238E27FC236}">
                <a16:creationId xmlns:a16="http://schemas.microsoft.com/office/drawing/2014/main" id="{3F0C5CAB-1C10-4C77-ABA3-75014C1B18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11629"/>
            <a:ext cx="8928992" cy="559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97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各個業務單位的總銷售金額</a:t>
            </a:r>
            <a:b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和總銷售數量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196" name="Picture 4" descr="https://files.oaiusercontent.com/file-TYri7LtDm3B6pkXWArK0vhiD?se=2023-10-24T10%3A28%3A28Z&amp;sp=r&amp;sv=2021-08-06&amp;sr=b&amp;rscc=max-age%3D3599%2C%20immutable&amp;rscd=attachment%3B%20filename%3D72286061-d529-423b-abe1-bbe07c6ae182&amp;sig=W1PNLKK0b0pDboAsO1UvQ9D9uD2/4UTxjLQnTlIBtWI%3D">
            <a:extLst>
              <a:ext uri="{FF2B5EF4-FFF2-40B4-BE49-F238E27FC236}">
                <a16:creationId xmlns:a16="http://schemas.microsoft.com/office/drawing/2014/main" id="{B54D0FB7-8F6C-4BB7-A1A7-BD1F83AD5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11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18" y="116632"/>
            <a:ext cx="9036496" cy="540296"/>
          </a:xfrm>
        </p:spPr>
        <p:txBody>
          <a:bodyPr>
            <a:no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比較不同性別，不同產品的比較圖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左圖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銷售數量</a:t>
            </a:r>
            <a:r>
              <a:rPr lang="zh-TW" altLang="en-US" sz="2600" dirty="0">
                <a:effectLst/>
              </a:rPr>
              <a:t>。從圖中我們可以看到，在大多數產品類別中，男性和女性業務員的銷售數量相差不大。然而，在銷售手機和平板方面，男性業務員的表現似乎稍好一些。</a:t>
            </a: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右圖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銷售金</a:t>
            </a:r>
            <a:r>
              <a:rPr lang="zh-TW" altLang="en-US" sz="2600" dirty="0">
                <a:effectLst/>
              </a:rPr>
              <a:t>額。這個圖表也顯示了類似的趨勢，男性業務員在銷售手機和平板方面的金額略高。</a:t>
            </a:r>
          </a:p>
          <a:p>
            <a:endParaRPr lang="zh-TW" altLang="en-US" dirty="0"/>
          </a:p>
        </p:txBody>
      </p:sp>
      <p:pic>
        <p:nvPicPr>
          <p:cNvPr id="10248" name="Picture 8" descr="https://files.oaiusercontent.com/file-IAOBhwoGPz97DcYHLYyJQhHT?se=2023-10-24T10%3A29%3A57Z&amp;sp=r&amp;sv=2021-08-06&amp;sr=b&amp;rscc=max-age%3D3599%2C%20immutable&amp;rscd=attachment%3B%20filename%3Da0a85895-b1f7-4eea-971e-f1408d0e367e&amp;sig=EqazOYhArh8Oegg3GOHWMmoo/wQa7nA4u4RC/fyDSjY%3D">
            <a:extLst>
              <a:ext uri="{FF2B5EF4-FFF2-40B4-BE49-F238E27FC236}">
                <a16:creationId xmlns:a16="http://schemas.microsoft.com/office/drawing/2014/main" id="{39F6389C-9229-4753-AE19-02D99E382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" y="675826"/>
            <a:ext cx="8874086" cy="37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87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比較不同業務單位，不同產品的比較圖</a:t>
            </a:r>
          </a:p>
        </p:txBody>
      </p:sp>
      <p:pic>
        <p:nvPicPr>
          <p:cNvPr id="11266" name="Picture 2" descr="https://files.oaiusercontent.com/file-cSzPZwYc60LqIsLEVZsFjKKU?se=2023-10-23T14%3A44%3A19Z&amp;sp=r&amp;sv=2021-08-06&amp;sr=b&amp;rscc=max-age%3D3599%2C%20immutable&amp;rscd=attachment%3B%20filename%3D71663b08-d6c6-4111-ab27-b5fdd8fb29d8&amp;sig=sA5xn7NwnNsF/E3Eh%2BzfCtC5MAWQPJ%2BnKa9stXX%2BNeE%3D">
            <a:extLst>
              <a:ext uri="{FF2B5EF4-FFF2-40B4-BE49-F238E27FC236}">
                <a16:creationId xmlns:a16="http://schemas.microsoft.com/office/drawing/2014/main" id="{BAFEBF0A-4A96-4E38-8545-0A9E9CC2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52" y="1399669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99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比較不同業務單位，不同產品的比較圖</a:t>
            </a:r>
          </a:p>
        </p:txBody>
      </p:sp>
      <p:pic>
        <p:nvPicPr>
          <p:cNvPr id="24578" name="Picture 2" descr="https://files.oaiusercontent.com/file-g1WKCfbYhNQ2fZcITxJLH4FU?se=2023-10-24T10%3A32%3A07Z&amp;sp=r&amp;sv=2021-08-06&amp;sr=b&amp;rscc=max-age%3D3599%2C%20immutable&amp;rscd=attachment%3B%20filename%3Da61fa4fd-038e-4195-a4aa-77a39c50a474&amp;sig=/kveL1M3eZcir3XrZXswfzEuqx9eqhhM6jCX09IDcpk%3D">
            <a:extLst>
              <a:ext uri="{FF2B5EF4-FFF2-40B4-BE49-F238E27FC236}">
                <a16:creationId xmlns:a16="http://schemas.microsoft.com/office/drawing/2014/main" id="{EC96D790-1C9E-4908-83CA-16E4E19F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21" y="1411740"/>
            <a:ext cx="9144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15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比較不同業務員，不同產品的比較圖</a:t>
            </a:r>
          </a:p>
        </p:txBody>
      </p:sp>
      <p:pic>
        <p:nvPicPr>
          <p:cNvPr id="12290" name="Picture 2" descr="https://files.oaiusercontent.com/file-M80EIVoDlTyZD5v0gzvn39tK?se=2023-10-23T14%3A46%3A04Z&amp;sp=r&amp;sv=2021-08-06&amp;sr=b&amp;rscc=max-age%3D3599%2C%20immutable&amp;rscd=attachment%3B%20filename%3D36629a09-9400-44c9-a783-cf3be4462672&amp;sig=hTN51MYApsuJoGrEIiZjH2hlQJT3bBsonKtqGOTypog%3D">
            <a:extLst>
              <a:ext uri="{FF2B5EF4-FFF2-40B4-BE49-F238E27FC236}">
                <a16:creationId xmlns:a16="http://schemas.microsoft.com/office/drawing/2014/main" id="{AEE1D811-78E5-43F0-B5E5-08BF735C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9629"/>
            <a:ext cx="9144000" cy="530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58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比較不同業務員，不同產品的比較圖</a:t>
            </a:r>
          </a:p>
        </p:txBody>
      </p:sp>
      <p:pic>
        <p:nvPicPr>
          <p:cNvPr id="23554" name="Picture 2" descr="https://files.oaiusercontent.com/file-KzgOthU1FnbZMLWVayr55lye?se=2023-10-24T10%3A34%3A06Z&amp;sp=r&amp;sv=2021-08-06&amp;sr=b&amp;rscc=max-age%3D3599%2C%20immutable&amp;rscd=attachment%3B%20filename%3D1521dda4-ba8d-4a9f-9bc6-9666d7dbfa89&amp;sig=3wAwsSoOSXeXpWPXnQcEQ%2BXZFcnV4TERUInqH/10Ddo%3D">
            <a:extLst>
              <a:ext uri="{FF2B5EF4-FFF2-40B4-BE49-F238E27FC236}">
                <a16:creationId xmlns:a16="http://schemas.microsoft.com/office/drawing/2014/main" id="{9D5FE7AB-F738-4444-B4CF-947F89CE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76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077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F980265-D5DF-4785-A9DC-9DC1480F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6C64169-8C78-43E9-9911-D348943E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比較，分析不同業務單位，不同性別的銷售金額</a:t>
            </a:r>
          </a:p>
        </p:txBody>
      </p:sp>
      <p:pic>
        <p:nvPicPr>
          <p:cNvPr id="13314" name="Picture 2" descr="https://files.oaiusercontent.com/file-clvvOmNl7bTZYh70IKkYEkAi?se=2023-10-23T14%3A51%3A06Z&amp;sp=r&amp;sv=2021-08-06&amp;sr=b&amp;rscc=max-age%3D3599%2C%20immutable&amp;rscd=attachment%3B%20filename%3D58f010fe-c015-495b-9c08-3c39d7cae168&amp;sig=Ozj%2Bb0X2VWFLtFufKcZCAEKQuOEKlxN9rOyV84dfyeQ%3D">
            <a:extLst>
              <a:ext uri="{FF2B5EF4-FFF2-40B4-BE49-F238E27FC236}">
                <a16:creationId xmlns:a16="http://schemas.microsoft.com/office/drawing/2014/main" id="{9345E019-54E7-4DEC-A91F-E97581EF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374" y="1376542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21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是最新</a:t>
            </a:r>
            <a:r>
              <a:rPr lang="en-US" altLang="zh-CN" sz="8000" b="1" dirty="0"/>
              <a:t>/</a:t>
            </a:r>
            <a:r>
              <a:rPr lang="zh-CN" altLang="en-US" sz="8000" b="1" dirty="0"/>
              <a:t>最熱門的量化分析工具的基礎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0560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商管的量化分析</a:t>
            </a:r>
            <a:r>
              <a:rPr lang="zh-CN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endParaRPr lang="en-US" altLang="zh-TW" sz="6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3AE1C2-D9E5-42E4-8658-04119691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8" y="1633166"/>
            <a:ext cx="9144000" cy="525780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1.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早期的工具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軟體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)</a:t>
            </a: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SPSS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SAS</a:t>
            </a: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2.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近年來流行的工具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3900" b="1" dirty="0">
                <a:effectLst/>
              </a:rPr>
              <a:t>數據分析，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R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語言</a:t>
            </a:r>
            <a:r>
              <a:rPr lang="zh-CN" altLang="en-US" sz="3900" b="1" dirty="0">
                <a:effectLst/>
              </a:rPr>
              <a:t>數據分析</a:t>
            </a:r>
            <a:endParaRPr lang="en-US" altLang="zh-CN" sz="3900" b="1" dirty="0">
              <a:effectLst/>
            </a:endParaRP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3. 2023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年開始熱門起來的最新工具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  <a:highlight>
                  <a:srgbClr val="FFFF00"/>
                </a:highlight>
              </a:rPr>
              <a:t>生成式</a:t>
            </a:r>
            <a:r>
              <a:rPr lang="en-US" altLang="zh-CN" sz="3600" b="1" dirty="0">
                <a:effectLst/>
                <a:highlight>
                  <a:srgbClr val="FFFF00"/>
                </a:highlight>
              </a:rPr>
              <a:t>AI</a:t>
            </a:r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 err="1">
                <a:effectLst/>
              </a:rPr>
              <a:t>ChatGPT</a:t>
            </a:r>
            <a:r>
              <a:rPr lang="zh-CN" altLang="en-US" sz="3600" b="1" dirty="0">
                <a:effectLst/>
              </a:rPr>
              <a:t>，</a:t>
            </a:r>
            <a:r>
              <a:rPr lang="en-US" altLang="zh-CN" sz="3600" b="1" dirty="0" err="1">
                <a:effectLst/>
              </a:rPr>
              <a:t>Gemeni</a:t>
            </a:r>
            <a:r>
              <a:rPr lang="en-US" altLang="zh-CN" sz="3600" b="1" dirty="0">
                <a:effectLst/>
              </a:rPr>
              <a:t>/Bard</a:t>
            </a:r>
            <a:r>
              <a:rPr lang="zh-CN" altLang="en-US" sz="3600" b="1" dirty="0">
                <a:effectLst/>
              </a:rPr>
              <a:t>，</a:t>
            </a:r>
            <a:r>
              <a:rPr lang="en-US" altLang="zh-CN" sz="3600" b="1" dirty="0">
                <a:effectLst/>
              </a:rPr>
              <a:t>claude2</a:t>
            </a:r>
            <a:r>
              <a:rPr lang="zh-CN" altLang="en-US" sz="3600" b="1" dirty="0">
                <a:effectLst/>
              </a:rPr>
              <a:t>，文心一言）</a:t>
            </a:r>
            <a:endParaRPr lang="en-US" altLang="zh-TW" sz="3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8732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3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br>
              <a:rPr lang="en-US" altLang="zh-CN" sz="2700" b="1" dirty="0">
                <a:effectLst/>
              </a:rPr>
            </a:b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br>
              <a:rPr lang="en-US" altLang="zh-CN" sz="2700" b="1" dirty="0">
                <a:effectLst/>
              </a:rPr>
            </a:b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5122" name="Picture 2" descr="https://acupun.site/lecture/pandas/pic/scope6.png">
            <a:extLst>
              <a:ext uri="{FF2B5EF4-FFF2-40B4-BE49-F238E27FC236}">
                <a16:creationId xmlns:a16="http://schemas.microsoft.com/office/drawing/2014/main" id="{FEEA9FCB-20C2-474F-9C49-4AB31D22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73" y="1556792"/>
            <a:ext cx="7862767" cy="530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30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49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6146" name="Picture 2" descr="https://acupun.site/lecture/pandas/pic/scope4.png">
            <a:extLst>
              <a:ext uri="{FF2B5EF4-FFF2-40B4-BE49-F238E27FC236}">
                <a16:creationId xmlns:a16="http://schemas.microsoft.com/office/drawing/2014/main" id="{13775DDE-ADC7-4E83-A565-2528B914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1930"/>
            <a:ext cx="8229600" cy="548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9128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/>
              <a:t>3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是進入</a:t>
            </a:r>
            <a:r>
              <a:rPr lang="en-US" altLang="zh-CN" sz="8000" b="1" dirty="0"/>
              <a:t>AI</a:t>
            </a:r>
            <a:r>
              <a:rPr lang="zh-CN" altLang="en-US" sz="8000" b="1" dirty="0"/>
              <a:t>人工智慧程式分析的基礎語言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1901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FCEBE15-2AF3-4E9A-894E-EFD6B26F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5105400"/>
          </a:xfrm>
        </p:spPr>
        <p:txBody>
          <a:bodyPr/>
          <a:lstStyle/>
          <a:p>
            <a:r>
              <a:rPr lang="zh-CN" altLang="en-US" b="1" dirty="0"/>
              <a:t>用</a:t>
            </a:r>
            <a:r>
              <a:rPr lang="en-US" altLang="zh-CN" b="1" dirty="0"/>
              <a:t>python</a:t>
            </a:r>
            <a:r>
              <a:rPr lang="zh-CN" altLang="en-US" b="1" dirty="0"/>
              <a:t>的</a:t>
            </a:r>
            <a:r>
              <a:rPr lang="zh-TW" altLang="en-US" b="1" dirty="0"/>
              <a:t>用</a:t>
            </a:r>
            <a:r>
              <a:rPr lang="en-US" altLang="zh-TW" b="1" dirty="0" err="1"/>
              <a:t>sklearn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隨機森林法</a:t>
            </a:r>
            <a:r>
              <a:rPr lang="en-US" altLang="zh-TW" b="1" dirty="0"/>
              <a:t>』</a:t>
            </a:r>
            <a:r>
              <a:rPr lang="zh-TW" altLang="en-US" b="1" dirty="0"/>
              <a:t>模型來預測</a:t>
            </a:r>
            <a:r>
              <a:rPr lang="en-US" altLang="zh-TW" b="1" dirty="0"/>
              <a:t>『</a:t>
            </a:r>
            <a:r>
              <a:rPr lang="zh-TW" altLang="en-US" b="1" dirty="0"/>
              <a:t>屬於鳶尾花朵的品種</a:t>
            </a:r>
            <a:r>
              <a:rPr lang="en-US" altLang="zh-TW" b="1" dirty="0"/>
              <a:t>』</a:t>
            </a:r>
          </a:p>
          <a:p>
            <a:pPr lvl="1"/>
            <a:r>
              <a:rPr lang="en-US" altLang="zh-TW" dirty="0">
                <a:hlinkClick r:id="rId2"/>
              </a:rPr>
              <a:t>https://colab.research.google.com/drive/1OA5RY5QL8lt0FlAxcGM3tfnhP0BKew8I?usp=sharing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b="1" dirty="0"/>
              <a:t>用</a:t>
            </a:r>
            <a:r>
              <a:rPr lang="en-US" altLang="zh-TW" b="1" dirty="0"/>
              <a:t>『</a:t>
            </a:r>
            <a:r>
              <a:rPr lang="zh-TW" altLang="en-US" b="1" dirty="0"/>
              <a:t>深度學習的</a:t>
            </a:r>
            <a:r>
              <a:rPr lang="en-US" altLang="zh-TW" b="1" dirty="0" err="1"/>
              <a:t>keras</a:t>
            </a:r>
            <a:r>
              <a:rPr lang="en-US" altLang="zh-TW" b="1" dirty="0"/>
              <a:t>』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類神經網路</a:t>
            </a:r>
            <a:r>
              <a:rPr lang="en-US" altLang="zh-TW" b="1" dirty="0"/>
              <a:t>』</a:t>
            </a:r>
            <a:r>
              <a:rPr lang="zh-TW" altLang="en-US" b="1" dirty="0"/>
              <a:t>，預測患者是否患有糖尿病</a:t>
            </a:r>
            <a:endParaRPr lang="en-US" altLang="zh-TW" b="1" dirty="0"/>
          </a:p>
          <a:p>
            <a:pPr lvl="1"/>
            <a:r>
              <a:rPr lang="en-US" altLang="zh-TW" dirty="0">
                <a:hlinkClick r:id="rId3"/>
              </a:rPr>
              <a:t>https://colab.research.google.com/drive/1tin1NkVeV6G0owFqjUML0UvR-EhJa_mc?usp=sharing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129AB10-945F-49A0-8E40-5AFE7224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b="1" dirty="0"/>
              <a:t>Pandas</a:t>
            </a:r>
            <a:r>
              <a:rPr lang="zh-CN" altLang="en-US" b="1" dirty="0"/>
              <a:t>是進入</a:t>
            </a:r>
            <a:r>
              <a:rPr lang="en-US" altLang="zh-CN" b="1" dirty="0"/>
              <a:t>AI</a:t>
            </a:r>
            <a:r>
              <a:rPr lang="zh-CN" altLang="en-US" b="1" dirty="0"/>
              <a:t>人工智慧程式分析的基礎語言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8022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Python/Pandas</a:t>
            </a:r>
            <a:r>
              <a:rPr lang="zh-CN" altLang="en-US" sz="8000" b="1" dirty="0"/>
              <a:t>是目前求職市場目前排行前三的程式語言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9306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6DE1D-EA43-4909-BFCB-F96D0FB27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362"/>
            <a:ext cx="9111168" cy="5425495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E0C39D6-4333-48B9-AD26-8586B0D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104</a:t>
            </a:r>
            <a:r>
              <a:rPr lang="zh-CN" altLang="en-US" dirty="0"/>
              <a:t>人力銀行調查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59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71DF42-EFB5-490C-B085-9F53239ED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104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人力銀行上搜尋，篩選月薪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萬元以上、</a:t>
            </a:r>
            <a:endParaRPr lang="en-US" altLang="zh-TW" sz="4400" b="1" i="0" dirty="0">
              <a:solidFill>
                <a:srgbClr val="7030A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最多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的是：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前端網頁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的職缺有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1300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筆；</a:t>
            </a:r>
            <a:endParaRPr lang="en-US" altLang="zh-TW" sz="4400" b="1" i="0" dirty="0">
              <a:solidFill>
                <a:srgbClr val="7030A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其次是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C#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，皆有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900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多筆</a:t>
            </a:r>
            <a:endParaRPr lang="zh-TW" altLang="en-US" sz="4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63DEB1A-69F6-4FA0-86C2-CA6B28A0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6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104 </a:t>
            </a:r>
            <a:r>
              <a:rPr lang="zh-TW" altLang="en-US" sz="6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人力銀行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3760942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B1C9A2C-A76A-42F8-A1BB-A62A14230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6018"/>
            <a:ext cx="8496944" cy="5820316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9BA912CF-DFC0-49A3-925E-AF4334FF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13618"/>
          </a:xfrm>
        </p:spPr>
        <p:txBody>
          <a:bodyPr/>
          <a:lstStyle/>
          <a:p>
            <a:r>
              <a:rPr lang="zh-TW" altLang="en-US" dirty="0"/>
              <a:t>台灣</a:t>
            </a:r>
            <a:r>
              <a:rPr lang="en-US" altLang="zh-TW" dirty="0"/>
              <a:t>104</a:t>
            </a:r>
            <a:r>
              <a:rPr lang="zh-TW" altLang="en-US" dirty="0"/>
              <a:t>程式工作職缺與薪水排行</a:t>
            </a:r>
          </a:p>
        </p:txBody>
      </p:sp>
    </p:spTree>
    <p:extLst>
      <p:ext uri="{BB962C8B-B14F-4D97-AF65-F5344CB8AC3E}">
        <p14:creationId xmlns:p14="http://schemas.microsoft.com/office/powerpoint/2010/main" val="318680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C39D6-4333-48B9-AD26-8586B0D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國外企業常用求職平台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LinkedIn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的程式工作職缺排行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DF584B3-4A04-4414-B672-39A62BA85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28800"/>
            <a:ext cx="8784976" cy="5171801"/>
          </a:xfrm>
        </p:spPr>
      </p:pic>
    </p:spTree>
    <p:extLst>
      <p:ext uri="{BB962C8B-B14F-4D97-AF65-F5344CB8AC3E}">
        <p14:creationId xmlns:p14="http://schemas.microsoft.com/office/powerpoint/2010/main" val="832660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E066B01-E1F8-4292-AEE4-0CD8F92F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112" y="1556792"/>
            <a:ext cx="2366888" cy="5148808"/>
          </a:xfrm>
        </p:spPr>
        <p:txBody>
          <a:bodyPr/>
          <a:lstStyle/>
          <a:p>
            <a:r>
              <a:rPr lang="zh-TW" altLang="en-US" dirty="0"/>
              <a:t>程式社群</a:t>
            </a:r>
            <a:r>
              <a:rPr lang="en-US" altLang="zh-TW" sz="2800" dirty="0" err="1"/>
              <a:t>Stackover</a:t>
            </a:r>
            <a:r>
              <a:rPr lang="en-US" altLang="zh-CN" sz="2800" dirty="0"/>
              <a:t>-</a:t>
            </a:r>
            <a:r>
              <a:rPr lang="en-US" altLang="zh-TW" sz="2800" dirty="0"/>
              <a:t>flow</a:t>
            </a:r>
            <a:r>
              <a:rPr lang="en-US" altLang="zh-TW" dirty="0"/>
              <a:t> 2022</a:t>
            </a:r>
            <a:r>
              <a:rPr lang="zh-TW" altLang="en-US" dirty="0"/>
              <a:t>調查工作職缺排行 </a:t>
            </a:r>
          </a:p>
        </p:txBody>
      </p:sp>
      <p:pic>
        <p:nvPicPr>
          <p:cNvPr id="1026" name="Picture 2" descr="0-1.PNG (630×622)">
            <a:extLst>
              <a:ext uri="{FF2B5EF4-FFF2-40B4-BE49-F238E27FC236}">
                <a16:creationId xmlns:a16="http://schemas.microsoft.com/office/drawing/2014/main" id="{418C1030-099B-45EC-8AEA-58409320F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39" y="-8990"/>
            <a:ext cx="6800951" cy="671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929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6851104" cy="5105400"/>
          </a:xfrm>
        </p:spPr>
        <p:txBody>
          <a:bodyPr/>
          <a:lstStyle/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名是：前端網頁</a:t>
            </a:r>
            <a:r>
              <a:rPr lang="en-US" altLang="zh-CN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endParaRPr lang="en-US" altLang="zh-CN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名是：前端網頁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HTML/CSS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名是：資料庫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</a:p>
          <a:p>
            <a:pPr lvl="1"/>
            <a:r>
              <a:rPr lang="en-US" altLang="zh-CN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的姐妹產品</a:t>
            </a:r>
            <a:endParaRPr lang="en-US" altLang="zh-CN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名是：後端網頁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PHP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全球最大的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程式社群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Stackover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flow 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調查工作職缺排行 </a:t>
            </a:r>
          </a:p>
        </p:txBody>
      </p:sp>
      <p:pic>
        <p:nvPicPr>
          <p:cNvPr id="4" name="Picture 2" descr="0-1.PNG (630×622)">
            <a:extLst>
              <a:ext uri="{FF2B5EF4-FFF2-40B4-BE49-F238E27FC236}">
                <a16:creationId xmlns:a16="http://schemas.microsoft.com/office/drawing/2014/main" id="{70ED3F3A-2E68-48A2-A3C5-5656ADDC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564904"/>
            <a:ext cx="4348312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655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668344" cy="3600400"/>
          </a:xfrm>
        </p:spPr>
        <p:txBody>
          <a:bodyPr vert="horz" rtlCol="0">
            <a:normAutofit fontScale="700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全球職場業界職缺需求的第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5+8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名，你都有學到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374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668344" cy="3600400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而且很多課程期末都會帶你做</a:t>
            </a:r>
            <a:r>
              <a:rPr lang="en-US" altLang="zh-CN" sz="9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可以放在履歷上用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作品集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證明實力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7631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資料處理，大數據分析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進階數據分析：人工智慧在商情預測的應用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(4).</a:t>
            </a:r>
            <a:r>
              <a:rPr lang="zh-TW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客戶關係管理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：市場分析，產品定位的精準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SPSS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統計分析</a:t>
            </a:r>
            <a:endParaRPr lang="en-US" altLang="zh-TW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 fontScale="90000"/>
          </a:bodyPr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可以放在履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歷上用作品集證明實力的課程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9896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47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你的履歷表上有業界最需要人才的第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5+8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種技術，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而且你又用作品集證明自己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會增加你的競爭力，幫助你找到好工作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230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3456384"/>
          </a:xfrm>
        </p:spPr>
        <p:txBody>
          <a:bodyPr vert="horz" rtlCol="0">
            <a:normAutofit/>
          </a:bodyPr>
          <a:lstStyle/>
          <a:p>
            <a:r>
              <a:rPr lang="zh-CN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</a:t>
            </a:r>
            <a:r>
              <a:rPr lang="zh-CN" altLang="en-US" sz="6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endParaRPr lang="en-US" altLang="zh-CN" sz="66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都能</a:t>
            </a:r>
            <a:r>
              <a:rPr lang="zh-CN" altLang="en-US" sz="6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90060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effectLst/>
              </a:rPr>
              <a:t>數據分析的</a:t>
            </a:r>
            <a:r>
              <a:rPr lang="en-US" altLang="zh-TW" sz="5400" b="1" dirty="0">
                <a:effectLst/>
              </a:rPr>
              <a:t>3</a:t>
            </a:r>
            <a:r>
              <a:rPr lang="zh-TW" altLang="en-US" sz="5400" b="1" dirty="0">
                <a:effectLst/>
              </a:rPr>
              <a:t>步驟圖：</a:t>
            </a:r>
            <a:endParaRPr lang="en-US" altLang="zh-TW" sz="5400" b="1" dirty="0">
              <a:effectLst/>
            </a:endParaRP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進階數據分析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zh-TW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每個路徑點，都要相對應的工作職缺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1494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3600400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種方法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使用機器學習深度學習來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20378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3240360"/>
          </a:xfrm>
        </p:spPr>
        <p:txBody>
          <a:bodyPr vert="horz" rtlCol="0">
            <a:normAutofit fontScale="550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種方法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CN" sz="9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pandas,SQL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視覺化軟體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也能</a:t>
            </a:r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5696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3384376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的另外一種說法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就是</a:t>
            </a:r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提取商業智能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14515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85000" lnSpcReduction="20000"/>
          </a:bodyPr>
          <a:lstStyle/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相對於</a:t>
            </a:r>
            <a:r>
              <a:rPr lang="en-US" altLang="zh-CN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在商管領域的應用就是</a:t>
            </a:r>
            <a:r>
              <a:rPr lang="en-US" altLang="zh-CN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42771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400800" cy="17526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評分方式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44132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本學期的評分方式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>
            <a:normAutofit lnSpcReduction="10000"/>
          </a:bodyPr>
          <a:lstStyle/>
          <a:p>
            <a:r>
              <a:rPr lang="en-US" altLang="zh-CN" sz="4400" b="1" dirty="0"/>
              <a:t>1.</a:t>
            </a:r>
            <a:r>
              <a:rPr lang="zh-CN" altLang="en-US" sz="4400" b="1" dirty="0"/>
              <a:t>上課分數：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pPr lvl="1"/>
            <a:r>
              <a:rPr lang="zh-CN" altLang="en-US" sz="3600" b="1" dirty="0"/>
              <a:t>上課加分（使用</a:t>
            </a:r>
            <a:r>
              <a:rPr lang="en-US" altLang="zh-CN" sz="3600" b="1" dirty="0" err="1">
                <a:highlight>
                  <a:srgbClr val="FFFF00"/>
                </a:highlight>
              </a:rPr>
              <a:t>Zuvio</a:t>
            </a:r>
            <a:r>
              <a:rPr lang="zh-CN" altLang="en-US" sz="3600" b="1" dirty="0"/>
              <a:t>來加分）</a:t>
            </a:r>
            <a:endParaRPr lang="en-US" altLang="zh-CN" sz="3600" b="1" dirty="0"/>
          </a:p>
          <a:p>
            <a:pPr lvl="1"/>
            <a:r>
              <a:rPr lang="en-US" altLang="zh-CN" sz="3600" b="1" dirty="0"/>
              <a:t>A</a:t>
            </a:r>
            <a:r>
              <a:rPr lang="zh-CN" altLang="en-US" sz="3600" b="1" dirty="0"/>
              <a:t>上課加分</a:t>
            </a:r>
            <a:r>
              <a:rPr lang="en-US" altLang="zh-CN" sz="3600" b="1" dirty="0"/>
              <a:t>50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上課加分</a:t>
            </a:r>
            <a:r>
              <a:rPr lang="en-US" altLang="zh-CN" sz="3600" b="1" dirty="0"/>
              <a:t>30</a:t>
            </a:r>
          </a:p>
          <a:p>
            <a:pPr lvl="1"/>
            <a:r>
              <a:rPr lang="en-US" altLang="zh-CN" sz="3600" b="1" dirty="0"/>
              <a:t>A</a:t>
            </a:r>
            <a:r>
              <a:rPr lang="zh-CN" altLang="en-US" sz="3600" b="1" dirty="0"/>
              <a:t>平時分數</a:t>
            </a:r>
            <a:r>
              <a:rPr lang="en-US" altLang="zh-CN" sz="3600" b="1" dirty="0"/>
              <a:t>100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平時分數</a:t>
            </a:r>
            <a:r>
              <a:rPr lang="en-US" altLang="zh-CN" sz="3600" b="1" dirty="0"/>
              <a:t>60</a:t>
            </a:r>
          </a:p>
          <a:p>
            <a:r>
              <a:rPr lang="en-US" altLang="zh-CN" sz="4400" b="1" dirty="0"/>
              <a:t>2.</a:t>
            </a:r>
            <a:r>
              <a:rPr lang="zh-CN" altLang="en-US" sz="4400" b="1" dirty="0"/>
              <a:t>作業分數：</a:t>
            </a:r>
            <a:r>
              <a:rPr lang="en-US" altLang="zh-CN" sz="4400" b="1" dirty="0">
                <a:solidFill>
                  <a:srgbClr val="C00000"/>
                </a:solidFill>
              </a:rPr>
              <a:t>15%</a:t>
            </a:r>
          </a:p>
          <a:p>
            <a:r>
              <a:rPr lang="en-US" altLang="zh-CN" sz="4400" b="1" dirty="0"/>
              <a:t>3.</a:t>
            </a:r>
            <a:r>
              <a:rPr lang="zh-CN" altLang="en-US" sz="4400" b="1" dirty="0"/>
              <a:t>期中考分數：</a:t>
            </a:r>
            <a:r>
              <a:rPr lang="en-US" altLang="zh-CN" sz="4400" b="1" dirty="0">
                <a:solidFill>
                  <a:srgbClr val="C00000"/>
                </a:solidFill>
              </a:rPr>
              <a:t>30%</a:t>
            </a:r>
          </a:p>
          <a:p>
            <a:r>
              <a:rPr lang="en-US" altLang="zh-CN" sz="4400" b="1" dirty="0"/>
              <a:t>4</a:t>
            </a:r>
            <a:r>
              <a:rPr lang="en-US" altLang="zh-TW" sz="4400" b="1" dirty="0"/>
              <a:t>.</a:t>
            </a:r>
            <a:r>
              <a:rPr lang="zh-CN" altLang="en-US" sz="4400" b="1" dirty="0"/>
              <a:t>期末考分數：</a:t>
            </a:r>
            <a:r>
              <a:rPr lang="en-US" altLang="zh-CN" sz="4400" b="1" dirty="0">
                <a:solidFill>
                  <a:srgbClr val="C00000"/>
                </a:solidFill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42406523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709742" cy="1872208"/>
          </a:xfrm>
        </p:spPr>
        <p:txBody>
          <a:bodyPr vert="horz" rtlCol="0">
            <a:normAutofit fontScale="85000" lnSpcReduction="20000"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教科書，參考書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教材網站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44049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/>
          </a:bodyPr>
          <a:lstStyle/>
          <a:p>
            <a:r>
              <a:rPr lang="zh-CN" altLang="en-US" sz="4000" b="1" dirty="0"/>
              <a:t>電子書（第一版）</a:t>
            </a:r>
            <a:endParaRPr lang="en-US" altLang="zh-CN" sz="4000" b="1" dirty="0"/>
          </a:p>
          <a:p>
            <a:r>
              <a:rPr lang="zh-CN" altLang="en-US" sz="4000" b="1" dirty="0"/>
              <a:t>紙本（第二版），書商聯絡人</a:t>
            </a:r>
            <a:endParaRPr lang="en-US" altLang="zh-CN" sz="4000" b="1" dirty="0"/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全華出版社，書商聯絡人：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黃文珍</a:t>
            </a:r>
            <a:r>
              <a:rPr lang="zh-CN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查詢：</a:t>
            </a:r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0958008962</a:t>
            </a:r>
            <a:endParaRPr lang="en-US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</p:spTree>
    <p:extLst>
      <p:ext uri="{BB962C8B-B14F-4D97-AF65-F5344CB8AC3E}">
        <p14:creationId xmlns:p14="http://schemas.microsoft.com/office/powerpoint/2010/main" val="17303211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664296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資工系的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TW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教育大數據微學程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</a:p>
        </p:txBody>
      </p:sp>
    </p:spTree>
    <p:extLst>
      <p:ext uri="{BB962C8B-B14F-4D97-AF65-F5344CB8AC3E}">
        <p14:creationId xmlns:p14="http://schemas.microsoft.com/office/powerpoint/2010/main" val="6155161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70F69710-CCEA-512C-A161-BF17DCA3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5105400"/>
          </a:xfrm>
        </p:spPr>
        <p:txBody>
          <a:bodyPr/>
          <a:lstStyle/>
          <a:p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北科大網頁說明：</a:t>
            </a:r>
            <a:endParaRPr lang="en-US" altLang="zh-CN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3200" dirty="0">
                <a:hlinkClick r:id="rId2"/>
              </a:rPr>
              <a:t>https://oaa.ntut.edu.tw/p/412-1008-17153.php?Lang=zh-tw</a:t>
            </a:r>
            <a:endParaRPr lang="en-US" altLang="zh-TW" sz="3200" dirty="0"/>
          </a:p>
          <a:p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教育大數據微學程規劃書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3200" b="1" dirty="0">
                <a:solidFill>
                  <a:srgbClr val="3333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hlinkClick r:id="rId3"/>
              </a:rPr>
              <a:t>https://oaa.ntut.edu.tw/var/file/8/1008/img/2880/AVW_.pdf</a:t>
            </a:r>
            <a:endParaRPr lang="en-US" altLang="zh-TW" sz="3200" b="1" dirty="0">
              <a:solidFill>
                <a:srgbClr val="3333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endParaRPr lang="en-US" altLang="zh-TW" sz="3200" b="1" dirty="0">
              <a:solidFill>
                <a:srgbClr val="3333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TW" b="1" dirty="0">
              <a:solidFill>
                <a:srgbClr val="3333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505AA32-19D8-A735-5B6C-EA13CACE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000" b="1" i="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教育大數據微學程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6245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FB104DE-AD99-EB7F-C878-6604D738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997152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C0843B3-53E6-8697-EFC5-18C3D66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修課規劃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57807CA-346A-6E52-11E5-BE7EA25A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0"/>
            <a:ext cx="5638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433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FB104DE-AD99-EB7F-C878-6604D738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8363272" cy="4997152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基礎課程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應用統計與數據分析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（通識課）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資料庫系統與應用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CN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抵免</a:t>
            </a:r>
            <a:r>
              <a:rPr lang="zh-CN" altLang="en-US" sz="1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資料科學原理與教育</a:t>
            </a:r>
            <a:r>
              <a:rPr lang="zh-CN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數據應用）</a:t>
            </a:r>
            <a:endParaRPr lang="en-US" altLang="zh-CN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總整課程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PBL</a:t>
            </a:r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實務專題製作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16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C0843B3-53E6-8697-EFC5-18C3D66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經管系學長</a:t>
            </a:r>
            <a:b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的修課範例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D0133D1-E1BE-246C-7C27-8E0AFA569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-60444"/>
            <a:ext cx="6101040" cy="697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123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FB104DE-AD99-EB7F-C878-6604D738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8686800" cy="499715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基礎課程</a:t>
            </a:r>
            <a:endParaRPr lang="en-US" altLang="zh-CN" sz="39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CN" altLang="en-US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程式設計（經管系）</a:t>
            </a:r>
            <a:endParaRPr lang="en-US" altLang="zh-CN" sz="35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CN" altLang="en-US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應用統計與數據分析（通識課）</a:t>
            </a:r>
            <a:endParaRPr lang="en-US" altLang="zh-CN" sz="35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</a:t>
            </a:r>
            <a:endParaRPr lang="en-US" altLang="zh-CN" sz="39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CN" altLang="en-US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資料庫系統與應用（經管系）</a:t>
            </a:r>
            <a:endParaRPr lang="en-US" altLang="zh-CN" sz="35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CN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抵免</a:t>
            </a:r>
            <a:r>
              <a:rPr lang="zh-CN" altLang="en-US" sz="35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資料科學原理與教育</a:t>
            </a:r>
            <a:r>
              <a:rPr lang="zh-CN" altLang="en-US" sz="3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數據應用）</a:t>
            </a:r>
            <a:endParaRPr lang="en-US" altLang="zh-CN" sz="35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總整課程</a:t>
            </a:r>
            <a:endParaRPr lang="en-US" altLang="zh-CN" sz="39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PBL</a:t>
            </a:r>
            <a:r>
              <a:rPr lang="zh-CN" altLang="en-US" sz="35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實務專題製作（教務處的教育課程）</a:t>
            </a:r>
            <a:endParaRPr lang="en-US" altLang="zh-CN" sz="35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16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C0843B3-53E6-8697-EFC5-18C3D66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經管系學長的修課範例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01936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FB104DE-AD99-EB7F-C878-6604D738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8363272" cy="4997152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基礎課程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應用統計與數據分析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（通識課）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資料庫系統與應用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CN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抵免</a:t>
            </a:r>
            <a:r>
              <a:rPr lang="zh-CN" altLang="en-US" sz="1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資料科學原理與教育</a:t>
            </a:r>
            <a:r>
              <a:rPr lang="zh-CN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數據應用）</a:t>
            </a:r>
            <a:endParaRPr lang="en-US" altLang="zh-CN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總整課程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PBL</a:t>
            </a:r>
            <a:r>
              <a:rPr lang="zh-CN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實務專題製作</a:t>
            </a:r>
            <a:endParaRPr lang="en-US" altLang="zh-CN" sz="1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16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C0843B3-53E6-8697-EFC5-18C3D66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經管系學長</a:t>
            </a:r>
            <a:b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的修課範例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7DB26D-3310-01AA-1708-F91ECF1C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0"/>
            <a:ext cx="5638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727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3744416"/>
          </a:xfrm>
        </p:spPr>
        <p:txBody>
          <a:bodyPr>
            <a:normAutofit/>
          </a:bodyPr>
          <a:lstStyle/>
          <a:p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管理學院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TW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</a:p>
        </p:txBody>
      </p:sp>
    </p:spTree>
    <p:extLst>
      <p:ext uri="{BB962C8B-B14F-4D97-AF65-F5344CB8AC3E}">
        <p14:creationId xmlns:p14="http://schemas.microsoft.com/office/powerpoint/2010/main" val="23146516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600" b="1" dirty="0">
                <a:effectLst/>
              </a:rPr>
              <a:t>1.</a:t>
            </a:r>
            <a:r>
              <a:rPr lang="zh-CN" altLang="en-US" sz="3600" b="1" dirty="0">
                <a:effectLst/>
              </a:rPr>
              <a:t>施行細則：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2000" b="1" dirty="0">
                <a:solidFill>
                  <a:srgbClr val="7030A0"/>
                </a:solidFill>
                <a:effectLst/>
                <a:hlinkClick r:id="rId2"/>
              </a:rPr>
              <a:t>https://oaa.ntut.edu.tw/var/file/8/1008/img/2880/AVY.pdf</a:t>
            </a:r>
            <a:endParaRPr lang="en-US" altLang="zh-CN" sz="2000" b="1" dirty="0">
              <a:solidFill>
                <a:srgbClr val="7030A0"/>
              </a:solidFill>
              <a:effectLst/>
            </a:endParaRPr>
          </a:p>
          <a:p>
            <a:r>
              <a:rPr lang="en-US" altLang="zh-CN" sz="3600" b="1" dirty="0">
                <a:effectLst/>
              </a:rPr>
              <a:t>2.</a:t>
            </a:r>
            <a:r>
              <a:rPr lang="zh-CN" altLang="en-US" sz="3600" b="1" dirty="0">
                <a:effectLst/>
              </a:rPr>
              <a:t> </a:t>
            </a:r>
            <a:r>
              <a:rPr lang="zh-TW" altLang="en-US" sz="3600" b="1" dirty="0">
                <a:effectLst/>
              </a:rPr>
              <a:t>課程規劃表</a:t>
            </a:r>
            <a:r>
              <a:rPr lang="zh-CN" altLang="en-US" sz="3600" b="1" dirty="0">
                <a:effectLst/>
              </a:rPr>
              <a:t>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TW" sz="1800" b="1" dirty="0">
                <a:solidFill>
                  <a:srgbClr val="7030A0"/>
                </a:solidFill>
                <a:effectLst/>
                <a:hlinkClick r:id="rId3"/>
              </a:rPr>
              <a:t>https://oaa.ntut.edu.tw/var/file/8/1008/img/2880/AVY_.pdf</a:t>
            </a:r>
            <a:endParaRPr lang="en-US" altLang="zh-TW" sz="1800" b="1" dirty="0">
              <a:solidFill>
                <a:srgbClr val="7030A0"/>
              </a:solidFill>
              <a:effectLst/>
            </a:endParaRPr>
          </a:p>
          <a:p>
            <a:r>
              <a:rPr lang="en-US" altLang="zh-CN" sz="3600" b="1" dirty="0">
                <a:effectLst/>
              </a:rPr>
              <a:t>3.</a:t>
            </a:r>
            <a:r>
              <a:rPr lang="zh-TW" altLang="en-US" sz="3600" b="1" dirty="0">
                <a:effectLst/>
              </a:rPr>
              <a:t>修畢申請表</a:t>
            </a:r>
            <a:r>
              <a:rPr lang="zh-CN" altLang="en-US" sz="3600" b="1" dirty="0">
                <a:effectLst/>
              </a:rPr>
              <a:t>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TW" b="1" dirty="0">
                <a:solidFill>
                  <a:srgbClr val="7030A0"/>
                </a:solidFill>
                <a:effectLst/>
                <a:hlinkClick r:id="rId4"/>
              </a:rPr>
              <a:t>https://oaa.ntut.edu.tw/var/file/8/1008/img/2880/AVY_apply.odt</a:t>
            </a:r>
            <a:endParaRPr lang="en-US" altLang="zh-TW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effectLst/>
              </a:rPr>
              <a:t>全校所有微</a:t>
            </a:r>
            <a:r>
              <a:rPr lang="zh-CN" altLang="en-US" sz="3600" b="1">
                <a:effectLst/>
              </a:rPr>
              <a:t>學程列表，與修學注意事項：</a:t>
            </a:r>
            <a:r>
              <a:rPr lang="en-US" altLang="zh-CN" sz="3600" b="1" dirty="0">
                <a:solidFill>
                  <a:srgbClr val="7030A0"/>
                </a:solidFill>
                <a:effectLst/>
                <a:hlinkClick r:id="rId5"/>
              </a:rPr>
              <a:t>https://oaa.ntut.edu.tw/p/412-1008-13057.php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2264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基礎課程，最少一門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C287C5E-7C74-E09A-D502-2C10A6DE7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277029"/>
            <a:ext cx="7628571" cy="4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267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280831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核心課程</a:t>
            </a:r>
            <a:endParaRPr lang="en-US" altLang="zh-CN" sz="3200" b="1" dirty="0"/>
          </a:p>
          <a:p>
            <a:r>
              <a:rPr lang="zh-CN" altLang="en-US" sz="3200" b="1" dirty="0"/>
              <a:t>最少</a:t>
            </a:r>
            <a:r>
              <a:rPr lang="en-US" altLang="zh-CN" sz="3200" b="1" dirty="0">
                <a:highlight>
                  <a:srgbClr val="FFFF00"/>
                </a:highlight>
              </a:rPr>
              <a:t>2</a:t>
            </a:r>
            <a:r>
              <a:rPr lang="zh-CN" altLang="en-US" sz="3200" b="1" dirty="0">
                <a:highlight>
                  <a:srgbClr val="FFFF00"/>
                </a:highlight>
              </a:rPr>
              <a:t>門</a:t>
            </a:r>
            <a:endParaRPr lang="en-US" altLang="zh-CN" sz="3200" b="1" dirty="0">
              <a:highlight>
                <a:srgbClr val="FFFF00"/>
              </a:highlight>
            </a:endParaRPr>
          </a:p>
          <a:p>
            <a:r>
              <a:rPr lang="zh-CN" altLang="en-US" sz="2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必須要不同系</a:t>
            </a:r>
            <a:endParaRPr lang="en-US" altLang="zh-TW" sz="24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8B38DE-74B2-45A9-9E50-8238C55A9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1524648"/>
            <a:ext cx="6904762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411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總整課程最少一門</a:t>
            </a:r>
            <a:endParaRPr lang="en-US" altLang="zh-CN" sz="3200" b="1" dirty="0"/>
          </a:p>
          <a:p>
            <a:pPr lvl="1"/>
            <a:r>
              <a:rPr lang="zh-CN" altLang="en-US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專題實作</a:t>
            </a:r>
            <a:r>
              <a:rPr lang="en-US" altLang="zh-CN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3</a:t>
            </a:r>
            <a:r>
              <a:rPr lang="zh-CN" altLang="en-US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學分（院課程）</a:t>
            </a:r>
            <a:endParaRPr lang="en-US" altLang="zh-TW" sz="32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1A7E4A-AAAE-4418-ADEA-E928A707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264" y="3493738"/>
            <a:ext cx="9324528" cy="240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362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D5E9FE0-0473-4A2D-B499-5E98CE3C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157AB41-3B4B-45D5-9D00-B9E9F2C7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150295757.jpg (1580×1620)">
            <a:extLst>
              <a:ext uri="{FF2B5EF4-FFF2-40B4-BE49-F238E27FC236}">
                <a16:creationId xmlns:a16="http://schemas.microsoft.com/office/drawing/2014/main" id="{1B3FC490-86D2-4213-BD1A-14DEF5AD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-7567"/>
            <a:ext cx="76431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2702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3200" b="1" dirty="0"/>
              <a:t>修滿</a:t>
            </a:r>
            <a:r>
              <a:rPr lang="en-US" altLang="zh-CN" sz="3200" b="1" dirty="0"/>
              <a:t>11</a:t>
            </a:r>
            <a:r>
              <a:rPr lang="zh-CN" altLang="en-US" sz="3200" b="1" dirty="0"/>
              <a:t>學分</a:t>
            </a:r>
            <a:r>
              <a:rPr lang="zh-TW" altLang="en-US" sz="3200" b="1" dirty="0"/>
              <a:t>門課，就會授予經管領域人工智慧學程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經管系開授的</a:t>
            </a:r>
            <a:r>
              <a:rPr lang="en-US" altLang="zh-CN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3</a:t>
            </a:r>
            <a:r>
              <a:rPr lang="zh-CN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門課程：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F2134767-C52D-4F04-9B68-B68082E391C7}"/>
              </a:ext>
            </a:extLst>
          </p:cNvPr>
          <p:cNvGraphicFramePr>
            <a:graphicFrameLocks/>
          </p:cNvGraphicFramePr>
          <p:nvPr/>
        </p:nvGraphicFramePr>
        <p:xfrm>
          <a:off x="-2163" y="2966047"/>
          <a:ext cx="9130644" cy="297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466144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課程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5622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導論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41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7841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2197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FB104DE-AD99-EB7F-C878-6604D7381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638"/>
            <a:ext cx="8964488" cy="499715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基礎課程</a:t>
            </a:r>
            <a:endParaRPr lang="en-US" altLang="zh-CN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CN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人工智慧概論（通識課）</a:t>
            </a:r>
            <a:endParaRPr lang="en-US" altLang="zh-CN" sz="3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3200" b="1" dirty="0">
                <a:solidFill>
                  <a:schemeClr val="bg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程式設計與人工智慧管理（經管系大一）</a:t>
            </a:r>
            <a:endParaRPr lang="en-US" altLang="zh-CN" sz="3200" b="1" dirty="0">
              <a:solidFill>
                <a:schemeClr val="bg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核心課程</a:t>
            </a:r>
            <a:endParaRPr lang="en-US" altLang="zh-CN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CN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人工智慧在經營管理的應用（經管系）</a:t>
            </a:r>
            <a:endParaRPr lang="en-US" altLang="zh-CN" sz="3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CN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人工智慧跨域在金融的應用（資財系）</a:t>
            </a:r>
            <a:endParaRPr lang="en-US" altLang="zh-CN" sz="3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總整課程</a:t>
            </a:r>
            <a:endParaRPr lang="en-US" altLang="zh-CN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sz="32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CN" altLang="en-US" sz="32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人工智慧</a:t>
            </a:r>
            <a:r>
              <a:rPr lang="zh-CN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跨域專題製作（管院，資財系老師開授）</a:t>
            </a:r>
            <a:endParaRPr lang="en-US" altLang="zh-CN" sz="3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zh-TW" altLang="en-US" sz="16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C0843B3-53E6-8697-EFC5-18C3D663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經管系學長的修課範例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75837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548" y="1966344"/>
            <a:ext cx="8136904" cy="2664296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/>
              <a:t>加入</a:t>
            </a:r>
            <a:r>
              <a:rPr lang="en-US" altLang="zh-CN" sz="7200" b="1" dirty="0" err="1"/>
              <a:t>Zuvio</a:t>
            </a:r>
            <a:r>
              <a:rPr lang="zh-CN" altLang="en-US" sz="7200" b="1" dirty="0"/>
              <a:t>課程</a:t>
            </a:r>
            <a:endParaRPr lang="zh-TW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5558356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1268760"/>
            <a:ext cx="8136904" cy="2664296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/>
              <a:t>加入課程</a:t>
            </a:r>
            <a:r>
              <a:rPr lang="en-US" altLang="zh-CN" sz="7200" b="1" dirty="0"/>
              <a:t>Line</a:t>
            </a:r>
            <a:r>
              <a:rPr lang="zh-CN" altLang="en-US" sz="7200" b="1" dirty="0"/>
              <a:t>群組</a:t>
            </a:r>
            <a:endParaRPr lang="zh-TW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429513093"/>
      </p:ext>
    </p:extLst>
  </p:cSld>
  <p:clrMapOvr>
    <a:masterClrMapping/>
  </p:clrMapOvr>
</p:sld>
</file>

<file path=ppt/theme/theme1.xml><?xml version="1.0" encoding="utf-8"?>
<a:theme xmlns:a="http://schemas.openxmlformats.org/drawingml/2006/main" name="EdBackToSchl(2)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hool Presentation">
      <a:majorFont>
        <a:latin typeface="Bookman Old Style"/>
        <a:ea typeface=""/>
        <a:cs typeface=""/>
      </a:majorFont>
      <a:minorFont>
        <a:latin typeface="Segoe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A7A3A1A-66C2-44A9-B26B-C232E3FA40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EdBackToSchl(2)</Template>
  <TotalTime>0</TotalTime>
  <Words>2520</Words>
  <Application>Microsoft Office PowerPoint</Application>
  <PresentationFormat>如螢幕大小 (4:3)</PresentationFormat>
  <Paragraphs>280</Paragraphs>
  <Slides>76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76</vt:i4>
      </vt:variant>
    </vt:vector>
  </HeadingPairs>
  <TitlesOfParts>
    <vt:vector size="84" baseType="lpstr">
      <vt:lpstr>Segoe Condensed</vt:lpstr>
      <vt:lpstr>Microsoft JhengHei</vt:lpstr>
      <vt:lpstr>Microsoft JhengHei</vt:lpstr>
      <vt:lpstr>標楷體</vt:lpstr>
      <vt:lpstr>Arial</vt:lpstr>
      <vt:lpstr>Bookman Old Style</vt:lpstr>
      <vt:lpstr>Calibri</vt:lpstr>
      <vt:lpstr>EdBackToSchl(2)</vt:lpstr>
      <vt:lpstr>台北科技大學，經管系，陳擎文 </vt:lpstr>
      <vt:lpstr>重點</vt:lpstr>
      <vt:lpstr>PowerPoint 簡報</vt:lpstr>
      <vt:lpstr>PowerPoint 簡報</vt:lpstr>
      <vt:lpstr>數據分析三部曲</vt:lpstr>
      <vt:lpstr>資料分析相關的工作職稱</vt:lpstr>
      <vt:lpstr>PowerPoint 簡報</vt:lpstr>
      <vt:lpstr>PowerPoint 簡報</vt:lpstr>
      <vt:lpstr>經管系大四生回報去業界工作的感受</vt:lpstr>
      <vt:lpstr>經管系學姐回報去業界工作的感受</vt:lpstr>
      <vt:lpstr>經管系學姐回報去業界工作的感受</vt:lpstr>
      <vt:lpstr>經管系學姐回報去業界工作的感受</vt:lpstr>
      <vt:lpstr>經管系學姐回報去業界工作的感受</vt:lpstr>
      <vt:lpstr>結論</vt:lpstr>
      <vt:lpstr>PowerPoint 簡報</vt:lpstr>
      <vt:lpstr>資訊軟體工具 相關實作課程規劃</vt:lpstr>
      <vt:lpstr>資訊軟體工具 相關實作課程規劃</vt:lpstr>
      <vt:lpstr>課程CP價值排行</vt:lpstr>
      <vt:lpstr>資訊應用課程</vt:lpstr>
      <vt:lpstr>PowerPoint 簡報</vt:lpstr>
      <vt:lpstr>PowerPoint 簡報</vt:lpstr>
      <vt:lpstr>PowerPoint 簡報</vt:lpstr>
      <vt:lpstr>要學pandas數據分析 的第1個理由</vt:lpstr>
      <vt:lpstr>要學pandas數據分析 的第1個理由</vt:lpstr>
      <vt:lpstr>PowerPoint 簡報</vt:lpstr>
      <vt:lpstr>不同性別的銷售數量，銷售金額</vt:lpstr>
      <vt:lpstr>各個業務單位的總銷售金額 和總銷售數量</vt:lpstr>
      <vt:lpstr>比較不同性別，不同產品的比較圖</vt:lpstr>
      <vt:lpstr>比較不同業務單位，不同產品的比較圖</vt:lpstr>
      <vt:lpstr>比較不同業務單位，不同產品的比較圖</vt:lpstr>
      <vt:lpstr>比較不同業務員，不同產品的比較圖</vt:lpstr>
      <vt:lpstr>比較不同業務員，不同產品的比較圖</vt:lpstr>
      <vt:lpstr>比較，分析不同業務單位，不同性別的銷售金額</vt:lpstr>
      <vt:lpstr>PowerPoint 簡報</vt:lpstr>
      <vt:lpstr>商管的量化分析工具</vt:lpstr>
      <vt:lpstr>數據量化分析常用工具： 1.python/pandas， 2.SQL，3.power BI，tableau， 4.AI</vt:lpstr>
      <vt:lpstr>數據量化分析常用工具： 1.python/pandas，2.SQL，3.power BI，tableau，4.AI</vt:lpstr>
      <vt:lpstr>PowerPoint 簡報</vt:lpstr>
      <vt:lpstr>Pandas是進入AI人工智慧程式分析的基礎語言</vt:lpstr>
      <vt:lpstr>PowerPoint 簡報</vt:lpstr>
      <vt:lpstr>104人力銀行調查</vt:lpstr>
      <vt:lpstr>104 人力銀行</vt:lpstr>
      <vt:lpstr>台灣104程式工作職缺與薪水排行</vt:lpstr>
      <vt:lpstr>國外企業常用求職平台LinkedIn的程式工作職缺排行</vt:lpstr>
      <vt:lpstr>程式社群Stackover-flow 2022調查工作職缺排行 </vt:lpstr>
      <vt:lpstr>全球最大的程式社群Stackover flow  2022調查工作職缺排行 </vt:lpstr>
      <vt:lpstr>PowerPoint 簡報</vt:lpstr>
      <vt:lpstr>PowerPoint 簡報</vt:lpstr>
      <vt:lpstr>可以放在履歷上用作品集證明實力的課程</vt:lpstr>
      <vt:lpstr>PowerPoint 簡報</vt:lpstr>
      <vt:lpstr>PowerPoint 簡報</vt:lpstr>
      <vt:lpstr>數據分析三部曲</vt:lpstr>
      <vt:lpstr>PowerPoint 簡報</vt:lpstr>
      <vt:lpstr>PowerPoint 簡報</vt:lpstr>
      <vt:lpstr>PowerPoint 簡報</vt:lpstr>
      <vt:lpstr>PowerPoint 簡報</vt:lpstr>
      <vt:lpstr>PowerPoint 簡報</vt:lpstr>
      <vt:lpstr>本學期的評分方式</vt:lpstr>
      <vt:lpstr>PowerPoint 簡報</vt:lpstr>
      <vt:lpstr>教科書：一行指令學Python－用Pandas掌握商務大數據分析</vt:lpstr>
      <vt:lpstr>PowerPoint 簡報</vt:lpstr>
      <vt:lpstr>教育大數據微學程</vt:lpstr>
      <vt:lpstr>修課規劃</vt:lpstr>
      <vt:lpstr>經管系學長 的修課範例</vt:lpstr>
      <vt:lpstr>經管系學長的修課範例</vt:lpstr>
      <vt:lpstr>經管系學長 的修課範例</vt:lpstr>
      <vt:lpstr>PowerPoint 簡報</vt:lpstr>
      <vt:lpstr>人工智慧賦能跨域應用微學程</vt:lpstr>
      <vt:lpstr>人工智慧賦能跨域應用微學程</vt:lpstr>
      <vt:lpstr>人工智慧賦能跨域應用微學程</vt:lpstr>
      <vt:lpstr>人工智慧賦能跨域應用微學程</vt:lpstr>
      <vt:lpstr>PowerPoint 簡報</vt:lpstr>
      <vt:lpstr>人工智慧賦能跨域應用微學程</vt:lpstr>
      <vt:lpstr>經管系學長的修課範例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2012-02-02T03:26:32Z</dcterms:created>
  <dcterms:modified xsi:type="dcterms:W3CDTF">2025-02-24T09:44:55Z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TC101659619990</vt:lpwstr>
  </property>
</Properties>
</file>